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7104063" cy="1023461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4516" autoAdjust="0"/>
  </p:normalViewPr>
  <p:slideViewPr>
    <p:cSldViewPr snapToGrid="0" snapToObjects="1">
      <p:cViewPr varScale="1">
        <p:scale>
          <a:sx n="70" d="100"/>
          <a:sy n="70" d="100"/>
        </p:scale>
        <p:origin x="1138"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2790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Presenter's Guide: Slide 1 - The Introduction</a:t>
            </a:r>
            <a:endParaRPr lang="en-ZA"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Objective:</a:t>
            </a:r>
            <a:r>
              <a:rPr lang="en-US" sz="1200" kern="1200" dirty="0">
                <a:solidFill>
                  <a:schemeClr val="tx1"/>
                </a:solidFill>
                <a:effectLst/>
                <a:latin typeface="+mn-lt"/>
                <a:ea typeface="+mn-ea"/>
                <a:cs typeface="+mn-cs"/>
              </a:rPr>
              <a:t>  To make a strong, professional first impression.</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Action:</a:t>
            </a:r>
            <a:r>
              <a:rPr lang="en-US" sz="1200" kern="1200" dirty="0">
                <a:solidFill>
                  <a:schemeClr val="tx1"/>
                </a:solidFill>
                <a:effectLst/>
                <a:latin typeface="+mn-lt"/>
                <a:ea typeface="+mn-ea"/>
                <a:cs typeface="+mn-cs"/>
              </a:rPr>
              <a:t>  State your name, your company's name, and the purpose of your presentation clearly.</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Timing:</a:t>
            </a:r>
            <a:r>
              <a:rPr lang="en-US" sz="1200" kern="1200" dirty="0">
                <a:solidFill>
                  <a:schemeClr val="tx1"/>
                </a:solidFill>
                <a:effectLst/>
                <a:latin typeface="+mn-lt"/>
                <a:ea typeface="+mn-ea"/>
                <a:cs typeface="+mn-cs"/>
              </a:rPr>
              <a:t>  Spend no more than 30 seconds on this slide.</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Tip:</a:t>
            </a:r>
            <a:r>
              <a:rPr lang="en-US" sz="1200" kern="1200" dirty="0">
                <a:solidFill>
                  <a:schemeClr val="tx1"/>
                </a:solidFill>
                <a:effectLst/>
                <a:latin typeface="+mn-lt"/>
                <a:ea typeface="+mn-ea"/>
                <a:cs typeface="+mn-cs"/>
              </a:rPr>
              <a:t>  This is your title slide. Keep it clean and professional. Ensure your company name is prominently displayed. This sets the stage for the entire presentation.</a:t>
            </a:r>
            <a:endParaRPr lang="en-Z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Presenter's Guide: Slide 2 - The Executive Summary</a:t>
            </a:r>
            <a:endParaRPr lang="en-ZA"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Objective:</a:t>
            </a:r>
            <a:r>
              <a:rPr lang="en-US" sz="1200" kern="1200" dirty="0">
                <a:solidFill>
                  <a:schemeClr val="tx1"/>
                </a:solidFill>
                <a:effectLst/>
                <a:latin typeface="+mn-lt"/>
                <a:ea typeface="+mn-ea"/>
                <a:cs typeface="+mn-cs"/>
              </a:rPr>
              <a:t>  To provide a high-level overview of your entire plan, capturing the panel's interest immediately.</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Source:</a:t>
            </a:r>
            <a:r>
              <a:rPr lang="en-US" sz="1200" kern="1200" dirty="0">
                <a:solidFill>
                  <a:schemeClr val="tx1"/>
                </a:solidFill>
                <a:effectLst/>
                <a:latin typeface="+mn-lt"/>
                <a:ea typeface="+mn-ea"/>
                <a:cs typeface="+mn-cs"/>
              </a:rPr>
              <a:t>  This slide is a verbal delivery of the  </a:t>
            </a:r>
            <a:r>
              <a:rPr lang="en-US" sz="1200" b="1" kern="1200" dirty="0">
                <a:solidFill>
                  <a:schemeClr val="tx1"/>
                </a:solidFill>
                <a:effectLst/>
                <a:latin typeface="+mn-lt"/>
                <a:ea typeface="+mn-ea"/>
                <a:cs typeface="+mn-cs"/>
              </a:rPr>
              <a:t>Executive Summary</a:t>
            </a:r>
            <a:r>
              <a:rPr lang="en-US" sz="1200" kern="1200" dirty="0">
                <a:solidFill>
                  <a:schemeClr val="tx1"/>
                </a:solidFill>
                <a:effectLst/>
                <a:latin typeface="+mn-lt"/>
                <a:ea typeface="+mn-ea"/>
                <a:cs typeface="+mn-cs"/>
              </a:rPr>
              <a:t>  from your Assignment 3 (Export Marketing Plan).</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Content Focus:</a:t>
            </a:r>
            <a:r>
              <a:rPr lang="en-US" sz="1200" kern="1200" dirty="0">
                <a:solidFill>
                  <a:schemeClr val="tx1"/>
                </a:solidFill>
                <a:effectLst/>
                <a:latin typeface="+mn-lt"/>
                <a:ea typeface="+mn-ea"/>
                <a:cs typeface="+mn-cs"/>
              </a:rPr>
              <a:t>  Briefly introduce your company, the product, the target market, and why this is a compelling opportunity. Highlight your three main competitive advantages.</a:t>
            </a:r>
          </a:p>
          <a:p>
            <a:pPr lvl="0"/>
            <a:r>
              <a:rPr lang="en-US" sz="1200" b="1" kern="1200" dirty="0">
                <a:solidFill>
                  <a:schemeClr val="tx1"/>
                </a:solidFill>
                <a:effectLst/>
                <a:latin typeface="+mn-lt"/>
                <a:ea typeface="+mn-ea"/>
                <a:cs typeface="+mn-cs"/>
              </a:rPr>
              <a:t>Timing:</a:t>
            </a:r>
            <a:r>
              <a:rPr lang="en-US" sz="1200" kern="1200" dirty="0">
                <a:solidFill>
                  <a:schemeClr val="tx1"/>
                </a:solidFill>
                <a:effectLst/>
                <a:latin typeface="+mn-lt"/>
                <a:ea typeface="+mn-ea"/>
                <a:cs typeface="+mn-cs"/>
              </a:rPr>
              <a:t>  Allocate approximately 60-90 seconds. This is your "elevator pitch."</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Tip:</a:t>
            </a:r>
            <a:r>
              <a:rPr lang="en-US" sz="1200" kern="1200" dirty="0">
                <a:solidFill>
                  <a:schemeClr val="tx1"/>
                </a:solidFill>
                <a:effectLst/>
                <a:latin typeface="+mn-lt"/>
                <a:ea typeface="+mn-ea"/>
                <a:cs typeface="+mn-cs"/>
              </a:rPr>
              <a:t>  Be confident and concise. You are telling the panel *what* you are going to do; the following slides will explain *how* and *why*.</a:t>
            </a:r>
            <a:endParaRPr lang="en-Z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Presenter's Guide: Slide 3 - Proving Your Capability</a:t>
            </a:r>
            <a:endParaRPr lang="en-ZA"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Objective:</a:t>
            </a:r>
            <a:r>
              <a:rPr lang="en-US" sz="1200" kern="1200" dirty="0">
                <a:solidFill>
                  <a:schemeClr val="tx1"/>
                </a:solidFill>
                <a:effectLst/>
                <a:latin typeface="+mn-lt"/>
                <a:ea typeface="+mn-ea"/>
                <a:cs typeface="+mn-cs"/>
              </a:rPr>
              <a:t>  To build credibility by demonstrating your company has the internal foundation for export success.</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Source:</a:t>
            </a:r>
            <a:r>
              <a:rPr lang="en-US" sz="1200" kern="1200" dirty="0">
                <a:solidFill>
                  <a:schemeClr val="tx1"/>
                </a:solidFill>
                <a:effectLst/>
                <a:latin typeface="+mn-lt"/>
                <a:ea typeface="+mn-ea"/>
                <a:cs typeface="+mn-cs"/>
              </a:rPr>
              <a:t>  Pull directly from the  </a:t>
            </a:r>
            <a:r>
              <a:rPr lang="en-US" sz="1200" b="1" kern="1200" dirty="0">
                <a:solidFill>
                  <a:schemeClr val="tx1"/>
                </a:solidFill>
                <a:effectLst/>
                <a:latin typeface="+mn-lt"/>
                <a:ea typeface="+mn-ea"/>
                <a:cs typeface="+mn-cs"/>
              </a:rPr>
              <a:t>Strengths</a:t>
            </a:r>
            <a:r>
              <a:rPr lang="en-US" sz="1200" kern="1200" dirty="0">
                <a:solidFill>
                  <a:schemeClr val="tx1"/>
                </a:solidFill>
                <a:effectLst/>
                <a:latin typeface="+mn-lt"/>
                <a:ea typeface="+mn-ea"/>
                <a:cs typeface="+mn-cs"/>
              </a:rPr>
              <a:t>  section of your  </a:t>
            </a:r>
            <a:r>
              <a:rPr lang="en-US" sz="1200" b="1" kern="1200" dirty="0">
                <a:solidFill>
                  <a:schemeClr val="tx1"/>
                </a:solidFill>
                <a:effectLst/>
                <a:latin typeface="+mn-lt"/>
                <a:ea typeface="+mn-ea"/>
                <a:cs typeface="+mn-cs"/>
              </a:rPr>
              <a:t>SWOT Analysis (Assignment 1)</a:t>
            </a:r>
            <a:r>
              <a:rPr lang="en-US" sz="1200" kern="1200" dirty="0">
                <a:solidFill>
                  <a:schemeClr val="tx1"/>
                </a:solidFill>
                <a:effectLst/>
                <a:latin typeface="+mn-lt"/>
                <a:ea typeface="+mn-ea"/>
                <a:cs typeface="+mn-cs"/>
              </a:rPr>
              <a:t>  and the "Company Overview" section of your  </a:t>
            </a:r>
            <a:r>
              <a:rPr lang="en-US" sz="1200" b="1" kern="1200" dirty="0">
                <a:solidFill>
                  <a:schemeClr val="tx1"/>
                </a:solidFill>
                <a:effectLst/>
                <a:latin typeface="+mn-lt"/>
                <a:ea typeface="+mn-ea"/>
                <a:cs typeface="+mn-cs"/>
              </a:rPr>
              <a:t>Export Marketing Plan (Assignment 3)</a:t>
            </a:r>
            <a:r>
              <a:rPr lang="en-US" sz="1200" kern="1200" dirty="0">
                <a:solidFill>
                  <a:schemeClr val="tx1"/>
                </a:solidFill>
                <a:effectLst/>
                <a:latin typeface="+mn-lt"/>
                <a:ea typeface="+mn-ea"/>
                <a:cs typeface="+mn-cs"/>
              </a:rPr>
              <a:t>.</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Content Focus:</a:t>
            </a:r>
            <a:r>
              <a:rPr lang="en-US" sz="1200" kern="1200" dirty="0">
                <a:solidFill>
                  <a:schemeClr val="tx1"/>
                </a:solidFill>
                <a:effectLst/>
                <a:latin typeface="+mn-lt"/>
                <a:ea typeface="+mn-ea"/>
                <a:cs typeface="+mn-cs"/>
              </a:rPr>
              <a:t>  Use quantifiable data. Instead of saying "good growth," say "20% annual growth rate." Showcase what makes your product special and prove you can meet increased demand.</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Timing:</a:t>
            </a:r>
            <a:r>
              <a:rPr lang="en-US" sz="1200" kern="1200" dirty="0">
                <a:solidFill>
                  <a:schemeClr val="tx1"/>
                </a:solidFill>
                <a:effectLst/>
                <a:latin typeface="+mn-lt"/>
                <a:ea typeface="+mn-ea"/>
                <a:cs typeface="+mn-cs"/>
              </a:rPr>
              <a:t>  Spend about 60 seconds here. Touch on each of the three pillars.</a:t>
            </a:r>
            <a:endParaRPr lang="en-Z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Presenter's Guide: Slide 4 - Justifying the Timing</a:t>
            </a:r>
            <a:endParaRPr lang="en-ZA"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Objective:</a:t>
            </a:r>
            <a:r>
              <a:rPr lang="en-US" sz="1200" kern="1200" dirty="0">
                <a:solidFill>
                  <a:schemeClr val="tx1"/>
                </a:solidFill>
                <a:effectLst/>
                <a:latin typeface="+mn-lt"/>
                <a:ea typeface="+mn-ea"/>
                <a:cs typeface="+mn-cs"/>
              </a:rPr>
              <a:t>  To create a sense of urgency and strategic timing. Answer the question: "Why is this the right moment?"</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Source:</a:t>
            </a:r>
            <a:r>
              <a:rPr lang="en-US" sz="1200" kern="1200" dirty="0">
                <a:solidFill>
                  <a:schemeClr val="tx1"/>
                </a:solidFill>
                <a:effectLst/>
                <a:latin typeface="+mn-lt"/>
                <a:ea typeface="+mn-ea"/>
                <a:cs typeface="+mn-cs"/>
              </a:rPr>
              <a:t>  Synthesize your  </a:t>
            </a:r>
            <a:r>
              <a:rPr lang="en-US" sz="1200" b="1" kern="1200" dirty="0">
                <a:solidFill>
                  <a:schemeClr val="tx1"/>
                </a:solidFill>
                <a:effectLst/>
                <a:latin typeface="+mn-lt"/>
                <a:ea typeface="+mn-ea"/>
                <a:cs typeface="+mn-cs"/>
              </a:rPr>
              <a:t>SWOT Analysis (Assignment 1)</a:t>
            </a:r>
            <a:r>
              <a:rPr lang="en-US" sz="1200" kern="1200" dirty="0">
                <a:solidFill>
                  <a:schemeClr val="tx1"/>
                </a:solidFill>
                <a:effectLst/>
                <a:latin typeface="+mn-lt"/>
                <a:ea typeface="+mn-ea"/>
                <a:cs typeface="+mn-cs"/>
              </a:rPr>
              <a:t>  and the "Export Goals and Objectives" from your  </a:t>
            </a:r>
            <a:r>
              <a:rPr lang="en-US" sz="1200" b="1" kern="1200" dirty="0">
                <a:solidFill>
                  <a:schemeClr val="tx1"/>
                </a:solidFill>
                <a:effectLst/>
                <a:latin typeface="+mn-lt"/>
                <a:ea typeface="+mn-ea"/>
                <a:cs typeface="+mn-cs"/>
              </a:rPr>
              <a:t>Export Marketing Plan (Assignment 3)</a:t>
            </a:r>
            <a:r>
              <a:rPr lang="en-US" sz="1200" kern="1200" dirty="0">
                <a:solidFill>
                  <a:schemeClr val="tx1"/>
                </a:solidFill>
                <a:effectLst/>
                <a:latin typeface="+mn-lt"/>
                <a:ea typeface="+mn-ea"/>
                <a:cs typeface="+mn-cs"/>
              </a:rPr>
              <a:t>.</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Content Focus:</a:t>
            </a:r>
            <a:r>
              <a:rPr lang="en-US" sz="1200" kern="1200" dirty="0">
                <a:solidFill>
                  <a:schemeClr val="tx1"/>
                </a:solidFill>
                <a:effectLst/>
                <a:latin typeface="+mn-lt"/>
                <a:ea typeface="+mn-ea"/>
                <a:cs typeface="+mn-cs"/>
              </a:rPr>
              <a:t>  Frame your argument around two key themes: "Market Pull" (the market is ready for you) and "Company Push" (you are ready for the market). This shows a convergence of opportunity and readiness.</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Timing:</a:t>
            </a:r>
            <a:r>
              <a:rPr lang="en-US" sz="1200" kern="1200" dirty="0">
                <a:solidFill>
                  <a:schemeClr val="tx1"/>
                </a:solidFill>
                <a:effectLst/>
                <a:latin typeface="+mn-lt"/>
                <a:ea typeface="+mn-ea"/>
                <a:cs typeface="+mn-cs"/>
              </a:rPr>
              <a:t>  60 seconds. This slide should feel like a confident conclusion to your internal analysis.</a:t>
            </a:r>
            <a:endParaRPr lang="en-Z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Presenter's Guide: Slide 5 - Where and To Whom</a:t>
            </a:r>
            <a:endParaRPr lang="en-ZA"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Objective:</a:t>
            </a:r>
            <a:r>
              <a:rPr lang="en-US" sz="1200" kern="1200" dirty="0">
                <a:solidFill>
                  <a:schemeClr val="tx1"/>
                </a:solidFill>
                <a:effectLst/>
                <a:latin typeface="+mn-lt"/>
                <a:ea typeface="+mn-ea"/>
                <a:cs typeface="+mn-cs"/>
              </a:rPr>
              <a:t>  To clearly state your target market and provide a data-backed rationale for this choice.</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Source:</a:t>
            </a:r>
            <a:r>
              <a:rPr lang="en-US" sz="1200" kern="1200" dirty="0">
                <a:solidFill>
                  <a:schemeClr val="tx1"/>
                </a:solidFill>
                <a:effectLst/>
                <a:latin typeface="+mn-lt"/>
                <a:ea typeface="+mn-ea"/>
                <a:cs typeface="+mn-cs"/>
              </a:rPr>
              <a:t>  This is a summary of your  </a:t>
            </a:r>
            <a:r>
              <a:rPr lang="en-US" sz="1200" b="1" kern="1200" dirty="0">
                <a:solidFill>
                  <a:schemeClr val="tx1"/>
                </a:solidFill>
                <a:effectLst/>
                <a:latin typeface="+mn-lt"/>
                <a:ea typeface="+mn-ea"/>
                <a:cs typeface="+mn-cs"/>
              </a:rPr>
              <a:t>Market Research Report (Assignment 2)</a:t>
            </a:r>
            <a:r>
              <a:rPr lang="en-US" sz="1200" kern="1200" dirty="0">
                <a:solidFill>
                  <a:schemeClr val="tx1"/>
                </a:solidFill>
                <a:effectLst/>
                <a:latin typeface="+mn-lt"/>
                <a:ea typeface="+mn-ea"/>
                <a:cs typeface="+mn-cs"/>
              </a:rPr>
              <a:t>  and the "Target Market Analysis" section of your  </a:t>
            </a:r>
            <a:r>
              <a:rPr lang="en-US" sz="1200" b="1" kern="1200" dirty="0">
                <a:solidFill>
                  <a:schemeClr val="tx1"/>
                </a:solidFill>
                <a:effectLst/>
                <a:latin typeface="+mn-lt"/>
                <a:ea typeface="+mn-ea"/>
                <a:cs typeface="+mn-cs"/>
              </a:rPr>
              <a:t>Export Marketing Plan (Assignment 3)</a:t>
            </a:r>
            <a:r>
              <a:rPr lang="en-US" sz="1200" kern="1200" dirty="0">
                <a:solidFill>
                  <a:schemeClr val="tx1"/>
                </a:solidFill>
                <a:effectLst/>
                <a:latin typeface="+mn-lt"/>
                <a:ea typeface="+mn-ea"/>
                <a:cs typeface="+mn-cs"/>
              </a:rPr>
              <a:t>.</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Content Focus:</a:t>
            </a:r>
            <a:r>
              <a:rPr lang="en-US" sz="1200" kern="1200" dirty="0">
                <a:solidFill>
                  <a:schemeClr val="tx1"/>
                </a:solidFill>
                <a:effectLst/>
                <a:latin typeface="+mn-lt"/>
                <a:ea typeface="+mn-ea"/>
                <a:cs typeface="+mn-cs"/>
              </a:rPr>
              <a:t>  Be specific. Name the country and the customer segment (e.g., "Health-conscious millennials in urban Germany"). Use the three justification points (Market Size, Consumer Need, Logistics) as your core argument.</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Timing:</a:t>
            </a:r>
            <a:r>
              <a:rPr lang="en-US" sz="1200" kern="1200" dirty="0">
                <a:solidFill>
                  <a:schemeClr val="tx1"/>
                </a:solidFill>
                <a:effectLst/>
                <a:latin typeface="+mn-lt"/>
                <a:ea typeface="+mn-ea"/>
                <a:cs typeface="+mn-cs"/>
              </a:rPr>
              <a:t>  60-75 seconds. State your choice, then quickly provide the evidence.</a:t>
            </a:r>
            <a:endParaRPr lang="en-Z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Presenter's Guide: Slide 6 - Visualizing the Opportunity</a:t>
            </a:r>
            <a:endParaRPr lang="en-ZA"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Objective:</a:t>
            </a:r>
            <a:r>
              <a:rPr lang="en-US" sz="1200" kern="1200" dirty="0">
                <a:solidFill>
                  <a:schemeClr val="tx1"/>
                </a:solidFill>
                <a:effectLst/>
                <a:latin typeface="+mn-lt"/>
                <a:ea typeface="+mn-ea"/>
                <a:cs typeface="+mn-cs"/>
              </a:rPr>
              <a:t>  To visually reinforce the market opportunity you just described.</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Source:</a:t>
            </a:r>
            <a:r>
              <a:rPr lang="en-US" sz="1200" kern="1200" dirty="0">
                <a:solidFill>
                  <a:schemeClr val="tx1"/>
                </a:solidFill>
                <a:effectLst/>
                <a:latin typeface="+mn-lt"/>
                <a:ea typeface="+mn-ea"/>
                <a:cs typeface="+mn-cs"/>
              </a:rPr>
              <a:t>  Use the most compelling charts and images from your  </a:t>
            </a:r>
            <a:r>
              <a:rPr lang="en-US" sz="1200" b="1" kern="1200" dirty="0">
                <a:solidFill>
                  <a:schemeClr val="tx1"/>
                </a:solidFill>
                <a:effectLst/>
                <a:latin typeface="+mn-lt"/>
                <a:ea typeface="+mn-ea"/>
                <a:cs typeface="+mn-cs"/>
              </a:rPr>
              <a:t>Market Research Report (Assignment 2)</a:t>
            </a:r>
            <a:r>
              <a:rPr lang="en-US" sz="1200" kern="1200" dirty="0">
                <a:solidFill>
                  <a:schemeClr val="tx1"/>
                </a:solidFill>
                <a:effectLst/>
                <a:latin typeface="+mn-lt"/>
                <a:ea typeface="+mn-ea"/>
                <a:cs typeface="+mn-cs"/>
              </a:rPr>
              <a:t>.</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Content Focus:</a:t>
            </a:r>
            <a:r>
              <a:rPr lang="en-US" sz="1200" kern="1200" dirty="0">
                <a:solidFill>
                  <a:schemeClr val="tx1"/>
                </a:solidFill>
                <a:effectLst/>
                <a:latin typeface="+mn-lt"/>
                <a:ea typeface="+mn-ea"/>
                <a:cs typeface="+mn-cs"/>
              </a:rPr>
              <a:t>  A picture is worth a thousand words. Show a graph of market growth. Use images that represent your target consumer or the logistical advantages. Don't just read the text; use the visuals to tell the story.</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Timing:</a:t>
            </a:r>
            <a:r>
              <a:rPr lang="en-US" sz="1200" kern="1200" dirty="0">
                <a:solidFill>
                  <a:schemeClr val="tx1"/>
                </a:solidFill>
                <a:effectLst/>
                <a:latin typeface="+mn-lt"/>
                <a:ea typeface="+mn-ea"/>
                <a:cs typeface="+mn-cs"/>
              </a:rPr>
              <a:t>  45-60 seconds. Let the visuals do most of the talking.</a:t>
            </a:r>
            <a:endParaRPr lang="en-Z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Presenter's Guide: Slide 7 - Defining Your Edge</a:t>
            </a:r>
            <a:endParaRPr lang="en-ZA"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Objective:</a:t>
            </a:r>
            <a:r>
              <a:rPr lang="en-US" sz="1200" kern="1200" dirty="0">
                <a:solidFill>
                  <a:schemeClr val="tx1"/>
                </a:solidFill>
                <a:effectLst/>
                <a:latin typeface="+mn-lt"/>
                <a:ea typeface="+mn-ea"/>
                <a:cs typeface="+mn-cs"/>
              </a:rPr>
              <a:t>  To clearly articulate why customers will choose you over the competition.</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Source:</a:t>
            </a:r>
            <a:r>
              <a:rPr lang="en-US" sz="1200" kern="1200" dirty="0">
                <a:solidFill>
                  <a:schemeClr val="tx1"/>
                </a:solidFill>
                <a:effectLst/>
                <a:latin typeface="+mn-lt"/>
                <a:ea typeface="+mn-ea"/>
                <a:cs typeface="+mn-cs"/>
              </a:rPr>
              <a:t>  This is a direct summary of the "Competitor Analysis" section from your  </a:t>
            </a:r>
            <a:r>
              <a:rPr lang="en-US" sz="1200" b="1" kern="1200" dirty="0">
                <a:solidFill>
                  <a:schemeClr val="tx1"/>
                </a:solidFill>
                <a:effectLst/>
                <a:latin typeface="+mn-lt"/>
                <a:ea typeface="+mn-ea"/>
                <a:cs typeface="+mn-cs"/>
              </a:rPr>
              <a:t>Market Research (Assignment 2)</a:t>
            </a:r>
            <a:r>
              <a:rPr lang="en-US" sz="1200" kern="1200" dirty="0">
                <a:solidFill>
                  <a:schemeClr val="tx1"/>
                </a:solidFill>
                <a:effectLst/>
                <a:latin typeface="+mn-lt"/>
                <a:ea typeface="+mn-ea"/>
                <a:cs typeface="+mn-cs"/>
              </a:rPr>
              <a:t>  and your defined  </a:t>
            </a:r>
            <a:r>
              <a:rPr lang="en-US" sz="1200" b="1" kern="1200" dirty="0">
                <a:solidFill>
                  <a:schemeClr val="tx1"/>
                </a:solidFill>
                <a:effectLst/>
                <a:latin typeface="+mn-lt"/>
                <a:ea typeface="+mn-ea"/>
                <a:cs typeface="+mn-cs"/>
              </a:rPr>
              <a:t>USP from Assignment 3</a:t>
            </a:r>
            <a:r>
              <a:rPr lang="en-US" sz="1200" kern="1200" dirty="0">
                <a:solidFill>
                  <a:schemeClr val="tx1"/>
                </a:solidFill>
                <a:effectLst/>
                <a:latin typeface="+mn-lt"/>
                <a:ea typeface="+mn-ea"/>
                <a:cs typeface="+mn-cs"/>
              </a:rPr>
              <a:t>.</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Content Focus:</a:t>
            </a:r>
            <a:r>
              <a:rPr lang="en-US" sz="1200" kern="1200" dirty="0">
                <a:solidFill>
                  <a:schemeClr val="tx1"/>
                </a:solidFill>
                <a:effectLst/>
                <a:latin typeface="+mn-lt"/>
                <a:ea typeface="+mn-ea"/>
                <a:cs typeface="+mn-cs"/>
              </a:rPr>
              <a:t>  Start with your powerful USP statement. Then, use the two-column format to create a direct comparison against your rivals. Focus on their weaknesses that your product solves.</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Timing:</a:t>
            </a:r>
            <a:r>
              <a:rPr lang="en-US" sz="1200" kern="1200" dirty="0">
                <a:solidFill>
                  <a:schemeClr val="tx1"/>
                </a:solidFill>
                <a:effectLst/>
                <a:latin typeface="+mn-lt"/>
                <a:ea typeface="+mn-ea"/>
                <a:cs typeface="+mn-cs"/>
              </a:rPr>
              <a:t>  60 seconds. Be sharp and confident in your positioning.</a:t>
            </a:r>
            <a:endParaRPr lang="en-Z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Presenter's Guide: Slide 8 - The "How" of Market Entry</a:t>
            </a:r>
            <a:endParaRPr lang="en-ZA"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Objective:</a:t>
            </a:r>
            <a:r>
              <a:rPr lang="en-US" sz="1200" kern="1200" dirty="0">
                <a:solidFill>
                  <a:schemeClr val="tx1"/>
                </a:solidFill>
                <a:effectLst/>
                <a:latin typeface="+mn-lt"/>
                <a:ea typeface="+mn-ea"/>
                <a:cs typeface="+mn-cs"/>
              </a:rPr>
              <a:t>  To explain your chosen method for entering the market and justify why it's the right choice for your company.</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Source:</a:t>
            </a:r>
            <a:r>
              <a:rPr lang="en-US" sz="1200" kern="1200" dirty="0">
                <a:solidFill>
                  <a:schemeClr val="tx1"/>
                </a:solidFill>
                <a:effectLst/>
                <a:latin typeface="+mn-lt"/>
                <a:ea typeface="+mn-ea"/>
                <a:cs typeface="+mn-cs"/>
              </a:rPr>
              <a:t>  Refer to the "Market Entry Strategy" section of your  </a:t>
            </a:r>
            <a:r>
              <a:rPr lang="en-US" sz="1200" b="1" kern="1200" dirty="0">
                <a:solidFill>
                  <a:schemeClr val="tx1"/>
                </a:solidFill>
                <a:effectLst/>
                <a:latin typeface="+mn-lt"/>
                <a:ea typeface="+mn-ea"/>
                <a:cs typeface="+mn-cs"/>
              </a:rPr>
              <a:t>Export Marketing Plan (Assignment 3)</a:t>
            </a:r>
            <a:r>
              <a:rPr lang="en-US" sz="1200" kern="1200" dirty="0">
                <a:solidFill>
                  <a:schemeClr val="tx1"/>
                </a:solidFill>
                <a:effectLst/>
                <a:latin typeface="+mn-lt"/>
                <a:ea typeface="+mn-ea"/>
                <a:cs typeface="+mn-cs"/>
              </a:rPr>
              <a:t>. This aligns with US 243215, SO1.</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Content Focus:</a:t>
            </a:r>
            <a:r>
              <a:rPr lang="en-US" sz="1200" kern="1200" dirty="0">
                <a:solidFill>
                  <a:schemeClr val="tx1"/>
                </a:solidFill>
                <a:effectLst/>
                <a:latin typeface="+mn-lt"/>
                <a:ea typeface="+mn-ea"/>
                <a:cs typeface="+mn-cs"/>
              </a:rPr>
              <a:t>  Clearly state your method (e.g., "Direct Exporting via a Distributor"). Your justification should be concise and address risk, control, and resource commitment. The flowchart is an excellent way to visually explain the process.</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Timing:</a:t>
            </a:r>
            <a:r>
              <a:rPr lang="en-US" sz="1200" kern="1200" dirty="0">
                <a:solidFill>
                  <a:schemeClr val="tx1"/>
                </a:solidFill>
                <a:effectLst/>
                <a:latin typeface="+mn-lt"/>
                <a:ea typeface="+mn-ea"/>
                <a:cs typeface="+mn-cs"/>
              </a:rPr>
              <a:t>  60 seconds. The panel needs to see that you've thought through the practicalities of getting your product to market.</a:t>
            </a:r>
            <a:endParaRPr lang="en-Z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Presenter's Guide: Slide 9 - Meeting Local Needs</a:t>
            </a:r>
            <a:endParaRPr lang="en-ZA"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Objective:</a:t>
            </a:r>
            <a:r>
              <a:rPr lang="en-US" sz="1200" kern="1200" dirty="0">
                <a:solidFill>
                  <a:schemeClr val="tx1"/>
                </a:solidFill>
                <a:effectLst/>
                <a:latin typeface="+mn-lt"/>
                <a:ea typeface="+mn-ea"/>
                <a:cs typeface="+mn-cs"/>
              </a:rPr>
              <a:t>  To demonstrate that you've done your homework and are adapting your product to fit the target market, rather than just selling a domestic product abroad.</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Source:</a:t>
            </a:r>
            <a:r>
              <a:rPr lang="en-US" sz="1200" kern="1200" dirty="0">
                <a:solidFill>
                  <a:schemeClr val="tx1"/>
                </a:solidFill>
                <a:effectLst/>
                <a:latin typeface="+mn-lt"/>
                <a:ea typeface="+mn-ea"/>
                <a:cs typeface="+mn-cs"/>
              </a:rPr>
              <a:t>  This comes directly from the "Product Strategy" section of your  </a:t>
            </a:r>
            <a:r>
              <a:rPr lang="en-US" sz="1200" b="1" kern="1200" dirty="0">
                <a:solidFill>
                  <a:schemeClr val="tx1"/>
                </a:solidFill>
                <a:effectLst/>
                <a:latin typeface="+mn-lt"/>
                <a:ea typeface="+mn-ea"/>
                <a:cs typeface="+mn-cs"/>
              </a:rPr>
              <a:t>Export Marketing Plan (Assignment 3)</a:t>
            </a:r>
            <a:r>
              <a:rPr lang="en-US" sz="1200" kern="1200" dirty="0">
                <a:solidFill>
                  <a:schemeClr val="tx1"/>
                </a:solidFill>
                <a:effectLst/>
                <a:latin typeface="+mn-lt"/>
                <a:ea typeface="+mn-ea"/>
                <a:cs typeface="+mn-cs"/>
              </a:rPr>
              <a:t>, which was informed by your "Product Viability Test" in  </a:t>
            </a:r>
            <a:r>
              <a:rPr lang="en-US" sz="1200" b="1" kern="1200" dirty="0">
                <a:solidFill>
                  <a:schemeClr val="tx1"/>
                </a:solidFill>
                <a:effectLst/>
                <a:latin typeface="+mn-lt"/>
                <a:ea typeface="+mn-ea"/>
                <a:cs typeface="+mn-cs"/>
              </a:rPr>
              <a:t>Assignment 2</a:t>
            </a:r>
            <a:r>
              <a:rPr lang="en-US" sz="1200" kern="1200" dirty="0">
                <a:solidFill>
                  <a:schemeClr val="tx1"/>
                </a:solidFill>
                <a:effectLst/>
                <a:latin typeface="+mn-lt"/>
                <a:ea typeface="+mn-ea"/>
                <a:cs typeface="+mn-cs"/>
              </a:rPr>
              <a:t>. This addresses US 243215, SO2.</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Content Focus:</a:t>
            </a:r>
            <a:r>
              <a:rPr lang="en-US" sz="1200" kern="1200" dirty="0">
                <a:solidFill>
                  <a:schemeClr val="tx1"/>
                </a:solidFill>
                <a:effectLst/>
                <a:latin typeface="+mn-lt"/>
                <a:ea typeface="+mn-ea"/>
                <a:cs typeface="+mn-cs"/>
              </a:rPr>
              <a:t>  Be specific about the changes. Highlighting 2-3 key adaptations is more powerful than a long list. Emphasize that these changes are data-driven ("based on feedback/taste tests").</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Timing:</a:t>
            </a:r>
            <a:r>
              <a:rPr lang="en-US" sz="1200" kern="1200" dirty="0">
                <a:solidFill>
                  <a:schemeClr val="tx1"/>
                </a:solidFill>
                <a:effectLst/>
                <a:latin typeface="+mn-lt"/>
                <a:ea typeface="+mn-ea"/>
                <a:cs typeface="+mn-cs"/>
              </a:rPr>
              <a:t>  60 seconds. Show the panel you are customer-centric and responsive to market needs.</a:t>
            </a:r>
            <a:endParaRPr lang="en-Z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Presenter's Guide: Slide 10 - The Financials of the Sale</a:t>
            </a:r>
            <a:endParaRPr lang="en-ZA"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Objective:</a:t>
            </a:r>
            <a:r>
              <a:rPr lang="en-US" sz="1200" kern="1200" dirty="0">
                <a:solidFill>
                  <a:schemeClr val="tx1"/>
                </a:solidFill>
                <a:effectLst/>
                <a:latin typeface="+mn-lt"/>
                <a:ea typeface="+mn-ea"/>
                <a:cs typeface="+mn-cs"/>
              </a:rPr>
              <a:t>  To explain your pricing logic and the commercial terms of sale.</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Source:</a:t>
            </a:r>
            <a:r>
              <a:rPr lang="en-US" sz="1200" kern="1200" dirty="0">
                <a:solidFill>
                  <a:schemeClr val="tx1"/>
                </a:solidFill>
                <a:effectLst/>
                <a:latin typeface="+mn-lt"/>
                <a:ea typeface="+mn-ea"/>
                <a:cs typeface="+mn-cs"/>
              </a:rPr>
              <a:t>  Use the "Pricing and Costing Strategy" section from your  </a:t>
            </a:r>
            <a:r>
              <a:rPr lang="en-US" sz="1200" b="1" kern="1200" dirty="0">
                <a:solidFill>
                  <a:schemeClr val="tx1"/>
                </a:solidFill>
                <a:effectLst/>
                <a:latin typeface="+mn-lt"/>
                <a:ea typeface="+mn-ea"/>
                <a:cs typeface="+mn-cs"/>
              </a:rPr>
              <a:t>Export Marketing Plan (Assignment 3)</a:t>
            </a:r>
            <a:r>
              <a:rPr lang="en-US" sz="1200" kern="1200" dirty="0">
                <a:solidFill>
                  <a:schemeClr val="tx1"/>
                </a:solidFill>
                <a:effectLst/>
                <a:latin typeface="+mn-lt"/>
                <a:ea typeface="+mn-ea"/>
                <a:cs typeface="+mn-cs"/>
              </a:rPr>
              <a:t>. This addresses US 243215, SO3 and US 252437.</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Content Focus:</a:t>
            </a:r>
            <a:r>
              <a:rPr lang="en-US" sz="1200" kern="1200" dirty="0">
                <a:solidFill>
                  <a:schemeClr val="tx1"/>
                </a:solidFill>
                <a:effectLst/>
                <a:latin typeface="+mn-lt"/>
                <a:ea typeface="+mn-ea"/>
                <a:cs typeface="+mn-cs"/>
              </a:rPr>
              <a:t>  Clearly state your objective (e.g., Penetration, Skimming). Explain your chosen Incoterm and why it's suitable (e.g., "FCA gives us control over domestic costs while allowing the experienced buyer to manage international freight").</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Timing:</a:t>
            </a:r>
            <a:r>
              <a:rPr lang="en-US" sz="1200" kern="1200" dirty="0">
                <a:solidFill>
                  <a:schemeClr val="tx1"/>
                </a:solidFill>
                <a:effectLst/>
                <a:latin typeface="+mn-lt"/>
                <a:ea typeface="+mn-ea"/>
                <a:cs typeface="+mn-cs"/>
              </a:rPr>
              <a:t>  60-75 seconds. The panel will be very interested in your commercial acumen.</a:t>
            </a:r>
            <a:endParaRPr lang="en-Z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Presenter's Guide: Slide 11 - Creating Market Buzz</a:t>
            </a:r>
            <a:endParaRPr lang="en-ZA"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Objective:</a:t>
            </a:r>
            <a:r>
              <a:rPr lang="en-US" sz="1200" kern="1200" dirty="0">
                <a:solidFill>
                  <a:schemeClr val="tx1"/>
                </a:solidFill>
                <a:effectLst/>
                <a:latin typeface="+mn-lt"/>
                <a:ea typeface="+mn-ea"/>
                <a:cs typeface="+mn-cs"/>
              </a:rPr>
              <a:t>  To show the panel you have a concrete plan to generate awareness and sales.</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Source:</a:t>
            </a:r>
            <a:r>
              <a:rPr lang="en-US" sz="1200" kern="1200" dirty="0">
                <a:solidFill>
                  <a:schemeClr val="tx1"/>
                </a:solidFill>
                <a:effectLst/>
                <a:latin typeface="+mn-lt"/>
                <a:ea typeface="+mn-ea"/>
                <a:cs typeface="+mn-cs"/>
              </a:rPr>
              <a:t>  Pull from the "Promotion Strategy" section of your  </a:t>
            </a:r>
            <a:r>
              <a:rPr lang="en-US" sz="1200" b="1" kern="1200" dirty="0">
                <a:solidFill>
                  <a:schemeClr val="tx1"/>
                </a:solidFill>
                <a:effectLst/>
                <a:latin typeface="+mn-lt"/>
                <a:ea typeface="+mn-ea"/>
                <a:cs typeface="+mn-cs"/>
              </a:rPr>
              <a:t>Export Marketing Plan (Assignment 3)</a:t>
            </a:r>
            <a:r>
              <a:rPr lang="en-US" sz="1200" kern="1200" dirty="0">
                <a:solidFill>
                  <a:schemeClr val="tx1"/>
                </a:solidFill>
                <a:effectLst/>
                <a:latin typeface="+mn-lt"/>
                <a:ea typeface="+mn-ea"/>
                <a:cs typeface="+mn-cs"/>
              </a:rPr>
              <a:t>. This addresses US 243215, SO4.</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Content Focus:</a:t>
            </a:r>
            <a:r>
              <a:rPr lang="en-US" sz="1200" kern="1200" dirty="0">
                <a:solidFill>
                  <a:schemeClr val="tx1"/>
                </a:solidFill>
                <a:effectLst/>
                <a:latin typeface="+mn-lt"/>
                <a:ea typeface="+mn-ea"/>
                <a:cs typeface="+mn-cs"/>
              </a:rPr>
              <a:t>  Focus on 2-3 high-impact activities for the first year. Be specific where possible (e.g., name the trade show you plan to attend). Link these activities to your expected outcomes.</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Timing:</a:t>
            </a:r>
            <a:r>
              <a:rPr lang="en-US" sz="1200" kern="1200" dirty="0">
                <a:solidFill>
                  <a:schemeClr val="tx1"/>
                </a:solidFill>
                <a:effectLst/>
                <a:latin typeface="+mn-lt"/>
                <a:ea typeface="+mn-ea"/>
                <a:cs typeface="+mn-cs"/>
              </a:rPr>
              <a:t>  60 seconds. Demonstrate a clear, focused, and budgeted approach to promotion.</a:t>
            </a:r>
            <a:endParaRPr lang="en-Z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Presenter's Guide: Slide 12 - The Bottom Line</a:t>
            </a:r>
            <a:endParaRPr lang="en-ZA"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Objective:</a:t>
            </a:r>
            <a:r>
              <a:rPr lang="en-US" sz="1200" kern="1200" dirty="0">
                <a:solidFill>
                  <a:schemeClr val="tx1"/>
                </a:solidFill>
                <a:effectLst/>
                <a:latin typeface="+mn-lt"/>
                <a:ea typeface="+mn-ea"/>
                <a:cs typeface="+mn-cs"/>
              </a:rPr>
              <a:t>  To demonstrate the financial viability of your export plan.</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Source:</a:t>
            </a:r>
            <a:r>
              <a:rPr lang="en-US" sz="1200" kern="1200" dirty="0">
                <a:solidFill>
                  <a:schemeClr val="tx1"/>
                </a:solidFill>
                <a:effectLst/>
                <a:latin typeface="+mn-lt"/>
                <a:ea typeface="+mn-ea"/>
                <a:cs typeface="+mn-cs"/>
              </a:rPr>
              <a:t>  This data comes directly from the "Financials and Risk Management" section of your  </a:t>
            </a:r>
            <a:r>
              <a:rPr lang="en-US" sz="1200" b="1" kern="1200" dirty="0">
                <a:solidFill>
                  <a:schemeClr val="tx1"/>
                </a:solidFill>
                <a:effectLst/>
                <a:latin typeface="+mn-lt"/>
                <a:ea typeface="+mn-ea"/>
                <a:cs typeface="+mn-cs"/>
              </a:rPr>
              <a:t>Export Marketing Plan (Assignment 3)</a:t>
            </a:r>
            <a:r>
              <a:rPr lang="en-US" sz="1200" kern="1200" dirty="0">
                <a:solidFill>
                  <a:schemeClr val="tx1"/>
                </a:solidFill>
                <a:effectLst/>
                <a:latin typeface="+mn-lt"/>
                <a:ea typeface="+mn-ea"/>
                <a:cs typeface="+mn-cs"/>
              </a:rPr>
              <a:t>.</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Content Focus:</a:t>
            </a:r>
            <a:r>
              <a:rPr lang="en-US" sz="1200" kern="1200" dirty="0">
                <a:solidFill>
                  <a:schemeClr val="tx1"/>
                </a:solidFill>
                <a:effectLst/>
                <a:latin typeface="+mn-lt"/>
                <a:ea typeface="+mn-ea"/>
                <a:cs typeface="+mn-cs"/>
              </a:rPr>
              <a:t>  Present your top-line projections clearly. The table provides the numbers, and the chart provides the visual story of growth. Be prepared to briefly explain the assumptions behind your forecast (e.g., "Our Year 1 sales are based on securing two distributors...").</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Timing:</a:t>
            </a:r>
            <a:r>
              <a:rPr lang="en-US" sz="1200" kern="1200" dirty="0">
                <a:solidFill>
                  <a:schemeClr val="tx1"/>
                </a:solidFill>
                <a:effectLst/>
                <a:latin typeface="+mn-lt"/>
                <a:ea typeface="+mn-ea"/>
                <a:cs typeface="+mn-cs"/>
              </a:rPr>
              <a:t>  75 seconds. This is a critical slide. Speak confidently about the numbers and the projected return on investment.</a:t>
            </a:r>
            <a:endParaRPr lang="en-Z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Presenter's Guide: Slide 13 - Making it Happen</a:t>
            </a:r>
            <a:endParaRPr lang="en-ZA"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Objective:</a:t>
            </a:r>
            <a:r>
              <a:rPr lang="en-US" sz="1200" kern="1200" dirty="0">
                <a:solidFill>
                  <a:schemeClr val="tx1"/>
                </a:solidFill>
                <a:effectLst/>
                <a:latin typeface="+mn-lt"/>
                <a:ea typeface="+mn-ea"/>
                <a:cs typeface="+mn-cs"/>
              </a:rPr>
              <a:t>  To show that you have a practical, step-by-step plan for execution.</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Source:</a:t>
            </a:r>
            <a:r>
              <a:rPr lang="en-US" sz="1200" kern="1200" dirty="0">
                <a:solidFill>
                  <a:schemeClr val="tx1"/>
                </a:solidFill>
                <a:effectLst/>
                <a:latin typeface="+mn-lt"/>
                <a:ea typeface="+mn-ea"/>
                <a:cs typeface="+mn-cs"/>
              </a:rPr>
              <a:t>  Use the "Action Plan and Timeline" from your  </a:t>
            </a:r>
            <a:r>
              <a:rPr lang="en-US" sz="1200" b="1" kern="1200" dirty="0">
                <a:solidFill>
                  <a:schemeClr val="tx1"/>
                </a:solidFill>
                <a:effectLst/>
                <a:latin typeface="+mn-lt"/>
                <a:ea typeface="+mn-ea"/>
                <a:cs typeface="+mn-cs"/>
              </a:rPr>
              <a:t>Export Marketing Plan (Assignment 3)</a:t>
            </a:r>
            <a:r>
              <a:rPr lang="en-US" sz="1200" kern="1200" dirty="0">
                <a:solidFill>
                  <a:schemeClr val="tx1"/>
                </a:solidFill>
                <a:effectLst/>
                <a:latin typeface="+mn-lt"/>
                <a:ea typeface="+mn-ea"/>
                <a:cs typeface="+mn-cs"/>
              </a:rPr>
              <a:t>. This addresses US 243215, SO6.</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Content Focus:</a:t>
            </a:r>
            <a:r>
              <a:rPr lang="en-US" sz="1200" kern="1200" dirty="0">
                <a:solidFill>
                  <a:schemeClr val="tx1"/>
                </a:solidFill>
                <a:effectLst/>
                <a:latin typeface="+mn-lt"/>
                <a:ea typeface="+mn-ea"/>
                <a:cs typeface="+mn-cs"/>
              </a:rPr>
              <a:t>  A visual timeline is very effective. Highlight 4-5 major milestones for the first six months to demonstrate momentum. The "Key Success Factors" show the panel you understand project management principles.</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Timing:</a:t>
            </a:r>
            <a:r>
              <a:rPr lang="en-US" sz="1200" kern="1200" dirty="0">
                <a:solidFill>
                  <a:schemeClr val="tx1"/>
                </a:solidFill>
                <a:effectLst/>
                <a:latin typeface="+mn-lt"/>
                <a:ea typeface="+mn-ea"/>
                <a:cs typeface="+mn-cs"/>
              </a:rPr>
              <a:t>  60 seconds. Walk the panel through the key steps from finalizing partnerships to shipping the first order.</a:t>
            </a:r>
            <a:endParaRPr lang="en-Z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Presenter's Guide: Slide 14 - Measuring Success</a:t>
            </a:r>
            <a:endParaRPr lang="en-ZA"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Objective:</a:t>
            </a:r>
            <a:r>
              <a:rPr lang="en-US" sz="1200" kern="1200" dirty="0">
                <a:solidFill>
                  <a:schemeClr val="tx1"/>
                </a:solidFill>
                <a:effectLst/>
                <a:latin typeface="+mn-lt"/>
                <a:ea typeface="+mn-ea"/>
                <a:cs typeface="+mn-cs"/>
              </a:rPr>
              <a:t>  To demonstrate that you have a system for tracking progress and ensuring accountability.</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Source:</a:t>
            </a:r>
            <a:r>
              <a:rPr lang="en-US" sz="1200" kern="1200" dirty="0">
                <a:solidFill>
                  <a:schemeClr val="tx1"/>
                </a:solidFill>
                <a:effectLst/>
                <a:latin typeface="+mn-lt"/>
                <a:ea typeface="+mn-ea"/>
                <a:cs typeface="+mn-cs"/>
              </a:rPr>
              <a:t>  From the "Implementation and Monitoring" section of your  </a:t>
            </a:r>
            <a:r>
              <a:rPr lang="en-US" sz="1200" b="1" kern="1200" dirty="0">
                <a:solidFill>
                  <a:schemeClr val="tx1"/>
                </a:solidFill>
                <a:effectLst/>
                <a:latin typeface="+mn-lt"/>
                <a:ea typeface="+mn-ea"/>
                <a:cs typeface="+mn-cs"/>
              </a:rPr>
              <a:t>Export Marketing Plan (Assignment 3)</a:t>
            </a:r>
            <a:r>
              <a:rPr lang="en-US" sz="1200" kern="1200" dirty="0">
                <a:solidFill>
                  <a:schemeClr val="tx1"/>
                </a:solidFill>
                <a:effectLst/>
                <a:latin typeface="+mn-lt"/>
                <a:ea typeface="+mn-ea"/>
                <a:cs typeface="+mn-cs"/>
              </a:rPr>
              <a:t>.</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Content Focus:</a:t>
            </a:r>
            <a:r>
              <a:rPr lang="en-US" sz="1200" kern="1200" dirty="0">
                <a:solidFill>
                  <a:schemeClr val="tx1"/>
                </a:solidFill>
                <a:effectLst/>
                <a:latin typeface="+mn-lt"/>
                <a:ea typeface="+mn-ea"/>
                <a:cs typeface="+mn-cs"/>
              </a:rPr>
              <a:t>  Group your KPIs into logical categories (e.g., Sales, Marketing, Financial). This shows a balanced approach to measuring success. State the review frequency to show this is an ongoing process.</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Timing:</a:t>
            </a:r>
            <a:r>
              <a:rPr lang="en-US" sz="1200" kern="1200" dirty="0">
                <a:solidFill>
                  <a:schemeClr val="tx1"/>
                </a:solidFill>
                <a:effectLst/>
                <a:latin typeface="+mn-lt"/>
                <a:ea typeface="+mn-ea"/>
                <a:cs typeface="+mn-cs"/>
              </a:rPr>
              <a:t>  45-60 seconds. Briefly explain what you will measure and how often.</a:t>
            </a:r>
            <a:endParaRPr lang="en-Z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Presenter's Guide: Slide 15 - The "Ask" and the "Return"</a:t>
            </a:r>
            <a:endParaRPr lang="en-ZA"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Objective:</a:t>
            </a:r>
            <a:r>
              <a:rPr lang="en-US" sz="1200" kern="1200" dirty="0">
                <a:solidFill>
                  <a:schemeClr val="tx1"/>
                </a:solidFill>
                <a:effectLst/>
                <a:latin typeface="+mn-lt"/>
                <a:ea typeface="+mn-ea"/>
                <a:cs typeface="+mn-cs"/>
              </a:rPr>
              <a:t>  To clearly state what you need to make this plan a reality and what the expected return will be.</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Source:</a:t>
            </a:r>
            <a:r>
              <a:rPr lang="en-US" sz="1200" kern="1200" dirty="0">
                <a:solidFill>
                  <a:schemeClr val="tx1"/>
                </a:solidFill>
                <a:effectLst/>
                <a:latin typeface="+mn-lt"/>
                <a:ea typeface="+mn-ea"/>
                <a:cs typeface="+mn-cs"/>
              </a:rPr>
              <a:t>  Summarize the "Investment Requirements" and financial projections from your  </a:t>
            </a:r>
            <a:r>
              <a:rPr lang="en-US" sz="1200" b="1" kern="1200" dirty="0">
                <a:solidFill>
                  <a:schemeClr val="tx1"/>
                </a:solidFill>
                <a:effectLst/>
                <a:latin typeface="+mn-lt"/>
                <a:ea typeface="+mn-ea"/>
                <a:cs typeface="+mn-cs"/>
              </a:rPr>
              <a:t>Export Marketing Plan (Assignment 3)</a:t>
            </a:r>
            <a:r>
              <a:rPr lang="en-US" sz="1200" kern="1200" dirty="0">
                <a:solidFill>
                  <a:schemeClr val="tx1"/>
                </a:solidFill>
                <a:effectLst/>
                <a:latin typeface="+mn-lt"/>
                <a:ea typeface="+mn-ea"/>
                <a:cs typeface="+mn-cs"/>
              </a:rPr>
              <a:t>.</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Content Focus:</a:t>
            </a:r>
            <a:r>
              <a:rPr lang="en-US" sz="1200" kern="1200" dirty="0">
                <a:solidFill>
                  <a:schemeClr val="tx1"/>
                </a:solidFill>
                <a:effectLst/>
                <a:latin typeface="+mn-lt"/>
                <a:ea typeface="+mn-ea"/>
                <a:cs typeface="+mn-cs"/>
              </a:rPr>
              <a:t>  Be specific in your "ask." If you need funding, state the amount and what it's for. The "Expected Returns" should be the most exciting outcomes from your financial projections, linking the investment directly to tangible results.</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Timing:</a:t>
            </a:r>
            <a:r>
              <a:rPr lang="en-US" sz="1200" kern="1200" dirty="0">
                <a:solidFill>
                  <a:schemeClr val="tx1"/>
                </a:solidFill>
                <a:effectLst/>
                <a:latin typeface="+mn-lt"/>
                <a:ea typeface="+mn-ea"/>
                <a:cs typeface="+mn-cs"/>
              </a:rPr>
              <a:t>  60 seconds. This is your call to action. Be clear, confident, and direct.</a:t>
            </a:r>
            <a:endParaRPr lang="en-Z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Presenter's Guide: Slide 16 - The Conclusion</a:t>
            </a:r>
            <a:endParaRPr lang="en-ZA"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Objective:</a:t>
            </a:r>
            <a:r>
              <a:rPr lang="en-US" sz="1200" kern="1200" dirty="0">
                <a:solidFill>
                  <a:schemeClr val="tx1"/>
                </a:solidFill>
                <a:effectLst/>
                <a:latin typeface="+mn-lt"/>
                <a:ea typeface="+mn-ea"/>
                <a:cs typeface="+mn-cs"/>
              </a:rPr>
              <a:t>  To end the presentation professionally and open the floor for the Q&amp;A session.</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Action:</a:t>
            </a:r>
            <a:r>
              <a:rPr lang="en-US" sz="1200" kern="1200" dirty="0">
                <a:solidFill>
                  <a:schemeClr val="tx1"/>
                </a:solidFill>
                <a:effectLst/>
                <a:latin typeface="+mn-lt"/>
                <a:ea typeface="+mn-ea"/>
                <a:cs typeface="+mn-cs"/>
              </a:rPr>
              <a:t>  Thank the panel for their time and attention. State that you are ready for questions. Display your contact information clearly.</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Timing:</a:t>
            </a:r>
            <a:r>
              <a:rPr lang="en-US" sz="1200" kern="1200" dirty="0">
                <a:solidFill>
                  <a:schemeClr val="tx1"/>
                </a:solidFill>
                <a:effectLst/>
                <a:latin typeface="+mn-lt"/>
                <a:ea typeface="+mn-ea"/>
                <a:cs typeface="+mn-cs"/>
              </a:rPr>
              <a:t>  15-20 seconds for the closing statement. The rest of the time is for the 15-minute Q&amp;A.</a:t>
            </a:r>
            <a:endParaRPr lang="en-ZA"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Tip:</a:t>
            </a:r>
            <a:r>
              <a:rPr lang="en-US" sz="1200" kern="1200" dirty="0">
                <a:solidFill>
                  <a:schemeClr val="tx1"/>
                </a:solidFill>
                <a:effectLst/>
                <a:latin typeface="+mn-lt"/>
                <a:ea typeface="+mn-ea"/>
                <a:cs typeface="+mn-cs"/>
              </a:rPr>
              <a:t>  Remain standing and engaged. Listen carefully to each question before answering. Refer back to your slides if necessary (e.g., "That's an excellent question. As you saw on our financial projections slide..."). This is your opportunity to demonstrate the depth of your knowledge.</a:t>
            </a:r>
            <a:endParaRPr lang="en-Z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3" name="Picture 2" descr="A blue letters on a black background&#10;&#10;AI-generated content may be incorrect.">
            <a:extLst>
              <a:ext uri="{FF2B5EF4-FFF2-40B4-BE49-F238E27FC236}">
                <a16:creationId xmlns:a16="http://schemas.microsoft.com/office/drawing/2014/main" id="{0A6E562A-F153-0A05-F9CC-FC4E78665690}"/>
              </a:ext>
            </a:extLst>
          </p:cNvPr>
          <p:cNvPicPr>
            <a:picLocks noChangeAspect="1"/>
          </p:cNvPicPr>
          <p:nvPr userDrawn="1"/>
        </p:nvPicPr>
        <p:blipFill>
          <a:blip r:embed="rId2"/>
          <a:stretch>
            <a:fillRect/>
          </a:stretch>
        </p:blipFill>
        <p:spPr>
          <a:xfrm>
            <a:off x="10825377" y="233170"/>
            <a:ext cx="1052680" cy="26060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png"/><Relationship Id="rId3" Type="http://schemas.openxmlformats.org/officeDocument/2006/relationships/image" Target="../media/image9.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4.png"/><Relationship Id="rId10" Type="http://schemas.openxmlformats.org/officeDocument/2006/relationships/image" Target="../media/image15.png"/><Relationship Id="rId4" Type="http://schemas.openxmlformats.org/officeDocument/2006/relationships/image" Target="../media/image10.png"/><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1.png"/><Relationship Id="rId3" Type="http://schemas.openxmlformats.org/officeDocument/2006/relationships/image" Target="../media/image2.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notesSlide" Target="../notesSlides/notesSlide3.xml"/><Relationship Id="rId16"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23.png"/><Relationship Id="rId5" Type="http://schemas.openxmlformats.org/officeDocument/2006/relationships/image" Target="../media/image4.png"/><Relationship Id="rId15" Type="http://schemas.openxmlformats.org/officeDocument/2006/relationships/image" Target="../media/image27.png"/><Relationship Id="rId10" Type="http://schemas.openxmlformats.org/officeDocument/2006/relationships/image" Target="../media/image22.png"/><Relationship Id="rId4" Type="http://schemas.openxmlformats.org/officeDocument/2006/relationships/image" Target="../media/image18.png"/><Relationship Id="rId9" Type="http://schemas.openxmlformats.org/officeDocument/2006/relationships/image" Target="../media/image21.png"/><Relationship Id="rId14" Type="http://schemas.openxmlformats.org/officeDocument/2006/relationships/image" Target="../media/image26.png"/></Relationships>
</file>

<file path=ppt/slides/_rels/slide4.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3" Type="http://schemas.openxmlformats.org/officeDocument/2006/relationships/image" Target="../media/image2.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34.png"/><Relationship Id="rId5" Type="http://schemas.openxmlformats.org/officeDocument/2006/relationships/image" Target="../media/image4.png"/><Relationship Id="rId15" Type="http://schemas.openxmlformats.org/officeDocument/2006/relationships/image" Target="../media/image1.png"/><Relationship Id="rId10" Type="http://schemas.openxmlformats.org/officeDocument/2006/relationships/image" Target="../media/image33.png"/><Relationship Id="rId4" Type="http://schemas.openxmlformats.org/officeDocument/2006/relationships/image" Target="../media/image18.png"/><Relationship Id="rId9" Type="http://schemas.openxmlformats.org/officeDocument/2006/relationships/image" Target="../media/image32.png"/><Relationship Id="rId14" Type="http://schemas.openxmlformats.org/officeDocument/2006/relationships/image" Target="../media/image37.png"/></Relationships>
</file>

<file path=ppt/slides/_rels/slide5.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2.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notesSlide" Target="../notesSlides/notesSlide5.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42.png"/><Relationship Id="rId5" Type="http://schemas.openxmlformats.org/officeDocument/2006/relationships/image" Target="../media/image4.png"/><Relationship Id="rId15" Type="http://schemas.openxmlformats.org/officeDocument/2006/relationships/image" Target="../media/image46.png"/><Relationship Id="rId10" Type="http://schemas.openxmlformats.org/officeDocument/2006/relationships/image" Target="../media/image41.png"/><Relationship Id="rId4" Type="http://schemas.openxmlformats.org/officeDocument/2006/relationships/image" Target="../media/image18.png"/><Relationship Id="rId9" Type="http://schemas.openxmlformats.org/officeDocument/2006/relationships/image" Target="../media/image40.png"/><Relationship Id="rId14" Type="http://schemas.openxmlformats.org/officeDocument/2006/relationships/image" Target="../media/image45.png"/></Relationships>
</file>

<file path=ppt/slides/_rels/slide6.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42.png"/><Relationship Id="rId18" Type="http://schemas.openxmlformats.org/officeDocument/2006/relationships/image" Target="../media/image1.png"/><Relationship Id="rId3" Type="http://schemas.openxmlformats.org/officeDocument/2006/relationships/image" Target="../media/image2.png"/><Relationship Id="rId7" Type="http://schemas.openxmlformats.org/officeDocument/2006/relationships/image" Target="../media/image47.png"/><Relationship Id="rId12" Type="http://schemas.openxmlformats.org/officeDocument/2006/relationships/image" Target="../media/image43.png"/><Relationship Id="rId17" Type="http://schemas.openxmlformats.org/officeDocument/2006/relationships/image" Target="../media/image55.png"/><Relationship Id="rId2" Type="http://schemas.openxmlformats.org/officeDocument/2006/relationships/notesSlide" Target="../notesSlides/notesSlide6.xml"/><Relationship Id="rId16" Type="http://schemas.openxmlformats.org/officeDocument/2006/relationships/image" Target="../media/image54.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51.png"/><Relationship Id="rId5" Type="http://schemas.openxmlformats.org/officeDocument/2006/relationships/image" Target="../media/image4.png"/><Relationship Id="rId15" Type="http://schemas.openxmlformats.org/officeDocument/2006/relationships/image" Target="../media/image53.png"/><Relationship Id="rId10" Type="http://schemas.openxmlformats.org/officeDocument/2006/relationships/image" Target="../media/image50.png"/><Relationship Id="rId4" Type="http://schemas.openxmlformats.org/officeDocument/2006/relationships/image" Target="../media/image18.png"/><Relationship Id="rId9" Type="http://schemas.openxmlformats.org/officeDocument/2006/relationships/image" Target="../media/image49.png"/><Relationship Id="rId14" Type="http://schemas.openxmlformats.org/officeDocument/2006/relationships/image" Target="../media/image52.png"/></Relationships>
</file>

<file path=ppt/slides/_rels/slide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image" Target="../media/image2.png"/><Relationship Id="rId7" Type="http://schemas.openxmlformats.org/officeDocument/2006/relationships/image" Target="../media/image56.png"/><Relationship Id="rId12" Type="http://schemas.openxmlformats.org/officeDocument/2006/relationships/image" Target="../media/image61.png"/><Relationship Id="rId2" Type="http://schemas.openxmlformats.org/officeDocument/2006/relationships/notesSlide" Target="../notesSlides/notesSlide7.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60.png"/><Relationship Id="rId5" Type="http://schemas.openxmlformats.org/officeDocument/2006/relationships/image" Target="../media/image4.png"/><Relationship Id="rId15" Type="http://schemas.openxmlformats.org/officeDocument/2006/relationships/image" Target="../media/image64.png"/><Relationship Id="rId10" Type="http://schemas.openxmlformats.org/officeDocument/2006/relationships/image" Target="../media/image59.png"/><Relationship Id="rId4" Type="http://schemas.openxmlformats.org/officeDocument/2006/relationships/image" Target="../media/image18.png"/><Relationship Id="rId9" Type="http://schemas.openxmlformats.org/officeDocument/2006/relationships/image" Target="../media/image58.png"/><Relationship Id="rId14" Type="http://schemas.openxmlformats.org/officeDocument/2006/relationships/image" Target="../media/image63.png"/></Relationships>
</file>

<file path=ppt/slides/_rels/slide8.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18" Type="http://schemas.openxmlformats.org/officeDocument/2006/relationships/image" Target="../media/image77.png"/><Relationship Id="rId3" Type="http://schemas.openxmlformats.org/officeDocument/2006/relationships/image" Target="../media/image2.png"/><Relationship Id="rId7" Type="http://schemas.openxmlformats.org/officeDocument/2006/relationships/image" Target="../media/image66.png"/><Relationship Id="rId12" Type="http://schemas.openxmlformats.org/officeDocument/2006/relationships/image" Target="../media/image71.png"/><Relationship Id="rId17" Type="http://schemas.openxmlformats.org/officeDocument/2006/relationships/image" Target="../media/image76.png"/><Relationship Id="rId2" Type="http://schemas.openxmlformats.org/officeDocument/2006/relationships/notesSlide" Target="../notesSlides/notesSlide8.xml"/><Relationship Id="rId16" Type="http://schemas.openxmlformats.org/officeDocument/2006/relationships/image" Target="../media/image75.png"/><Relationship Id="rId1" Type="http://schemas.openxmlformats.org/officeDocument/2006/relationships/slideLayout" Target="../slideLayouts/slideLayout1.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11.png"/><Relationship Id="rId15" Type="http://schemas.openxmlformats.org/officeDocument/2006/relationships/image" Target="../media/image74.png"/><Relationship Id="rId10" Type="http://schemas.openxmlformats.org/officeDocument/2006/relationships/image" Target="../media/image69.png"/><Relationship Id="rId19" Type="http://schemas.openxmlformats.org/officeDocument/2006/relationships/image" Target="../media/image1.png"/><Relationship Id="rId4" Type="http://schemas.openxmlformats.org/officeDocument/2006/relationships/image" Target="../media/image10.png"/><Relationship Id="rId9" Type="http://schemas.openxmlformats.org/officeDocument/2006/relationships/image" Target="../media/image68.png"/><Relationship Id="rId14" Type="http://schemas.openxmlformats.org/officeDocument/2006/relationships/image" Target="../media/image73.png"/></Relationships>
</file>

<file path=ppt/slides/_rels/slide9.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89.png"/><Relationship Id="rId3" Type="http://schemas.openxmlformats.org/officeDocument/2006/relationships/image" Target="../media/image2.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8.png"/><Relationship Id="rId2" Type="http://schemas.openxmlformats.org/officeDocument/2006/relationships/notesSlide" Target="../notesSlides/notesSlide9.xml"/><Relationship Id="rId16" Type="http://schemas.openxmlformats.org/officeDocument/2006/relationships/image" Target="../media/image87.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82.png"/><Relationship Id="rId5" Type="http://schemas.openxmlformats.org/officeDocument/2006/relationships/image" Target="../media/image4.png"/><Relationship Id="rId15" Type="http://schemas.openxmlformats.org/officeDocument/2006/relationships/image" Target="../media/image86.png"/><Relationship Id="rId10" Type="http://schemas.openxmlformats.org/officeDocument/2006/relationships/image" Target="../media/image81.png"/><Relationship Id="rId19" Type="http://schemas.openxmlformats.org/officeDocument/2006/relationships/image" Target="../media/image1.png"/><Relationship Id="rId4" Type="http://schemas.openxmlformats.org/officeDocument/2006/relationships/image" Target="../media/image18.png"/><Relationship Id="rId9" Type="http://schemas.openxmlformats.org/officeDocument/2006/relationships/image" Target="../media/image80.png"/><Relationship Id="rId14" Type="http://schemas.openxmlformats.org/officeDocument/2006/relationships/image" Target="../media/image85.png"/></Relationships>
</file>

<file path=ppt/slides/_rels/slide10.xml.rels><?xml version="1.0" encoding="UTF-8" standalone="yes"?>
<Relationships xmlns="http://schemas.openxmlformats.org/package/2006/relationships"><Relationship Id="rId8" Type="http://schemas.openxmlformats.org/officeDocument/2006/relationships/image" Target="../media/image91.png"/><Relationship Id="rId13" Type="http://schemas.openxmlformats.org/officeDocument/2006/relationships/image" Target="../media/image1.png"/><Relationship Id="rId3" Type="http://schemas.openxmlformats.org/officeDocument/2006/relationships/image" Target="../media/image2.png"/><Relationship Id="rId7" Type="http://schemas.openxmlformats.org/officeDocument/2006/relationships/image" Target="../media/image90.png"/><Relationship Id="rId12" Type="http://schemas.openxmlformats.org/officeDocument/2006/relationships/image" Target="../media/image9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94.png"/><Relationship Id="rId5" Type="http://schemas.openxmlformats.org/officeDocument/2006/relationships/image" Target="../media/image4.png"/><Relationship Id="rId10" Type="http://schemas.openxmlformats.org/officeDocument/2006/relationships/image" Target="../media/image93.png"/><Relationship Id="rId4" Type="http://schemas.openxmlformats.org/officeDocument/2006/relationships/image" Target="../media/image10.png"/><Relationship Id="rId9" Type="http://schemas.openxmlformats.org/officeDocument/2006/relationships/image" Target="../media/image92.png"/></Relationships>
</file>

<file path=ppt/slides/_rels/slide11.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99.png"/><Relationship Id="rId18" Type="http://schemas.openxmlformats.org/officeDocument/2006/relationships/image" Target="../media/image1.png"/><Relationship Id="rId3" Type="http://schemas.openxmlformats.org/officeDocument/2006/relationships/image" Target="../media/image2.png"/><Relationship Id="rId7" Type="http://schemas.openxmlformats.org/officeDocument/2006/relationships/image" Target="../media/image96.png"/><Relationship Id="rId12" Type="http://schemas.openxmlformats.org/officeDocument/2006/relationships/image" Target="../media/image83.png"/><Relationship Id="rId17" Type="http://schemas.openxmlformats.org/officeDocument/2006/relationships/image" Target="../media/image103.png"/><Relationship Id="rId2" Type="http://schemas.openxmlformats.org/officeDocument/2006/relationships/notesSlide" Target="../notesSlides/notesSlide11.xml"/><Relationship Id="rId16" Type="http://schemas.openxmlformats.org/officeDocument/2006/relationships/image" Target="../media/image102.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98.png"/><Relationship Id="rId5" Type="http://schemas.openxmlformats.org/officeDocument/2006/relationships/image" Target="../media/image4.png"/><Relationship Id="rId15" Type="http://schemas.openxmlformats.org/officeDocument/2006/relationships/image" Target="../media/image101.png"/><Relationship Id="rId10" Type="http://schemas.openxmlformats.org/officeDocument/2006/relationships/image" Target="../media/image81.png"/><Relationship Id="rId4" Type="http://schemas.openxmlformats.org/officeDocument/2006/relationships/image" Target="../media/image18.png"/><Relationship Id="rId9" Type="http://schemas.openxmlformats.org/officeDocument/2006/relationships/image" Target="../media/image97.png"/><Relationship Id="rId14" Type="http://schemas.openxmlformats.org/officeDocument/2006/relationships/image" Target="../media/image100.png"/></Relationships>
</file>

<file path=ppt/slides/_rels/slide12.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79.png"/><Relationship Id="rId3" Type="http://schemas.openxmlformats.org/officeDocument/2006/relationships/image" Target="../media/image2.png"/><Relationship Id="rId7" Type="http://schemas.openxmlformats.org/officeDocument/2006/relationships/image" Target="../media/image104.png"/><Relationship Id="rId12" Type="http://schemas.openxmlformats.org/officeDocument/2006/relationships/image" Target="../media/image10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08.png"/><Relationship Id="rId5" Type="http://schemas.openxmlformats.org/officeDocument/2006/relationships/image" Target="../media/image4.png"/><Relationship Id="rId10" Type="http://schemas.openxmlformats.org/officeDocument/2006/relationships/image" Target="../media/image107.png"/><Relationship Id="rId4" Type="http://schemas.openxmlformats.org/officeDocument/2006/relationships/image" Target="../media/image10.png"/><Relationship Id="rId9" Type="http://schemas.openxmlformats.org/officeDocument/2006/relationships/image" Target="../media/image106.png"/><Relationship Id="rId14"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image" Target="../media/image115.png"/><Relationship Id="rId18" Type="http://schemas.openxmlformats.org/officeDocument/2006/relationships/image" Target="../media/image1.png"/><Relationship Id="rId3" Type="http://schemas.openxmlformats.org/officeDocument/2006/relationships/image" Target="../media/image2.png"/><Relationship Id="rId7" Type="http://schemas.openxmlformats.org/officeDocument/2006/relationships/image" Target="../media/image110.png"/><Relationship Id="rId12" Type="http://schemas.openxmlformats.org/officeDocument/2006/relationships/image" Target="../media/image79.png"/><Relationship Id="rId17" Type="http://schemas.openxmlformats.org/officeDocument/2006/relationships/image" Target="../media/image119.png"/><Relationship Id="rId2" Type="http://schemas.openxmlformats.org/officeDocument/2006/relationships/notesSlide" Target="../notesSlides/notesSlide13.xml"/><Relationship Id="rId16" Type="http://schemas.openxmlformats.org/officeDocument/2006/relationships/image" Target="../media/image118.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14.png"/><Relationship Id="rId5" Type="http://schemas.openxmlformats.org/officeDocument/2006/relationships/image" Target="../media/image4.png"/><Relationship Id="rId15" Type="http://schemas.openxmlformats.org/officeDocument/2006/relationships/image" Target="../media/image117.png"/><Relationship Id="rId10" Type="http://schemas.openxmlformats.org/officeDocument/2006/relationships/image" Target="../media/image113.png"/><Relationship Id="rId4" Type="http://schemas.openxmlformats.org/officeDocument/2006/relationships/image" Target="../media/image10.png"/><Relationship Id="rId9" Type="http://schemas.openxmlformats.org/officeDocument/2006/relationships/image" Target="../media/image112.png"/><Relationship Id="rId14" Type="http://schemas.openxmlformats.org/officeDocument/2006/relationships/image" Target="../media/image116.png"/></Relationships>
</file>

<file path=ppt/slides/_rels/slide14.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23.png"/><Relationship Id="rId18" Type="http://schemas.openxmlformats.org/officeDocument/2006/relationships/image" Target="../media/image1.png"/><Relationship Id="rId3" Type="http://schemas.openxmlformats.org/officeDocument/2006/relationships/image" Target="../media/image2.png"/><Relationship Id="rId7" Type="http://schemas.openxmlformats.org/officeDocument/2006/relationships/image" Target="../media/image120.png"/><Relationship Id="rId12" Type="http://schemas.openxmlformats.org/officeDocument/2006/relationships/image" Target="../media/image124.png"/><Relationship Id="rId17" Type="http://schemas.openxmlformats.org/officeDocument/2006/relationships/image" Target="../media/image126.png"/><Relationship Id="rId2" Type="http://schemas.openxmlformats.org/officeDocument/2006/relationships/notesSlide" Target="../notesSlides/notesSlide14.xml"/><Relationship Id="rId16"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23.png"/><Relationship Id="rId5" Type="http://schemas.openxmlformats.org/officeDocument/2006/relationships/image" Target="../media/image4.png"/><Relationship Id="rId15" Type="http://schemas.openxmlformats.org/officeDocument/2006/relationships/image" Target="../media/image125.png"/><Relationship Id="rId10" Type="http://schemas.openxmlformats.org/officeDocument/2006/relationships/image" Target="../media/image81.png"/><Relationship Id="rId4" Type="http://schemas.openxmlformats.org/officeDocument/2006/relationships/image" Target="../media/image10.png"/><Relationship Id="rId9" Type="http://schemas.openxmlformats.org/officeDocument/2006/relationships/image" Target="../media/image122.png"/><Relationship Id="rId14" Type="http://schemas.openxmlformats.org/officeDocument/2006/relationships/image" Target="../media/image16.png"/></Relationships>
</file>

<file path=ppt/slides/_rels/slide15.xml.rels><?xml version="1.0" encoding="UTF-8" standalone="yes"?>
<Relationships xmlns="http://schemas.openxmlformats.org/package/2006/relationships"><Relationship Id="rId8" Type="http://schemas.openxmlformats.org/officeDocument/2006/relationships/image" Target="../media/image129.png"/><Relationship Id="rId13" Type="http://schemas.openxmlformats.org/officeDocument/2006/relationships/image" Target="../media/image43.png"/><Relationship Id="rId18" Type="http://schemas.openxmlformats.org/officeDocument/2006/relationships/image" Target="../media/image138.png"/><Relationship Id="rId3" Type="http://schemas.openxmlformats.org/officeDocument/2006/relationships/image" Target="../media/image2.png"/><Relationship Id="rId7" Type="http://schemas.openxmlformats.org/officeDocument/2006/relationships/image" Target="../media/image128.png"/><Relationship Id="rId12" Type="http://schemas.openxmlformats.org/officeDocument/2006/relationships/image" Target="../media/image133.png"/><Relationship Id="rId17" Type="http://schemas.openxmlformats.org/officeDocument/2006/relationships/image" Target="../media/image137.png"/><Relationship Id="rId2" Type="http://schemas.openxmlformats.org/officeDocument/2006/relationships/notesSlide" Target="../notesSlides/notesSlide15.xml"/><Relationship Id="rId16" Type="http://schemas.openxmlformats.org/officeDocument/2006/relationships/image" Target="../media/image136.png"/><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27.png"/><Relationship Id="rId11" Type="http://schemas.openxmlformats.org/officeDocument/2006/relationships/image" Target="../media/image132.png"/><Relationship Id="rId5" Type="http://schemas.openxmlformats.org/officeDocument/2006/relationships/image" Target="../media/image11.png"/><Relationship Id="rId15" Type="http://schemas.openxmlformats.org/officeDocument/2006/relationships/image" Target="../media/image135.png"/><Relationship Id="rId10" Type="http://schemas.openxmlformats.org/officeDocument/2006/relationships/image" Target="../media/image131.png"/><Relationship Id="rId19" Type="http://schemas.openxmlformats.org/officeDocument/2006/relationships/image" Target="../media/image139.png"/><Relationship Id="rId4" Type="http://schemas.openxmlformats.org/officeDocument/2006/relationships/image" Target="../media/image10.png"/><Relationship Id="rId9" Type="http://schemas.openxmlformats.org/officeDocument/2006/relationships/image" Target="../media/image130.png"/><Relationship Id="rId14" Type="http://schemas.openxmlformats.org/officeDocument/2006/relationships/image" Target="../media/image134.png"/></Relationships>
</file>

<file path=ppt/slides/_rels/slide16.xml.rels><?xml version="1.0" encoding="UTF-8" standalone="yes"?>
<Relationships xmlns="http://schemas.openxmlformats.org/package/2006/relationships"><Relationship Id="rId8" Type="http://schemas.openxmlformats.org/officeDocument/2006/relationships/image" Target="../media/image141.png"/><Relationship Id="rId13" Type="http://schemas.openxmlformats.org/officeDocument/2006/relationships/image" Target="../media/image146.png"/><Relationship Id="rId3" Type="http://schemas.openxmlformats.org/officeDocument/2006/relationships/image" Target="../media/image2.png"/><Relationship Id="rId7" Type="http://schemas.openxmlformats.org/officeDocument/2006/relationships/image" Target="../media/image140.png"/><Relationship Id="rId12" Type="http://schemas.openxmlformats.org/officeDocument/2006/relationships/image" Target="../media/image145.png"/><Relationship Id="rId17" Type="http://schemas.openxmlformats.org/officeDocument/2006/relationships/image" Target="../media/image1.png"/><Relationship Id="rId2" Type="http://schemas.openxmlformats.org/officeDocument/2006/relationships/notesSlide" Target="../notesSlides/notesSlide16.xml"/><Relationship Id="rId16" Type="http://schemas.openxmlformats.org/officeDocument/2006/relationships/image" Target="../media/image149.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44.png"/><Relationship Id="rId5" Type="http://schemas.openxmlformats.org/officeDocument/2006/relationships/image" Target="../media/image4.png"/><Relationship Id="rId15" Type="http://schemas.openxmlformats.org/officeDocument/2006/relationships/image" Target="../media/image148.png"/><Relationship Id="rId10" Type="http://schemas.openxmlformats.org/officeDocument/2006/relationships/image" Target="../media/image143.png"/><Relationship Id="rId4" Type="http://schemas.openxmlformats.org/officeDocument/2006/relationships/image" Target="../media/image10.png"/><Relationship Id="rId9" Type="http://schemas.openxmlformats.org/officeDocument/2006/relationships/image" Target="../media/image142.png"/><Relationship Id="rId14" Type="http://schemas.openxmlformats.org/officeDocument/2006/relationships/image" Target="../media/image14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2381250" cy="2381250"/>
          </a:xfrm>
          <a:prstGeom prst="rect">
            <a:avLst/>
          </a:prstGeom>
        </p:spPr>
      </p:pic>
      <p:pic>
        <p:nvPicPr>
          <p:cNvPr id="4" name="Image 2" descr="preencoded.png"/>
          <p:cNvPicPr>
            <a:picLocks noChangeAspect="1"/>
          </p:cNvPicPr>
          <p:nvPr/>
        </p:nvPicPr>
        <p:blipFill>
          <a:blip r:embed="rId5"/>
          <a:stretch>
            <a:fillRect/>
          </a:stretch>
        </p:blipFill>
        <p:spPr>
          <a:xfrm>
            <a:off x="9810750" y="4000500"/>
            <a:ext cx="1905000" cy="1905000"/>
          </a:xfrm>
          <a:prstGeom prst="rect">
            <a:avLst/>
          </a:prstGeom>
        </p:spPr>
      </p:pic>
      <p:pic>
        <p:nvPicPr>
          <p:cNvPr id="5" name="Image 3" descr="preencoded.png"/>
          <p:cNvPicPr>
            <a:picLocks noChangeAspect="1"/>
          </p:cNvPicPr>
          <p:nvPr/>
        </p:nvPicPr>
        <p:blipFill>
          <a:blip r:embed="rId6"/>
          <a:stretch>
            <a:fillRect/>
          </a:stretch>
        </p:blipFill>
        <p:spPr>
          <a:xfrm>
            <a:off x="2857500" y="4953000"/>
            <a:ext cx="2381250" cy="2381250"/>
          </a:xfrm>
          <a:prstGeom prst="rect">
            <a:avLst/>
          </a:prstGeom>
        </p:spPr>
      </p:pic>
      <p:pic>
        <p:nvPicPr>
          <p:cNvPr id="6" name="Image 4" descr="preencoded.png"/>
          <p:cNvPicPr>
            <a:picLocks noChangeAspect="1"/>
          </p:cNvPicPr>
          <p:nvPr/>
        </p:nvPicPr>
        <p:blipFill>
          <a:blip r:embed="rId7"/>
          <a:stretch>
            <a:fillRect/>
          </a:stretch>
        </p:blipFill>
        <p:spPr>
          <a:xfrm>
            <a:off x="0" y="0"/>
            <a:ext cx="12192000" cy="76200"/>
          </a:xfrm>
          <a:prstGeom prst="rect">
            <a:avLst/>
          </a:prstGeom>
        </p:spPr>
      </p:pic>
      <p:pic>
        <p:nvPicPr>
          <p:cNvPr id="7" name="Image 5" descr="preencoded.png"/>
          <p:cNvPicPr>
            <a:picLocks noChangeAspect="1"/>
          </p:cNvPicPr>
          <p:nvPr/>
        </p:nvPicPr>
        <p:blipFill>
          <a:blip r:embed="rId7"/>
          <a:stretch>
            <a:fillRect/>
          </a:stretch>
        </p:blipFill>
        <p:spPr>
          <a:xfrm>
            <a:off x="0" y="6781800"/>
            <a:ext cx="12192000" cy="76200"/>
          </a:xfrm>
          <a:prstGeom prst="rect">
            <a:avLst/>
          </a:prstGeom>
        </p:spPr>
      </p:pic>
      <p:pic>
        <p:nvPicPr>
          <p:cNvPr id="8" name="Image 6" descr="preencoded.png"/>
          <p:cNvPicPr>
            <a:picLocks noChangeAspect="1"/>
          </p:cNvPicPr>
          <p:nvPr/>
        </p:nvPicPr>
        <p:blipFill>
          <a:blip r:embed="rId8"/>
          <a:stretch>
            <a:fillRect/>
          </a:stretch>
        </p:blipFill>
        <p:spPr>
          <a:xfrm>
            <a:off x="5524500" y="2696210"/>
            <a:ext cx="1143000" cy="1143000"/>
          </a:xfrm>
          <a:prstGeom prst="rect">
            <a:avLst/>
          </a:prstGeom>
        </p:spPr>
      </p:pic>
      <p:pic>
        <p:nvPicPr>
          <p:cNvPr id="9" name="Image 7" descr="preencoded.png"/>
          <p:cNvPicPr>
            <a:picLocks noChangeAspect="1"/>
          </p:cNvPicPr>
          <p:nvPr/>
        </p:nvPicPr>
        <p:blipFill>
          <a:blip r:embed="rId9"/>
          <a:stretch>
            <a:fillRect/>
          </a:stretch>
        </p:blipFill>
        <p:spPr>
          <a:xfrm>
            <a:off x="0" y="0"/>
            <a:ext cx="152400" cy="6858000"/>
          </a:xfrm>
          <a:prstGeom prst="rect">
            <a:avLst/>
          </a:prstGeom>
        </p:spPr>
      </p:pic>
      <p:pic>
        <p:nvPicPr>
          <p:cNvPr id="10" name="Image 8" descr="preencoded.png"/>
          <p:cNvPicPr>
            <a:picLocks noChangeAspect="1"/>
          </p:cNvPicPr>
          <p:nvPr/>
        </p:nvPicPr>
        <p:blipFill>
          <a:blip r:embed="rId9"/>
          <a:stretch>
            <a:fillRect/>
          </a:stretch>
        </p:blipFill>
        <p:spPr>
          <a:xfrm>
            <a:off x="12039600" y="0"/>
            <a:ext cx="152400" cy="6858000"/>
          </a:xfrm>
          <a:prstGeom prst="rect">
            <a:avLst/>
          </a:prstGeom>
        </p:spPr>
      </p:pic>
      <p:sp>
        <p:nvSpPr>
          <p:cNvPr id="11" name="Text 0"/>
          <p:cNvSpPr/>
          <p:nvPr/>
        </p:nvSpPr>
        <p:spPr>
          <a:xfrm>
            <a:off x="554950" y="961390"/>
            <a:ext cx="11082099" cy="457200"/>
          </a:xfrm>
          <a:prstGeom prst="rect">
            <a:avLst/>
          </a:prstGeom>
          <a:noFill/>
          <a:ln/>
        </p:spPr>
        <p:txBody>
          <a:bodyPr vert="horz" wrap="square" lIns="0" tIns="0" rIns="0" bIns="0" rtlCol="0" anchor="t"/>
          <a:lstStyle/>
          <a:p>
            <a:pPr marL="0" indent="0" algn="ctr">
              <a:lnSpc>
                <a:spcPts val="3600"/>
              </a:lnSpc>
              <a:buNone/>
            </a:pPr>
            <a:r>
              <a:rPr lang="en-US" sz="4800" b="1" dirty="0">
                <a:solidFill>
                  <a:srgbClr val="1F2937"/>
                </a:solidFill>
                <a:latin typeface="ui-sans-serif" pitchFamily="34" charset="0"/>
                <a:ea typeface="ui-sans-serif" pitchFamily="34" charset="-122"/>
                <a:cs typeface="ui-sans-serif" pitchFamily="34" charset="-120"/>
              </a:rPr>
              <a:t>Export Marketing Plan Presentation</a:t>
            </a:r>
            <a:endParaRPr lang="en-US" sz="4800" dirty="0"/>
          </a:p>
        </p:txBody>
      </p:sp>
      <p:sp>
        <p:nvSpPr>
          <p:cNvPr id="12" name="Text 1"/>
          <p:cNvSpPr/>
          <p:nvPr/>
        </p:nvSpPr>
        <p:spPr>
          <a:xfrm>
            <a:off x="554949" y="1950085"/>
            <a:ext cx="11082099" cy="304800"/>
          </a:xfrm>
          <a:prstGeom prst="rect">
            <a:avLst/>
          </a:prstGeom>
          <a:noFill/>
          <a:ln/>
        </p:spPr>
        <p:txBody>
          <a:bodyPr vert="horz" wrap="square" lIns="0" tIns="0" rIns="0" bIns="0" rtlCol="0" anchor="t"/>
          <a:lstStyle/>
          <a:p>
            <a:pPr marL="0" indent="0" algn="ctr">
              <a:lnSpc>
                <a:spcPts val="2400"/>
              </a:lnSpc>
              <a:buNone/>
            </a:pPr>
            <a:r>
              <a:rPr lang="en-US" sz="3200" b="1" dirty="0">
                <a:solidFill>
                  <a:srgbClr val="0F766E"/>
                </a:solidFill>
                <a:latin typeface="ui-sans-serif" pitchFamily="34" charset="0"/>
                <a:ea typeface="ui-sans-serif" pitchFamily="34" charset="-122"/>
                <a:cs typeface="ui-sans-serif" pitchFamily="34" charset="-120"/>
              </a:rPr>
              <a:t>Global Exporter Passport Programme (GEPP)</a:t>
            </a:r>
            <a:endParaRPr lang="en-US" sz="3200" b="1" dirty="0"/>
          </a:p>
        </p:txBody>
      </p:sp>
      <p:sp>
        <p:nvSpPr>
          <p:cNvPr id="13" name="Text 2"/>
          <p:cNvSpPr/>
          <p:nvPr/>
        </p:nvSpPr>
        <p:spPr>
          <a:xfrm>
            <a:off x="1478459" y="4342130"/>
            <a:ext cx="9235083" cy="266700"/>
          </a:xfrm>
          <a:prstGeom prst="rect">
            <a:avLst/>
          </a:prstGeom>
          <a:noFill/>
          <a:ln/>
        </p:spPr>
        <p:txBody>
          <a:bodyPr vert="horz" wrap="square" lIns="0" tIns="0" rIns="0" bIns="0" rtlCol="0" anchor="t"/>
          <a:lstStyle/>
          <a:p>
            <a:pPr marL="0" indent="0" algn="ctr">
              <a:lnSpc>
                <a:spcPts val="2100"/>
              </a:lnSpc>
              <a:buNone/>
            </a:pPr>
            <a:r>
              <a:rPr lang="en-US" sz="2800" dirty="0">
                <a:solidFill>
                  <a:srgbClr val="374151"/>
                </a:solidFill>
                <a:latin typeface="ui-sans-serif" pitchFamily="34" charset="0"/>
                <a:ea typeface="ui-sans-serif" pitchFamily="34" charset="-122"/>
                <a:cs typeface="ui-sans-serif" pitchFamily="34" charset="-120"/>
              </a:rPr>
              <a:t>Presented by:</a:t>
            </a:r>
            <a:endParaRPr lang="en-US" sz="2800" dirty="0"/>
          </a:p>
        </p:txBody>
      </p:sp>
      <p:sp>
        <p:nvSpPr>
          <p:cNvPr id="14" name="Text 3"/>
          <p:cNvSpPr/>
          <p:nvPr/>
        </p:nvSpPr>
        <p:spPr>
          <a:xfrm>
            <a:off x="1478459" y="4685030"/>
            <a:ext cx="9235083" cy="304800"/>
          </a:xfrm>
          <a:prstGeom prst="rect">
            <a:avLst/>
          </a:prstGeom>
          <a:noFill/>
          <a:ln/>
        </p:spPr>
        <p:txBody>
          <a:bodyPr vert="horz" wrap="square" lIns="0" tIns="0" rIns="0" bIns="0" rtlCol="0" anchor="t"/>
          <a:lstStyle/>
          <a:p>
            <a:pPr marL="0" indent="0" algn="ctr">
              <a:lnSpc>
                <a:spcPts val="2400"/>
              </a:lnSpc>
              <a:buNone/>
            </a:pPr>
            <a:r>
              <a:rPr lang="en-US" sz="3600" b="1" dirty="0">
                <a:solidFill>
                  <a:srgbClr val="1F2937"/>
                </a:solidFill>
                <a:latin typeface="ui-sans-serif" pitchFamily="34" charset="0"/>
                <a:ea typeface="ui-sans-serif" pitchFamily="34" charset="-122"/>
                <a:cs typeface="ui-sans-serif" pitchFamily="34" charset="-120"/>
              </a:rPr>
              <a:t>[Presenter's Name]</a:t>
            </a:r>
            <a:endParaRPr lang="en-US" sz="3600" dirty="0"/>
          </a:p>
        </p:txBody>
      </p:sp>
      <p:sp>
        <p:nvSpPr>
          <p:cNvPr id="15" name="Text 4"/>
          <p:cNvSpPr/>
          <p:nvPr/>
        </p:nvSpPr>
        <p:spPr>
          <a:xfrm>
            <a:off x="1478459" y="5629910"/>
            <a:ext cx="9235083" cy="266700"/>
          </a:xfrm>
          <a:prstGeom prst="rect">
            <a:avLst/>
          </a:prstGeom>
          <a:noFill/>
          <a:ln/>
        </p:spPr>
        <p:txBody>
          <a:bodyPr vert="horz" wrap="square" lIns="0" tIns="0" rIns="0" bIns="0" rtlCol="0" anchor="t"/>
          <a:lstStyle/>
          <a:p>
            <a:pPr marL="0" indent="0" algn="ctr">
              <a:lnSpc>
                <a:spcPts val="2100"/>
              </a:lnSpc>
              <a:buNone/>
            </a:pPr>
            <a:r>
              <a:rPr lang="en-US" sz="2800" dirty="0">
                <a:solidFill>
                  <a:srgbClr val="4B5563"/>
                </a:solidFill>
                <a:latin typeface="ui-sans-serif" pitchFamily="34" charset="0"/>
                <a:ea typeface="ui-sans-serif" pitchFamily="34" charset="-122"/>
                <a:cs typeface="ui-sans-serif" pitchFamily="34" charset="-120"/>
              </a:rPr>
              <a:t>Business Name</a:t>
            </a:r>
            <a:endParaRPr lang="en-US" sz="2800" dirty="0"/>
          </a:p>
        </p:txBody>
      </p:sp>
      <p:sp>
        <p:nvSpPr>
          <p:cNvPr id="16" name="Text 5"/>
          <p:cNvSpPr/>
          <p:nvPr/>
        </p:nvSpPr>
        <p:spPr>
          <a:xfrm>
            <a:off x="0" y="6286500"/>
            <a:ext cx="12192000" cy="266700"/>
          </a:xfrm>
          <a:prstGeom prst="rect">
            <a:avLst/>
          </a:prstGeom>
          <a:noFill/>
          <a:ln/>
        </p:spPr>
        <p:txBody>
          <a:bodyPr vert="horz" wrap="square" lIns="0" tIns="0" rIns="0" bIns="0" rtlCol="0" anchor="t"/>
          <a:lstStyle/>
          <a:p>
            <a:pPr marL="0" indent="0" algn="ctr">
              <a:lnSpc>
                <a:spcPts val="2100"/>
              </a:lnSpc>
              <a:buNone/>
            </a:pPr>
            <a:r>
              <a:rPr lang="en-US" sz="1350" dirty="0">
                <a:solidFill>
                  <a:srgbClr val="4B5563"/>
                </a:solidFill>
                <a:latin typeface="ui-sans-serif" pitchFamily="34" charset="0"/>
                <a:ea typeface="ui-sans-serif" pitchFamily="34" charset="-122"/>
                <a:cs typeface="ui-sans-serif" pitchFamily="34" charset="-120"/>
              </a:rPr>
              <a:t>15-Minute Presentation | 15-Minute Q&amp;A Session</a:t>
            </a:r>
            <a:endParaRPr lang="en-US" sz="1350" dirty="0"/>
          </a:p>
        </p:txBody>
      </p:sp>
      <p:pic>
        <p:nvPicPr>
          <p:cNvPr id="17" name="Picture 16" descr="A blue letters on a black background&#10;&#10;AI-generated content may be incorrect.">
            <a:extLst>
              <a:ext uri="{FF2B5EF4-FFF2-40B4-BE49-F238E27FC236}">
                <a16:creationId xmlns:a16="http://schemas.microsoft.com/office/drawing/2014/main" id="{545F587A-D24A-6050-C934-0993CB09E38A}"/>
              </a:ext>
            </a:extLst>
          </p:cNvPr>
          <p:cNvPicPr>
            <a:picLocks noChangeAspect="1"/>
          </p:cNvPicPr>
          <p:nvPr/>
        </p:nvPicPr>
        <p:blipFill>
          <a:blip r:embed="rId10"/>
          <a:stretch>
            <a:fillRect/>
          </a:stretch>
        </p:blipFill>
        <p:spPr>
          <a:xfrm>
            <a:off x="10365212" y="233170"/>
            <a:ext cx="1512845" cy="3745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048500"/>
          </a:xfrm>
          <a:prstGeom prst="rect">
            <a:avLst/>
          </a:prstGeom>
        </p:spPr>
      </p:pic>
      <p:pic>
        <p:nvPicPr>
          <p:cNvPr id="3" name="Image 1" descr="preencoded.png"/>
          <p:cNvPicPr>
            <a:picLocks noChangeAspect="1"/>
          </p:cNvPicPr>
          <p:nvPr/>
        </p:nvPicPr>
        <p:blipFill>
          <a:blip r:embed="rId4"/>
          <a:stretch>
            <a:fillRect/>
          </a:stretch>
        </p:blipFill>
        <p:spPr>
          <a:xfrm>
            <a:off x="10287000" y="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952500" y="5619750"/>
            <a:ext cx="1905000" cy="1905000"/>
          </a:xfrm>
          <a:prstGeom prst="rect">
            <a:avLst/>
          </a:prstGeom>
        </p:spPr>
      </p:pic>
      <p:pic>
        <p:nvPicPr>
          <p:cNvPr id="5" name="Image 3" descr="preencoded.png"/>
          <p:cNvPicPr>
            <a:picLocks noChangeAspect="1"/>
          </p:cNvPicPr>
          <p:nvPr/>
        </p:nvPicPr>
        <p:blipFill>
          <a:blip r:embed="rId6"/>
          <a:stretch>
            <a:fillRect/>
          </a:stretch>
        </p:blipFill>
        <p:spPr>
          <a:xfrm>
            <a:off x="0" y="0"/>
            <a:ext cx="12192000" cy="685800"/>
          </a:xfrm>
          <a:prstGeom prst="rect">
            <a:avLst/>
          </a:prstGeom>
        </p:spPr>
      </p:pic>
      <p:pic>
        <p:nvPicPr>
          <p:cNvPr id="6" name="Image 4" descr="preencoded.png"/>
          <p:cNvPicPr>
            <a:picLocks noChangeAspect="1"/>
          </p:cNvPicPr>
          <p:nvPr/>
        </p:nvPicPr>
        <p:blipFill>
          <a:blip r:embed="rId7"/>
          <a:stretch>
            <a:fillRect/>
          </a:stretch>
        </p:blipFill>
        <p:spPr>
          <a:xfrm>
            <a:off x="381000" y="1066800"/>
            <a:ext cx="5562600" cy="2705100"/>
          </a:xfrm>
          <a:prstGeom prst="rect">
            <a:avLst/>
          </a:prstGeom>
        </p:spPr>
      </p:pic>
      <p:pic>
        <p:nvPicPr>
          <p:cNvPr id="8" name="Image 6" descr="preencoded.png"/>
          <p:cNvPicPr>
            <a:picLocks noChangeAspect="1"/>
          </p:cNvPicPr>
          <p:nvPr/>
        </p:nvPicPr>
        <p:blipFill>
          <a:blip r:embed="rId7"/>
          <a:stretch>
            <a:fillRect/>
          </a:stretch>
        </p:blipFill>
        <p:spPr>
          <a:xfrm>
            <a:off x="6248400" y="1066800"/>
            <a:ext cx="5562600" cy="2705100"/>
          </a:xfrm>
          <a:prstGeom prst="rect">
            <a:avLst/>
          </a:prstGeom>
        </p:spPr>
      </p:pic>
      <p:pic>
        <p:nvPicPr>
          <p:cNvPr id="10" name="Image 8" descr="preencoded.png"/>
          <p:cNvPicPr>
            <a:picLocks noChangeAspect="1"/>
          </p:cNvPicPr>
          <p:nvPr/>
        </p:nvPicPr>
        <p:blipFill>
          <a:blip r:embed="rId8"/>
          <a:stretch>
            <a:fillRect/>
          </a:stretch>
        </p:blipFill>
        <p:spPr>
          <a:xfrm>
            <a:off x="381000" y="4025900"/>
            <a:ext cx="5562600" cy="2590800"/>
          </a:xfrm>
          <a:prstGeom prst="rect">
            <a:avLst/>
          </a:prstGeom>
        </p:spPr>
      </p:pic>
      <p:pic>
        <p:nvPicPr>
          <p:cNvPr id="12" name="Image 10" descr="preencoded.png"/>
          <p:cNvPicPr>
            <a:picLocks noChangeAspect="1"/>
          </p:cNvPicPr>
          <p:nvPr/>
        </p:nvPicPr>
        <p:blipFill>
          <a:blip r:embed="rId8"/>
          <a:stretch>
            <a:fillRect/>
          </a:stretch>
        </p:blipFill>
        <p:spPr>
          <a:xfrm>
            <a:off x="6248400" y="4025900"/>
            <a:ext cx="5562600" cy="2590800"/>
          </a:xfrm>
          <a:prstGeom prst="rect">
            <a:avLst/>
          </a:prstGeom>
        </p:spPr>
      </p:pic>
      <p:sp>
        <p:nvSpPr>
          <p:cNvPr id="14" name="Text 0"/>
          <p:cNvSpPr/>
          <p:nvPr/>
        </p:nvSpPr>
        <p:spPr>
          <a:xfrm>
            <a:off x="381000" y="57150"/>
            <a:ext cx="11430000" cy="476250"/>
          </a:xfrm>
          <a:prstGeom prst="rect">
            <a:avLst/>
          </a:prstGeom>
          <a:noFill/>
          <a:ln/>
        </p:spPr>
        <p:txBody>
          <a:bodyPr vert="horz" wrap="square" lIns="0" tIns="0" rIns="0" bIns="0" rtlCol="0" anchor="t"/>
          <a:lstStyle/>
          <a:p>
            <a:pPr marL="0" indent="0">
              <a:buNone/>
            </a:pPr>
            <a:r>
              <a:rPr lang="en-US" sz="3600" b="1" dirty="0">
                <a:solidFill>
                  <a:srgbClr val="FFFFFF"/>
                </a:solidFill>
                <a:latin typeface="ui-sans-serif" pitchFamily="34" charset="0"/>
                <a:ea typeface="ui-sans-serif" pitchFamily="34" charset="-122"/>
                <a:cs typeface="ui-sans-serif" pitchFamily="34" charset="-120"/>
              </a:rPr>
              <a:t>The Big Picture</a:t>
            </a:r>
            <a:endParaRPr lang="en-US" sz="3600" dirty="0"/>
          </a:p>
        </p:txBody>
      </p:sp>
      <p:grpSp>
        <p:nvGrpSpPr>
          <p:cNvPr id="30" name="Group 29">
            <a:extLst>
              <a:ext uri="{FF2B5EF4-FFF2-40B4-BE49-F238E27FC236}">
                <a16:creationId xmlns:a16="http://schemas.microsoft.com/office/drawing/2014/main" id="{8913BE46-A9D7-4E16-5D95-CC27FE08A25C}"/>
              </a:ext>
            </a:extLst>
          </p:cNvPr>
          <p:cNvGrpSpPr/>
          <p:nvPr/>
        </p:nvGrpSpPr>
        <p:grpSpPr>
          <a:xfrm>
            <a:off x="609600" y="1295400"/>
            <a:ext cx="3343989" cy="342900"/>
            <a:chOff x="609600" y="1295400"/>
            <a:chExt cx="3343989" cy="342900"/>
          </a:xfrm>
        </p:grpSpPr>
        <p:pic>
          <p:nvPicPr>
            <p:cNvPr id="7" name="Image 5" descr="preencoded.png"/>
            <p:cNvPicPr>
              <a:picLocks noChangeAspect="1"/>
            </p:cNvPicPr>
            <p:nvPr/>
          </p:nvPicPr>
          <p:blipFill>
            <a:blip r:embed="rId9"/>
            <a:stretch>
              <a:fillRect/>
            </a:stretch>
          </p:blipFill>
          <p:spPr>
            <a:xfrm>
              <a:off x="609600" y="1295400"/>
              <a:ext cx="219075" cy="342900"/>
            </a:xfrm>
            <a:prstGeom prst="rect">
              <a:avLst/>
            </a:prstGeom>
          </p:spPr>
        </p:pic>
        <p:sp>
          <p:nvSpPr>
            <p:cNvPr id="15" name="Text 1"/>
            <p:cNvSpPr/>
            <p:nvPr/>
          </p:nvSpPr>
          <p:spPr>
            <a:xfrm>
              <a:off x="981075" y="1314450"/>
              <a:ext cx="2972514" cy="304800"/>
            </a:xfrm>
            <a:prstGeom prst="rect">
              <a:avLst/>
            </a:prstGeom>
            <a:noFill/>
            <a:ln/>
          </p:spPr>
          <p:txBody>
            <a:bodyPr vert="horz" wrap="square" lIns="0" tIns="0" rIns="0" bIns="0" rtlCol="0" anchor="t"/>
            <a:lstStyle/>
            <a:p>
              <a:pPr marL="0" indent="0">
                <a:lnSpc>
                  <a:spcPts val="2400"/>
                </a:lnSpc>
                <a:buNone/>
              </a:pPr>
              <a:r>
                <a:rPr lang="en-US" sz="2400" b="1" dirty="0">
                  <a:solidFill>
                    <a:srgbClr val="1F2937"/>
                  </a:solidFill>
                  <a:latin typeface="ui-sans-serif" pitchFamily="34" charset="0"/>
                  <a:ea typeface="ui-sans-serif" pitchFamily="34" charset="-122"/>
                  <a:cs typeface="ui-sans-serif" pitchFamily="34" charset="-120"/>
                </a:rPr>
                <a:t>Company Overview</a:t>
              </a:r>
              <a:endParaRPr lang="en-US" sz="2400" dirty="0"/>
            </a:p>
          </p:txBody>
        </p:sp>
      </p:grpSp>
      <p:sp>
        <p:nvSpPr>
          <p:cNvPr id="16" name="Text 2"/>
          <p:cNvSpPr/>
          <p:nvPr/>
        </p:nvSpPr>
        <p:spPr>
          <a:xfrm>
            <a:off x="609600" y="1790700"/>
            <a:ext cx="5105400"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[Company Name] is poised to capitalize on a significant export opportunity in [Target Market Country] with our [Product/Service for Export].</a:t>
            </a:r>
            <a:endParaRPr lang="en-US" sz="1350" dirty="0"/>
          </a:p>
        </p:txBody>
      </p:sp>
      <p:sp>
        <p:nvSpPr>
          <p:cNvPr id="17" name="Text 3"/>
          <p:cNvSpPr/>
          <p:nvPr/>
        </p:nvSpPr>
        <p:spPr>
          <a:xfrm>
            <a:off x="609600" y="2743200"/>
            <a:ext cx="5105400"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Our comprehensive plan outlines a clear path to market entry, sustainable growth, and profitability, leveraging our unique strengths to meet the identified market demand.</a:t>
            </a:r>
            <a:endParaRPr lang="en-US" sz="1350" dirty="0"/>
          </a:p>
        </p:txBody>
      </p:sp>
      <p:grpSp>
        <p:nvGrpSpPr>
          <p:cNvPr id="31" name="Group 30">
            <a:extLst>
              <a:ext uri="{FF2B5EF4-FFF2-40B4-BE49-F238E27FC236}">
                <a16:creationId xmlns:a16="http://schemas.microsoft.com/office/drawing/2014/main" id="{92A84907-0B21-5B79-D9E9-3D05E2DB3C19}"/>
              </a:ext>
            </a:extLst>
          </p:cNvPr>
          <p:cNvGrpSpPr/>
          <p:nvPr/>
        </p:nvGrpSpPr>
        <p:grpSpPr>
          <a:xfrm>
            <a:off x="6477000" y="1295400"/>
            <a:ext cx="3884295" cy="342900"/>
            <a:chOff x="6477000" y="1295400"/>
            <a:chExt cx="3884295" cy="342900"/>
          </a:xfrm>
        </p:grpSpPr>
        <p:pic>
          <p:nvPicPr>
            <p:cNvPr id="9" name="Image 7" descr="preencoded.png"/>
            <p:cNvPicPr>
              <a:picLocks noChangeAspect="1"/>
            </p:cNvPicPr>
            <p:nvPr/>
          </p:nvPicPr>
          <p:blipFill>
            <a:blip r:embed="rId10"/>
            <a:stretch>
              <a:fillRect/>
            </a:stretch>
          </p:blipFill>
          <p:spPr>
            <a:xfrm>
              <a:off x="6477000" y="1295400"/>
              <a:ext cx="285750" cy="342900"/>
            </a:xfrm>
            <a:prstGeom prst="rect">
              <a:avLst/>
            </a:prstGeom>
          </p:spPr>
        </p:pic>
        <p:sp>
          <p:nvSpPr>
            <p:cNvPr id="18" name="Text 4"/>
            <p:cNvSpPr/>
            <p:nvPr/>
          </p:nvSpPr>
          <p:spPr>
            <a:xfrm>
              <a:off x="6915150" y="1314450"/>
              <a:ext cx="3446145" cy="304800"/>
            </a:xfrm>
            <a:prstGeom prst="rect">
              <a:avLst/>
            </a:prstGeom>
            <a:noFill/>
            <a:ln/>
          </p:spPr>
          <p:txBody>
            <a:bodyPr vert="horz" wrap="square" lIns="0" tIns="0" rIns="0" bIns="0" rtlCol="0" anchor="t"/>
            <a:lstStyle/>
            <a:p>
              <a:pPr marL="0" indent="0">
                <a:lnSpc>
                  <a:spcPts val="2400"/>
                </a:lnSpc>
                <a:buNone/>
              </a:pPr>
              <a:r>
                <a:rPr lang="en-US" sz="2400" b="1" dirty="0">
                  <a:solidFill>
                    <a:srgbClr val="1F2937"/>
                  </a:solidFill>
                  <a:latin typeface="ui-sans-serif" pitchFamily="34" charset="0"/>
                  <a:ea typeface="ui-sans-serif" pitchFamily="34" charset="-122"/>
                  <a:cs typeface="ui-sans-serif" pitchFamily="34" charset="-120"/>
                </a:rPr>
                <a:t>Market Entry Strategy</a:t>
              </a:r>
              <a:endParaRPr lang="en-US" sz="2400" dirty="0"/>
            </a:p>
          </p:txBody>
        </p:sp>
      </p:grpSp>
      <p:sp>
        <p:nvSpPr>
          <p:cNvPr id="19" name="Text 5"/>
          <p:cNvSpPr/>
          <p:nvPr/>
        </p:nvSpPr>
        <p:spPr>
          <a:xfrm>
            <a:off x="6477000" y="1790700"/>
            <a:ext cx="5105400"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We are positioned to leverage our company's unique strengths in [specific areas] to address the identified market needs in [Target Market Country].</a:t>
            </a:r>
            <a:endParaRPr lang="en-US" sz="1350" dirty="0"/>
          </a:p>
        </p:txBody>
      </p:sp>
      <p:sp>
        <p:nvSpPr>
          <p:cNvPr id="20" name="Text 6"/>
          <p:cNvSpPr/>
          <p:nvPr/>
        </p:nvSpPr>
        <p:spPr>
          <a:xfrm>
            <a:off x="6477000" y="2743200"/>
            <a:ext cx="5105400"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Our approach combines [key strategies] to ensure a strong market entry while maintaining control over our brand and customer relationships.</a:t>
            </a:r>
            <a:endParaRPr lang="en-US" sz="1350" dirty="0"/>
          </a:p>
        </p:txBody>
      </p:sp>
      <p:grpSp>
        <p:nvGrpSpPr>
          <p:cNvPr id="32" name="Group 31">
            <a:extLst>
              <a:ext uri="{FF2B5EF4-FFF2-40B4-BE49-F238E27FC236}">
                <a16:creationId xmlns:a16="http://schemas.microsoft.com/office/drawing/2014/main" id="{0BA59640-EE10-9C7D-8044-42C7A2C282F9}"/>
              </a:ext>
            </a:extLst>
          </p:cNvPr>
          <p:cNvGrpSpPr/>
          <p:nvPr/>
        </p:nvGrpSpPr>
        <p:grpSpPr>
          <a:xfrm>
            <a:off x="609600" y="4305300"/>
            <a:ext cx="3068836" cy="342900"/>
            <a:chOff x="609600" y="4305300"/>
            <a:chExt cx="3068836" cy="342900"/>
          </a:xfrm>
        </p:grpSpPr>
        <p:pic>
          <p:nvPicPr>
            <p:cNvPr id="11" name="Image 9" descr="preencoded.png"/>
            <p:cNvPicPr>
              <a:picLocks noChangeAspect="1"/>
            </p:cNvPicPr>
            <p:nvPr/>
          </p:nvPicPr>
          <p:blipFill>
            <a:blip r:embed="rId11"/>
            <a:stretch>
              <a:fillRect/>
            </a:stretch>
          </p:blipFill>
          <p:spPr>
            <a:xfrm>
              <a:off x="609600" y="4305300"/>
              <a:ext cx="285750" cy="342900"/>
            </a:xfrm>
            <a:prstGeom prst="rect">
              <a:avLst/>
            </a:prstGeom>
          </p:spPr>
        </p:pic>
        <p:sp>
          <p:nvSpPr>
            <p:cNvPr id="21" name="Text 7"/>
            <p:cNvSpPr/>
            <p:nvPr/>
          </p:nvSpPr>
          <p:spPr>
            <a:xfrm>
              <a:off x="1047750" y="4324350"/>
              <a:ext cx="2630686" cy="304800"/>
            </a:xfrm>
            <a:prstGeom prst="rect">
              <a:avLst/>
            </a:prstGeom>
            <a:noFill/>
            <a:ln/>
          </p:spPr>
          <p:txBody>
            <a:bodyPr vert="horz" wrap="square" lIns="0" tIns="0" rIns="0" bIns="0" rtlCol="0" anchor="t"/>
            <a:lstStyle/>
            <a:p>
              <a:pPr marL="0" indent="0">
                <a:lnSpc>
                  <a:spcPts val="2400"/>
                </a:lnSpc>
                <a:buNone/>
              </a:pPr>
              <a:r>
                <a:rPr lang="en-US" sz="2400" b="1" dirty="0">
                  <a:solidFill>
                    <a:srgbClr val="1F2937"/>
                  </a:solidFill>
                  <a:latin typeface="ui-sans-serif" pitchFamily="34" charset="0"/>
                  <a:ea typeface="ui-sans-serif" pitchFamily="34" charset="-122"/>
                  <a:cs typeface="ui-sans-serif" pitchFamily="34" charset="-120"/>
                </a:rPr>
                <a:t>Growth Potential</a:t>
              </a:r>
              <a:endParaRPr lang="en-US" sz="2400" dirty="0"/>
            </a:p>
          </p:txBody>
        </p:sp>
      </p:grpSp>
      <p:sp>
        <p:nvSpPr>
          <p:cNvPr id="22" name="Text 8"/>
          <p:cNvSpPr/>
          <p:nvPr/>
        </p:nvSpPr>
        <p:spPr>
          <a:xfrm>
            <a:off x="609600" y="4800600"/>
            <a:ext cx="51054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The [Target Market Country] market shows significant growth potential with [specific data points from DOC].</a:t>
            </a:r>
            <a:endParaRPr lang="en-US" sz="1350" dirty="0"/>
          </a:p>
        </p:txBody>
      </p:sp>
      <p:sp>
        <p:nvSpPr>
          <p:cNvPr id="23" name="Text 9"/>
          <p:cNvSpPr/>
          <p:nvPr/>
        </p:nvSpPr>
        <p:spPr>
          <a:xfrm>
            <a:off x="609600" y="5486400"/>
            <a:ext cx="5105400"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Our scalable business model and proven product success in domestic markets position us for sustainable growth and profitability.</a:t>
            </a:r>
            <a:endParaRPr lang="en-US" sz="1350" dirty="0"/>
          </a:p>
        </p:txBody>
      </p:sp>
      <p:grpSp>
        <p:nvGrpSpPr>
          <p:cNvPr id="33" name="Group 32">
            <a:extLst>
              <a:ext uri="{FF2B5EF4-FFF2-40B4-BE49-F238E27FC236}">
                <a16:creationId xmlns:a16="http://schemas.microsoft.com/office/drawing/2014/main" id="{ADE09A0D-6A16-92B8-57E3-DEDDEFAEF3B8}"/>
              </a:ext>
            </a:extLst>
          </p:cNvPr>
          <p:cNvGrpSpPr/>
          <p:nvPr/>
        </p:nvGrpSpPr>
        <p:grpSpPr>
          <a:xfrm>
            <a:off x="6477000" y="4305300"/>
            <a:ext cx="3870424" cy="342900"/>
            <a:chOff x="6477000" y="4305300"/>
            <a:chExt cx="3870424" cy="342900"/>
          </a:xfrm>
        </p:grpSpPr>
        <p:pic>
          <p:nvPicPr>
            <p:cNvPr id="13" name="Image 11" descr="preencoded.png"/>
            <p:cNvPicPr>
              <a:picLocks noChangeAspect="1"/>
            </p:cNvPicPr>
            <p:nvPr/>
          </p:nvPicPr>
          <p:blipFill>
            <a:blip r:embed="rId12"/>
            <a:stretch>
              <a:fillRect/>
            </a:stretch>
          </p:blipFill>
          <p:spPr>
            <a:xfrm>
              <a:off x="6477000" y="4305300"/>
              <a:ext cx="323850" cy="342900"/>
            </a:xfrm>
            <a:prstGeom prst="rect">
              <a:avLst/>
            </a:prstGeom>
          </p:spPr>
        </p:pic>
        <p:sp>
          <p:nvSpPr>
            <p:cNvPr id="24" name="Text 10"/>
            <p:cNvSpPr/>
            <p:nvPr/>
          </p:nvSpPr>
          <p:spPr>
            <a:xfrm>
              <a:off x="6953250" y="4324350"/>
              <a:ext cx="3394174" cy="304800"/>
            </a:xfrm>
            <a:prstGeom prst="rect">
              <a:avLst/>
            </a:prstGeom>
            <a:noFill/>
            <a:ln/>
          </p:spPr>
          <p:txBody>
            <a:bodyPr vert="horz" wrap="square" lIns="0" tIns="0" rIns="0" bIns="0" rtlCol="0" anchor="t"/>
            <a:lstStyle/>
            <a:p>
              <a:pPr marL="0" indent="0">
                <a:lnSpc>
                  <a:spcPts val="2400"/>
                </a:lnSpc>
                <a:buNone/>
              </a:pPr>
              <a:r>
                <a:rPr lang="en-US" sz="2400" b="1" dirty="0">
                  <a:solidFill>
                    <a:srgbClr val="1F2937"/>
                  </a:solidFill>
                  <a:latin typeface="ui-sans-serif" pitchFamily="34" charset="0"/>
                  <a:ea typeface="ui-sans-serif" pitchFamily="34" charset="-122"/>
                  <a:cs typeface="ui-sans-serif" pitchFamily="34" charset="-120"/>
                </a:rPr>
                <a:t>Our Competitive Edge</a:t>
              </a:r>
              <a:endParaRPr lang="en-US" sz="2400" dirty="0"/>
            </a:p>
          </p:txBody>
        </p:sp>
      </p:grpSp>
      <p:sp>
        <p:nvSpPr>
          <p:cNvPr id="25" name="Text 11"/>
          <p:cNvSpPr/>
          <p:nvPr/>
        </p:nvSpPr>
        <p:spPr>
          <a:xfrm>
            <a:off x="6515100" y="4800600"/>
            <a:ext cx="510540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374151"/>
                </a:solidFill>
                <a:latin typeface="ui-sans-serif" pitchFamily="34" charset="0"/>
                <a:ea typeface="ui-sans-serif" pitchFamily="34" charset="-122"/>
                <a:cs typeface="ui-sans-serif" pitchFamily="34" charset="-120"/>
              </a:rPr>
              <a:t>Unique Product/Service offering</a:t>
            </a:r>
            <a:endParaRPr lang="en-US" sz="1350" dirty="0"/>
          </a:p>
        </p:txBody>
      </p:sp>
      <p:sp>
        <p:nvSpPr>
          <p:cNvPr id="26" name="Text 12"/>
          <p:cNvSpPr/>
          <p:nvPr/>
        </p:nvSpPr>
        <p:spPr>
          <a:xfrm>
            <a:off x="6515100" y="5143500"/>
            <a:ext cx="510540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374151"/>
                </a:solidFill>
                <a:latin typeface="ui-sans-serif" pitchFamily="34" charset="0"/>
                <a:ea typeface="ui-sans-serif" pitchFamily="34" charset="-122"/>
                <a:cs typeface="ui-sans-serif" pitchFamily="34" charset="-120"/>
              </a:rPr>
              <a:t>Strong Production Capacity</a:t>
            </a:r>
            <a:endParaRPr lang="en-US" sz="1350" dirty="0"/>
          </a:p>
        </p:txBody>
      </p:sp>
      <p:sp>
        <p:nvSpPr>
          <p:cNvPr id="27" name="Text 13"/>
          <p:cNvSpPr/>
          <p:nvPr/>
        </p:nvSpPr>
        <p:spPr>
          <a:xfrm>
            <a:off x="6515100" y="5486400"/>
            <a:ext cx="510540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374151"/>
                </a:solidFill>
                <a:latin typeface="ui-sans-serif" pitchFamily="34" charset="0"/>
                <a:ea typeface="ui-sans-serif" pitchFamily="34" charset="-122"/>
                <a:cs typeface="ui-sans-serif" pitchFamily="34" charset="-120"/>
              </a:rPr>
              <a:t>Established Domestic Success</a:t>
            </a:r>
            <a:endParaRPr lang="en-US" sz="1350" dirty="0"/>
          </a:p>
        </p:txBody>
      </p:sp>
      <p:sp>
        <p:nvSpPr>
          <p:cNvPr id="28" name="Text 14"/>
          <p:cNvSpPr/>
          <p:nvPr/>
        </p:nvSpPr>
        <p:spPr>
          <a:xfrm>
            <a:off x="6477000" y="5905500"/>
            <a:ext cx="51054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These strengths differentiate us from competitors and position us for success in the international market.</a:t>
            </a:r>
            <a:endParaRPr lang="en-US" sz="1350" dirty="0"/>
          </a:p>
        </p:txBody>
      </p:sp>
      <p:sp>
        <p:nvSpPr>
          <p:cNvPr id="29" name="Text 15"/>
          <p:cNvSpPr/>
          <p:nvPr/>
        </p:nvSpPr>
        <p:spPr>
          <a:xfrm>
            <a:off x="11371808" y="66675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2 / 16</a:t>
            </a:r>
            <a:endParaRPr lang="en-US" sz="1200" dirty="0"/>
          </a:p>
        </p:txBody>
      </p:sp>
      <p:pic>
        <p:nvPicPr>
          <p:cNvPr id="34" name="Picture 33" descr="A blue letters on a black background&#10;&#10;AI-generated content may be incorrect.">
            <a:extLst>
              <a:ext uri="{FF2B5EF4-FFF2-40B4-BE49-F238E27FC236}">
                <a16:creationId xmlns:a16="http://schemas.microsoft.com/office/drawing/2014/main" id="{C237CF05-ACD2-A45A-5B7A-6505ACACF034}"/>
              </a:ext>
            </a:extLst>
          </p:cNvPr>
          <p:cNvPicPr>
            <a:picLocks noChangeAspect="1"/>
          </p:cNvPicPr>
          <p:nvPr/>
        </p:nvPicPr>
        <p:blipFill>
          <a:blip r:embed="rId13"/>
          <a:stretch>
            <a:fillRect/>
          </a:stretch>
        </p:blipFill>
        <p:spPr>
          <a:xfrm>
            <a:off x="10713160" y="177545"/>
            <a:ext cx="1052680" cy="2606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par>
                                <p:cTn id="8" presetID="16" presetClass="entr" presetSubtype="21"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barn(inVertical)">
                                      <p:cBhvr>
                                        <p:cTn id="10" dur="500"/>
                                        <p:tgtEl>
                                          <p:spTgt spid="32"/>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barn(inVertical)">
                                      <p:cBhvr>
                                        <p:cTn id="13" dur="500"/>
                                        <p:tgtEl>
                                          <p:spTgt spid="22"/>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barn(inVertical)">
                                      <p:cBhvr>
                                        <p:cTn id="16" dur="5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arn(inVertical)">
                                      <p:cBhvr>
                                        <p:cTn id="21" dur="500"/>
                                        <p:tgtEl>
                                          <p:spTgt spid="8"/>
                                        </p:tgtEl>
                                      </p:cBhvr>
                                    </p:animEffect>
                                  </p:childTnLst>
                                </p:cTn>
                              </p:par>
                              <p:par>
                                <p:cTn id="22" presetID="16" presetClass="entr" presetSubtype="21" fill="hold"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barn(inVertical)">
                                      <p:cBhvr>
                                        <p:cTn id="24" dur="500"/>
                                        <p:tgtEl>
                                          <p:spTgt spid="31"/>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barn(inVertical)">
                                      <p:cBhvr>
                                        <p:cTn id="27" dur="500"/>
                                        <p:tgtEl>
                                          <p:spTgt spid="19"/>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barn(inVertical)">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circle(in)">
                                      <p:cBhvr>
                                        <p:cTn id="35" dur="2000"/>
                                        <p:tgtEl>
                                          <p:spTgt spid="12"/>
                                        </p:tgtEl>
                                      </p:cBhvr>
                                    </p:animEffect>
                                  </p:childTnLst>
                                </p:cTn>
                              </p:par>
                              <p:par>
                                <p:cTn id="36" presetID="6" presetClass="entr" presetSubtype="16" fill="hold"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circle(in)">
                                      <p:cBhvr>
                                        <p:cTn id="38" dur="2000"/>
                                        <p:tgtEl>
                                          <p:spTgt spid="33"/>
                                        </p:tgtEl>
                                      </p:cBhvr>
                                    </p:animEffect>
                                  </p:childTnLst>
                                </p:cTn>
                              </p:par>
                              <p:par>
                                <p:cTn id="39" presetID="6" presetClass="entr" presetSubtype="16"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circle(in)">
                                      <p:cBhvr>
                                        <p:cTn id="41" dur="2000"/>
                                        <p:tgtEl>
                                          <p:spTgt spid="25"/>
                                        </p:tgtEl>
                                      </p:cBhvr>
                                    </p:animEffect>
                                  </p:childTnLst>
                                </p:cTn>
                              </p:par>
                              <p:par>
                                <p:cTn id="42" presetID="6" presetClass="entr" presetSubtype="16"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circle(in)">
                                      <p:cBhvr>
                                        <p:cTn id="44" dur="2000"/>
                                        <p:tgtEl>
                                          <p:spTgt spid="26"/>
                                        </p:tgtEl>
                                      </p:cBhvr>
                                    </p:animEffect>
                                  </p:childTnLst>
                                </p:cTn>
                              </p:par>
                              <p:par>
                                <p:cTn id="45" presetID="6" presetClass="entr" presetSubtype="16"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circle(in)">
                                      <p:cBhvr>
                                        <p:cTn id="47" dur="2000"/>
                                        <p:tgtEl>
                                          <p:spTgt spid="27"/>
                                        </p:tgtEl>
                                      </p:cBhvr>
                                    </p:animEffect>
                                  </p:childTnLst>
                                </p:cTn>
                              </p:par>
                              <p:par>
                                <p:cTn id="48" presetID="6" presetClass="entr" presetSubtype="16"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circle(in)">
                                      <p:cBhvr>
                                        <p:cTn id="50"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2" grpId="0" animBg="1"/>
      <p:bldP spid="23" grpId="0" animBg="1"/>
      <p:bldP spid="25" grpId="0" animBg="1"/>
      <p:bldP spid="26" grpId="0" animBg="1"/>
      <p:bldP spid="27" grpId="0" animBg="1"/>
      <p:bldP spid="2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9334500" y="5429250"/>
            <a:ext cx="1905000" cy="1905000"/>
          </a:xfrm>
          <a:prstGeom prst="rect">
            <a:avLst/>
          </a:prstGeom>
        </p:spPr>
      </p:pic>
      <p:pic>
        <p:nvPicPr>
          <p:cNvPr id="5" name="Image 3" descr="preencoded.png"/>
          <p:cNvPicPr>
            <a:picLocks noChangeAspect="1"/>
          </p:cNvPicPr>
          <p:nvPr/>
        </p:nvPicPr>
        <p:blipFill>
          <a:blip r:embed="rId6"/>
          <a:stretch>
            <a:fillRect/>
          </a:stretch>
        </p:blipFill>
        <p:spPr>
          <a:xfrm>
            <a:off x="0" y="0"/>
            <a:ext cx="12192000" cy="685800"/>
          </a:xfrm>
          <a:prstGeom prst="rect">
            <a:avLst/>
          </a:prstGeom>
        </p:spPr>
      </p:pic>
      <p:pic>
        <p:nvPicPr>
          <p:cNvPr id="6" name="Image 4" descr="preencoded.png"/>
          <p:cNvPicPr>
            <a:picLocks noChangeAspect="1"/>
          </p:cNvPicPr>
          <p:nvPr/>
        </p:nvPicPr>
        <p:blipFill>
          <a:blip r:embed="rId7"/>
          <a:stretch>
            <a:fillRect/>
          </a:stretch>
        </p:blipFill>
        <p:spPr>
          <a:xfrm>
            <a:off x="381000" y="1409700"/>
            <a:ext cx="3606701" cy="2895600"/>
          </a:xfrm>
          <a:prstGeom prst="rect">
            <a:avLst/>
          </a:prstGeom>
        </p:spPr>
      </p:pic>
      <p:pic>
        <p:nvPicPr>
          <p:cNvPr id="9" name="Image 7" descr="preencoded.png"/>
          <p:cNvPicPr>
            <a:picLocks noChangeAspect="1"/>
          </p:cNvPicPr>
          <p:nvPr/>
        </p:nvPicPr>
        <p:blipFill>
          <a:blip r:embed="rId8"/>
          <a:stretch>
            <a:fillRect/>
          </a:stretch>
        </p:blipFill>
        <p:spPr>
          <a:xfrm>
            <a:off x="4292501" y="1409700"/>
            <a:ext cx="3606850" cy="2895600"/>
          </a:xfrm>
          <a:prstGeom prst="rect">
            <a:avLst/>
          </a:prstGeom>
        </p:spPr>
      </p:pic>
      <p:pic>
        <p:nvPicPr>
          <p:cNvPr id="11" name="Image 9" descr="preencoded.png"/>
          <p:cNvPicPr>
            <a:picLocks noChangeAspect="1"/>
          </p:cNvPicPr>
          <p:nvPr/>
        </p:nvPicPr>
        <p:blipFill>
          <a:blip r:embed="rId9"/>
          <a:stretch>
            <a:fillRect/>
          </a:stretch>
        </p:blipFill>
        <p:spPr>
          <a:xfrm>
            <a:off x="8204150" y="1409700"/>
            <a:ext cx="3606701" cy="2895600"/>
          </a:xfrm>
          <a:prstGeom prst="rect">
            <a:avLst/>
          </a:prstGeom>
        </p:spPr>
      </p:pic>
      <p:pic>
        <p:nvPicPr>
          <p:cNvPr id="14" name="Image 12" descr="preencoded.png"/>
          <p:cNvPicPr>
            <a:picLocks noChangeAspect="1"/>
          </p:cNvPicPr>
          <p:nvPr/>
        </p:nvPicPr>
        <p:blipFill>
          <a:blip r:embed="rId10"/>
          <a:stretch>
            <a:fillRect/>
          </a:stretch>
        </p:blipFill>
        <p:spPr>
          <a:xfrm>
            <a:off x="381000" y="4533900"/>
            <a:ext cx="5562600" cy="1943100"/>
          </a:xfrm>
          <a:prstGeom prst="rect">
            <a:avLst/>
          </a:prstGeom>
        </p:spPr>
      </p:pic>
      <p:pic>
        <p:nvPicPr>
          <p:cNvPr id="16" name="Image 14" descr="preencoded.png"/>
          <p:cNvPicPr>
            <a:picLocks noChangeAspect="1"/>
          </p:cNvPicPr>
          <p:nvPr/>
        </p:nvPicPr>
        <p:blipFill>
          <a:blip r:embed="rId10"/>
          <a:stretch>
            <a:fillRect/>
          </a:stretch>
        </p:blipFill>
        <p:spPr>
          <a:xfrm>
            <a:off x="6248400" y="4533900"/>
            <a:ext cx="5562600" cy="1943100"/>
          </a:xfrm>
          <a:prstGeom prst="rect">
            <a:avLst/>
          </a:prstGeom>
        </p:spPr>
      </p:pic>
      <p:sp>
        <p:nvSpPr>
          <p:cNvPr id="18" name="Text 0"/>
          <p:cNvSpPr/>
          <p:nvPr/>
        </p:nvSpPr>
        <p:spPr>
          <a:xfrm>
            <a:off x="381000" y="152400"/>
            <a:ext cx="11430000" cy="381000"/>
          </a:xfrm>
          <a:prstGeom prst="rect">
            <a:avLst/>
          </a:prstGeom>
          <a:noFill/>
          <a:ln/>
        </p:spPr>
        <p:txBody>
          <a:bodyPr vert="horz" wrap="square" lIns="0" tIns="0" rIns="0" bIns="0" rtlCol="0" anchor="t"/>
          <a:lstStyle/>
          <a:p>
            <a:pPr marL="0" indent="0">
              <a:lnSpc>
                <a:spcPts val="3000"/>
              </a:lnSpc>
              <a:buNone/>
            </a:pPr>
            <a:r>
              <a:rPr lang="en-US" sz="3600" b="1" dirty="0">
                <a:solidFill>
                  <a:srgbClr val="FFFFFF"/>
                </a:solidFill>
                <a:latin typeface="ui-sans-serif" pitchFamily="34" charset="0"/>
                <a:ea typeface="ui-sans-serif" pitchFamily="34" charset="-122"/>
                <a:cs typeface="ui-sans-serif" pitchFamily="34" charset="-120"/>
              </a:rPr>
              <a:t>Company Export Readiness</a:t>
            </a:r>
            <a:endParaRPr lang="en-US" sz="3600" dirty="0"/>
          </a:p>
        </p:txBody>
      </p:sp>
      <p:sp>
        <p:nvSpPr>
          <p:cNvPr id="19" name="Text 1"/>
          <p:cNvSpPr/>
          <p:nvPr/>
        </p:nvSpPr>
        <p:spPr>
          <a:xfrm>
            <a:off x="381000" y="914400"/>
            <a:ext cx="11430000" cy="342900"/>
          </a:xfrm>
          <a:prstGeom prst="rect">
            <a:avLst/>
          </a:prstGeom>
          <a:noFill/>
          <a:ln/>
        </p:spPr>
        <p:txBody>
          <a:bodyPr vert="horz" wrap="square" lIns="0" tIns="0" rIns="0" bIns="0" rtlCol="0" anchor="t"/>
          <a:lstStyle/>
          <a:p>
            <a:pPr marL="0" indent="0">
              <a:lnSpc>
                <a:spcPts val="2100"/>
              </a:lnSpc>
              <a:buNone/>
            </a:pPr>
            <a:r>
              <a:rPr lang="en-US" dirty="0">
                <a:latin typeface="ui-sans-serif" pitchFamily="34" charset="0"/>
                <a:ea typeface="ui-sans-serif" pitchFamily="34" charset="-122"/>
                <a:cs typeface="ui-sans-serif" pitchFamily="34" charset="-120"/>
              </a:rPr>
              <a:t>Our company is well-positioned for export due to several key strengths that differentiate us in the global marketplace.</a:t>
            </a:r>
            <a:endParaRPr lang="en-US" dirty="0"/>
          </a:p>
        </p:txBody>
      </p:sp>
      <p:grpSp>
        <p:nvGrpSpPr>
          <p:cNvPr id="40" name="Group 39">
            <a:extLst>
              <a:ext uri="{FF2B5EF4-FFF2-40B4-BE49-F238E27FC236}">
                <a16:creationId xmlns:a16="http://schemas.microsoft.com/office/drawing/2014/main" id="{A70D1D42-8C00-CFF5-E477-A32A73677F93}"/>
              </a:ext>
            </a:extLst>
          </p:cNvPr>
          <p:cNvGrpSpPr/>
          <p:nvPr/>
        </p:nvGrpSpPr>
        <p:grpSpPr>
          <a:xfrm>
            <a:off x="609600" y="1638300"/>
            <a:ext cx="3119378" cy="571500"/>
            <a:chOff x="609600" y="1638300"/>
            <a:chExt cx="3119378" cy="571500"/>
          </a:xfrm>
        </p:grpSpPr>
        <p:pic>
          <p:nvPicPr>
            <p:cNvPr id="7" name="Image 5" descr="preencoded.png"/>
            <p:cNvPicPr>
              <a:picLocks noChangeAspect="1"/>
            </p:cNvPicPr>
            <p:nvPr/>
          </p:nvPicPr>
          <p:blipFill>
            <a:blip r:embed="rId11"/>
            <a:stretch>
              <a:fillRect/>
            </a:stretch>
          </p:blipFill>
          <p:spPr>
            <a:xfrm>
              <a:off x="609600" y="1638300"/>
              <a:ext cx="571500" cy="571500"/>
            </a:xfrm>
            <a:prstGeom prst="rect">
              <a:avLst/>
            </a:prstGeom>
          </p:spPr>
        </p:pic>
        <p:pic>
          <p:nvPicPr>
            <p:cNvPr id="8" name="Image 6" descr="preencoded.png"/>
            <p:cNvPicPr>
              <a:picLocks noChangeAspect="1"/>
            </p:cNvPicPr>
            <p:nvPr/>
          </p:nvPicPr>
          <p:blipFill>
            <a:blip r:embed="rId12"/>
            <a:stretch>
              <a:fillRect/>
            </a:stretch>
          </p:blipFill>
          <p:spPr>
            <a:xfrm>
              <a:off x="785813" y="1752600"/>
              <a:ext cx="219075" cy="342900"/>
            </a:xfrm>
            <a:prstGeom prst="rect">
              <a:avLst/>
            </a:prstGeom>
          </p:spPr>
        </p:pic>
        <p:sp>
          <p:nvSpPr>
            <p:cNvPr id="20" name="Text 2"/>
            <p:cNvSpPr/>
            <p:nvPr/>
          </p:nvSpPr>
          <p:spPr>
            <a:xfrm>
              <a:off x="1333500" y="1771650"/>
              <a:ext cx="2395478" cy="304800"/>
            </a:xfrm>
            <a:prstGeom prst="rect">
              <a:avLst/>
            </a:prstGeom>
            <a:noFill/>
            <a:ln/>
          </p:spPr>
          <p:txBody>
            <a:bodyPr vert="horz" wrap="square" lIns="0" tIns="0" rIns="0" bIns="0" rtlCol="0" anchor="t"/>
            <a:lstStyle/>
            <a:p>
              <a:pPr marL="0" indent="0">
                <a:lnSpc>
                  <a:spcPts val="2400"/>
                </a:lnSpc>
                <a:buNone/>
              </a:pPr>
              <a:r>
                <a:rPr lang="en-US" sz="2400" b="1" dirty="0">
                  <a:solidFill>
                    <a:srgbClr val="1F2937"/>
                  </a:solidFill>
                  <a:latin typeface="ui-sans-serif" pitchFamily="34" charset="0"/>
                  <a:ea typeface="ui-sans-serif" pitchFamily="34" charset="-122"/>
                  <a:cs typeface="ui-sans-serif" pitchFamily="34" charset="-120"/>
                </a:rPr>
                <a:t>Unique Product</a:t>
              </a:r>
              <a:endParaRPr lang="en-US" sz="2400" dirty="0"/>
            </a:p>
          </p:txBody>
        </p:sp>
      </p:grpSp>
      <p:sp>
        <p:nvSpPr>
          <p:cNvPr id="21" name="Text 3"/>
          <p:cNvSpPr/>
          <p:nvPr/>
        </p:nvSpPr>
        <p:spPr>
          <a:xfrm>
            <a:off x="609600" y="2362200"/>
            <a:ext cx="3149501" cy="800100"/>
          </a:xfrm>
          <a:prstGeom prst="rect">
            <a:avLst/>
          </a:prstGeom>
          <a:noFill/>
          <a:ln/>
        </p:spPr>
        <p:txBody>
          <a:bodyPr vert="horz" wrap="square" lIns="0" tIns="0" rIns="0" bIns="0" rtlCol="0" anchor="t"/>
          <a:lstStyle/>
          <a:p>
            <a:pPr marL="0" indent="0">
              <a:lnSpc>
                <a:spcPts val="2100"/>
              </a:lnSpc>
              <a:buNone/>
            </a:pPr>
            <a:r>
              <a:rPr lang="en-US" sz="1400" dirty="0">
                <a:solidFill>
                  <a:srgbClr val="374151"/>
                </a:solidFill>
                <a:latin typeface="ui-sans-serif" pitchFamily="34" charset="0"/>
                <a:ea typeface="ui-sans-serif" pitchFamily="34" charset="-122"/>
                <a:cs typeface="ui-sans-serif" pitchFamily="34" charset="-120"/>
              </a:rPr>
              <a:t>Our innovative [eco-friendly packaging solutions] set us apart from competitors.</a:t>
            </a:r>
            <a:endParaRPr lang="en-US" sz="1400" dirty="0"/>
          </a:p>
        </p:txBody>
      </p:sp>
      <p:sp>
        <p:nvSpPr>
          <p:cNvPr id="22" name="Text 4"/>
          <p:cNvSpPr/>
          <p:nvPr/>
        </p:nvSpPr>
        <p:spPr>
          <a:xfrm>
            <a:off x="609601" y="3276600"/>
            <a:ext cx="3220466"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400" dirty="0">
                <a:solidFill>
                  <a:srgbClr val="374151"/>
                </a:solidFill>
                <a:latin typeface="ui-sans-serif" pitchFamily="34" charset="0"/>
                <a:ea typeface="ui-sans-serif" pitchFamily="34" charset="-122"/>
                <a:cs typeface="ui-sans-serif" pitchFamily="34" charset="-120"/>
              </a:rPr>
              <a:t>Patented technology</a:t>
            </a:r>
            <a:endParaRPr lang="en-US" sz="1400" dirty="0"/>
          </a:p>
        </p:txBody>
      </p:sp>
      <p:sp>
        <p:nvSpPr>
          <p:cNvPr id="23" name="Text 5"/>
          <p:cNvSpPr/>
          <p:nvPr/>
        </p:nvSpPr>
        <p:spPr>
          <a:xfrm>
            <a:off x="609601" y="3543300"/>
            <a:ext cx="3220466"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400" dirty="0">
                <a:solidFill>
                  <a:srgbClr val="374151"/>
                </a:solidFill>
                <a:latin typeface="ui-sans-serif" pitchFamily="34" charset="0"/>
                <a:ea typeface="ui-sans-serif" pitchFamily="34" charset="-122"/>
                <a:cs typeface="ui-sans-serif" pitchFamily="34" charset="-120"/>
              </a:rPr>
              <a:t>Sustainable materials</a:t>
            </a:r>
            <a:endParaRPr lang="en-US" sz="1400" dirty="0"/>
          </a:p>
        </p:txBody>
      </p:sp>
      <p:sp>
        <p:nvSpPr>
          <p:cNvPr id="24" name="Text 6"/>
          <p:cNvSpPr/>
          <p:nvPr/>
        </p:nvSpPr>
        <p:spPr>
          <a:xfrm>
            <a:off x="609601" y="3810000"/>
            <a:ext cx="3220466"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400" dirty="0">
                <a:solidFill>
                  <a:srgbClr val="374151"/>
                </a:solidFill>
                <a:latin typeface="ui-sans-serif" pitchFamily="34" charset="0"/>
                <a:ea typeface="ui-sans-serif" pitchFamily="34" charset="-122"/>
                <a:cs typeface="ui-sans-serif" pitchFamily="34" charset="-120"/>
              </a:rPr>
              <a:t>Superior quality control</a:t>
            </a:r>
            <a:endParaRPr lang="en-US" sz="1400" dirty="0"/>
          </a:p>
        </p:txBody>
      </p:sp>
      <p:grpSp>
        <p:nvGrpSpPr>
          <p:cNvPr id="45" name="Group 44">
            <a:extLst>
              <a:ext uri="{FF2B5EF4-FFF2-40B4-BE49-F238E27FC236}">
                <a16:creationId xmlns:a16="http://schemas.microsoft.com/office/drawing/2014/main" id="{8AB5215D-4CCE-572E-5FF4-41ECF53CB11D}"/>
              </a:ext>
            </a:extLst>
          </p:cNvPr>
          <p:cNvGrpSpPr/>
          <p:nvPr/>
        </p:nvGrpSpPr>
        <p:grpSpPr>
          <a:xfrm>
            <a:off x="4629299" y="1659890"/>
            <a:ext cx="3193701" cy="490662"/>
            <a:chOff x="4629299" y="1659890"/>
            <a:chExt cx="3193701" cy="490662"/>
          </a:xfrm>
        </p:grpSpPr>
        <p:pic>
          <p:nvPicPr>
            <p:cNvPr id="10" name="Image 8" descr="preencoded.png"/>
            <p:cNvPicPr>
              <a:picLocks noChangeAspect="1"/>
            </p:cNvPicPr>
            <p:nvPr/>
          </p:nvPicPr>
          <p:blipFill>
            <a:blip r:embed="rId13"/>
            <a:stretch>
              <a:fillRect/>
            </a:stretch>
          </p:blipFill>
          <p:spPr>
            <a:xfrm>
              <a:off x="4629299" y="1659890"/>
              <a:ext cx="343484" cy="490662"/>
            </a:xfrm>
            <a:prstGeom prst="rect">
              <a:avLst/>
            </a:prstGeom>
          </p:spPr>
        </p:pic>
        <p:sp>
          <p:nvSpPr>
            <p:cNvPr id="25" name="Text 7"/>
            <p:cNvSpPr/>
            <p:nvPr/>
          </p:nvSpPr>
          <p:spPr>
            <a:xfrm>
              <a:off x="5055711" y="1751332"/>
              <a:ext cx="2767289" cy="323850"/>
            </a:xfrm>
            <a:prstGeom prst="rect">
              <a:avLst/>
            </a:prstGeom>
            <a:noFill/>
            <a:ln/>
          </p:spPr>
          <p:txBody>
            <a:bodyPr vert="horz" wrap="square" lIns="0" tIns="0" rIns="0" bIns="0" rtlCol="0" anchor="t"/>
            <a:lstStyle/>
            <a:p>
              <a:pPr marL="0" indent="0">
                <a:lnSpc>
                  <a:spcPts val="2400"/>
                </a:lnSpc>
                <a:buNone/>
              </a:pPr>
              <a:r>
                <a:rPr lang="en-US" sz="2400" b="1" dirty="0">
                  <a:solidFill>
                    <a:srgbClr val="1F2937"/>
                  </a:solidFill>
                  <a:latin typeface="ui-sans-serif" pitchFamily="34" charset="0"/>
                  <a:ea typeface="ui-sans-serif" pitchFamily="34" charset="-122"/>
                  <a:cs typeface="ui-sans-serif" pitchFamily="34" charset="-120"/>
                </a:rPr>
                <a:t>Production Capacity</a:t>
              </a:r>
              <a:endParaRPr lang="en-US" sz="2400" dirty="0"/>
            </a:p>
          </p:txBody>
        </p:sp>
      </p:grpSp>
      <p:sp>
        <p:nvSpPr>
          <p:cNvPr id="26" name="Text 8"/>
          <p:cNvSpPr/>
          <p:nvPr/>
        </p:nvSpPr>
        <p:spPr>
          <a:xfrm>
            <a:off x="4521101" y="2400300"/>
            <a:ext cx="3149650" cy="800100"/>
          </a:xfrm>
          <a:prstGeom prst="rect">
            <a:avLst/>
          </a:prstGeom>
          <a:noFill/>
          <a:ln/>
        </p:spPr>
        <p:txBody>
          <a:bodyPr vert="horz" wrap="square" lIns="0" tIns="0" rIns="0" bIns="0" rtlCol="0" anchor="t"/>
          <a:lstStyle/>
          <a:p>
            <a:pPr marL="0" indent="0">
              <a:lnSpc>
                <a:spcPts val="2100"/>
              </a:lnSpc>
              <a:buNone/>
            </a:pPr>
            <a:r>
              <a:rPr lang="en-US" sz="1400" dirty="0">
                <a:solidFill>
                  <a:srgbClr val="374151"/>
                </a:solidFill>
                <a:latin typeface="ui-sans-serif" pitchFamily="34" charset="0"/>
                <a:ea typeface="ui-sans-serif" pitchFamily="34" charset="-122"/>
                <a:cs typeface="ui-sans-serif" pitchFamily="34" charset="-120"/>
              </a:rPr>
              <a:t>Ability to scale production by 50% within 6 months to meet international demand.</a:t>
            </a:r>
            <a:endParaRPr lang="en-US" sz="1400" dirty="0"/>
          </a:p>
        </p:txBody>
      </p:sp>
      <p:sp>
        <p:nvSpPr>
          <p:cNvPr id="27" name="Text 9"/>
          <p:cNvSpPr/>
          <p:nvPr/>
        </p:nvSpPr>
        <p:spPr>
          <a:xfrm>
            <a:off x="4521101" y="3314700"/>
            <a:ext cx="3220619"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400" dirty="0">
                <a:solidFill>
                  <a:srgbClr val="374151"/>
                </a:solidFill>
                <a:latin typeface="ui-sans-serif" pitchFamily="34" charset="0"/>
                <a:ea typeface="ui-sans-serif" pitchFamily="34" charset="-122"/>
                <a:cs typeface="ui-sans-serif" pitchFamily="34" charset="-120"/>
              </a:rPr>
              <a:t>Flexible manufacturing</a:t>
            </a:r>
            <a:endParaRPr lang="en-US" sz="1400" dirty="0"/>
          </a:p>
        </p:txBody>
      </p:sp>
      <p:sp>
        <p:nvSpPr>
          <p:cNvPr id="28" name="Text 10"/>
          <p:cNvSpPr/>
          <p:nvPr/>
        </p:nvSpPr>
        <p:spPr>
          <a:xfrm>
            <a:off x="4521101" y="3581400"/>
            <a:ext cx="3220619"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400" dirty="0">
                <a:solidFill>
                  <a:srgbClr val="374151"/>
                </a:solidFill>
                <a:latin typeface="ui-sans-serif" pitchFamily="34" charset="0"/>
                <a:ea typeface="ui-sans-serif" pitchFamily="34" charset="-122"/>
                <a:cs typeface="ui-sans-serif" pitchFamily="34" charset="-120"/>
              </a:rPr>
              <a:t>Experienced workforce</a:t>
            </a:r>
            <a:endParaRPr lang="en-US" sz="1400" dirty="0"/>
          </a:p>
        </p:txBody>
      </p:sp>
      <p:sp>
        <p:nvSpPr>
          <p:cNvPr id="29" name="Text 11"/>
          <p:cNvSpPr/>
          <p:nvPr/>
        </p:nvSpPr>
        <p:spPr>
          <a:xfrm>
            <a:off x="4521101" y="3848100"/>
            <a:ext cx="3220619"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400" dirty="0">
                <a:solidFill>
                  <a:srgbClr val="374151"/>
                </a:solidFill>
                <a:latin typeface="ui-sans-serif" pitchFamily="34" charset="0"/>
                <a:ea typeface="ui-sans-serif" pitchFamily="34" charset="-122"/>
                <a:cs typeface="ui-sans-serif" pitchFamily="34" charset="-120"/>
              </a:rPr>
              <a:t>Strategic partnerships</a:t>
            </a:r>
            <a:endParaRPr lang="en-US" sz="1400" dirty="0"/>
          </a:p>
        </p:txBody>
      </p:sp>
      <p:grpSp>
        <p:nvGrpSpPr>
          <p:cNvPr id="42" name="Group 41">
            <a:extLst>
              <a:ext uri="{FF2B5EF4-FFF2-40B4-BE49-F238E27FC236}">
                <a16:creationId xmlns:a16="http://schemas.microsoft.com/office/drawing/2014/main" id="{E1C340FB-E977-1D28-AF9C-6443B444E1B9}"/>
              </a:ext>
            </a:extLst>
          </p:cNvPr>
          <p:cNvGrpSpPr/>
          <p:nvPr/>
        </p:nvGrpSpPr>
        <p:grpSpPr>
          <a:xfrm>
            <a:off x="8432750" y="1638300"/>
            <a:ext cx="3187750" cy="571500"/>
            <a:chOff x="8432750" y="1638300"/>
            <a:chExt cx="3187750" cy="571500"/>
          </a:xfrm>
        </p:grpSpPr>
        <p:pic>
          <p:nvPicPr>
            <p:cNvPr id="12" name="Image 10" descr="preencoded.png"/>
            <p:cNvPicPr>
              <a:picLocks noChangeAspect="1"/>
            </p:cNvPicPr>
            <p:nvPr/>
          </p:nvPicPr>
          <p:blipFill>
            <a:blip r:embed="rId14"/>
            <a:stretch>
              <a:fillRect/>
            </a:stretch>
          </p:blipFill>
          <p:spPr>
            <a:xfrm>
              <a:off x="8432750" y="1638300"/>
              <a:ext cx="571500" cy="571500"/>
            </a:xfrm>
            <a:prstGeom prst="rect">
              <a:avLst/>
            </a:prstGeom>
          </p:spPr>
        </p:pic>
        <p:pic>
          <p:nvPicPr>
            <p:cNvPr id="13" name="Image 11" descr="preencoded.png"/>
            <p:cNvPicPr>
              <a:picLocks noChangeAspect="1"/>
            </p:cNvPicPr>
            <p:nvPr/>
          </p:nvPicPr>
          <p:blipFill>
            <a:blip r:embed="rId15"/>
            <a:stretch>
              <a:fillRect/>
            </a:stretch>
          </p:blipFill>
          <p:spPr>
            <a:xfrm>
              <a:off x="8608963" y="1752600"/>
              <a:ext cx="219075" cy="342900"/>
            </a:xfrm>
            <a:prstGeom prst="rect">
              <a:avLst/>
            </a:prstGeom>
          </p:spPr>
        </p:pic>
        <p:sp>
          <p:nvSpPr>
            <p:cNvPr id="30" name="Text 12"/>
            <p:cNvSpPr/>
            <p:nvPr/>
          </p:nvSpPr>
          <p:spPr>
            <a:xfrm>
              <a:off x="9156650" y="1771650"/>
              <a:ext cx="2463850" cy="342900"/>
            </a:xfrm>
            <a:prstGeom prst="rect">
              <a:avLst/>
            </a:prstGeom>
            <a:noFill/>
            <a:ln/>
          </p:spPr>
          <p:txBody>
            <a:bodyPr vert="horz" wrap="square" lIns="0" tIns="0" rIns="0" bIns="0" rtlCol="0" anchor="t"/>
            <a:lstStyle/>
            <a:p>
              <a:pPr marL="0" indent="0">
                <a:lnSpc>
                  <a:spcPts val="2400"/>
                </a:lnSpc>
                <a:buNone/>
              </a:pPr>
              <a:r>
                <a:rPr lang="en-US" sz="2400" b="1" dirty="0">
                  <a:solidFill>
                    <a:srgbClr val="1F2937"/>
                  </a:solidFill>
                  <a:latin typeface="ui-sans-serif" pitchFamily="34" charset="0"/>
                  <a:ea typeface="ui-sans-serif" pitchFamily="34" charset="-122"/>
                  <a:cs typeface="ui-sans-serif" pitchFamily="34" charset="-120"/>
                </a:rPr>
                <a:t>Domestic Success</a:t>
              </a:r>
              <a:endParaRPr lang="en-US" sz="2400" dirty="0"/>
            </a:p>
          </p:txBody>
        </p:sp>
      </p:grpSp>
      <p:sp>
        <p:nvSpPr>
          <p:cNvPr id="31" name="Text 13"/>
          <p:cNvSpPr/>
          <p:nvPr/>
        </p:nvSpPr>
        <p:spPr>
          <a:xfrm>
            <a:off x="8432750" y="2362200"/>
            <a:ext cx="3149501" cy="800100"/>
          </a:xfrm>
          <a:prstGeom prst="rect">
            <a:avLst/>
          </a:prstGeom>
          <a:noFill/>
          <a:ln/>
        </p:spPr>
        <p:txBody>
          <a:bodyPr vert="horz" wrap="square" lIns="0" tIns="0" rIns="0" bIns="0" rtlCol="0" anchor="t"/>
          <a:lstStyle/>
          <a:p>
            <a:pPr marL="0" indent="0">
              <a:lnSpc>
                <a:spcPts val="2100"/>
              </a:lnSpc>
              <a:buNone/>
            </a:pPr>
            <a:r>
              <a:rPr lang="en-US" sz="1400" dirty="0">
                <a:solidFill>
                  <a:srgbClr val="374151"/>
                </a:solidFill>
                <a:latin typeface="ui-sans-serif" pitchFamily="34" charset="0"/>
                <a:ea typeface="ui-sans-serif" pitchFamily="34" charset="-122"/>
                <a:cs typeface="ui-sans-serif" pitchFamily="34" charset="-120"/>
              </a:rPr>
              <a:t>Proven track record of 10 years in the domestic market with a 20% annual growth rate.</a:t>
            </a:r>
            <a:endParaRPr lang="en-US" sz="1400" dirty="0"/>
          </a:p>
        </p:txBody>
      </p:sp>
      <p:sp>
        <p:nvSpPr>
          <p:cNvPr id="32" name="Text 14"/>
          <p:cNvSpPr/>
          <p:nvPr/>
        </p:nvSpPr>
        <p:spPr>
          <a:xfrm>
            <a:off x="8432750" y="3276600"/>
            <a:ext cx="3149501" cy="266700"/>
          </a:xfrm>
          <a:prstGeom prst="rect">
            <a:avLst/>
          </a:prstGeom>
          <a:noFill/>
          <a:ln/>
        </p:spPr>
        <p:txBody>
          <a:bodyPr vert="horz" wrap="square" lIns="0" tIns="0" rIns="0" bIns="0" rtlCol="0" anchor="t"/>
          <a:lstStyle/>
          <a:p>
            <a:pPr marL="342900" indent="-342900" algn="l">
              <a:lnSpc>
                <a:spcPts val="1800"/>
              </a:lnSpc>
              <a:buSzPct val="100000"/>
              <a:buChar char="•"/>
            </a:pPr>
            <a:r>
              <a:rPr lang="en-US" sz="1400" dirty="0">
                <a:solidFill>
                  <a:srgbClr val="374151"/>
                </a:solidFill>
                <a:latin typeface="ui-sans-serif" pitchFamily="34" charset="0"/>
                <a:ea typeface="ui-sans-serif" pitchFamily="34" charset="-122"/>
                <a:cs typeface="ui-sans-serif" pitchFamily="34" charset="-120"/>
              </a:rPr>
              <a:t>Strong brand recognition</a:t>
            </a:r>
            <a:endParaRPr lang="en-US" sz="1400" dirty="0"/>
          </a:p>
        </p:txBody>
      </p:sp>
      <p:sp>
        <p:nvSpPr>
          <p:cNvPr id="33" name="Text 15"/>
          <p:cNvSpPr/>
          <p:nvPr/>
        </p:nvSpPr>
        <p:spPr>
          <a:xfrm>
            <a:off x="8432750" y="3543300"/>
            <a:ext cx="3149501"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400" dirty="0">
                <a:solidFill>
                  <a:srgbClr val="374151"/>
                </a:solidFill>
                <a:latin typeface="ui-sans-serif" pitchFamily="34" charset="0"/>
                <a:ea typeface="ui-sans-serif" pitchFamily="34" charset="-122"/>
                <a:cs typeface="ui-sans-serif" pitchFamily="34" charset="-120"/>
              </a:rPr>
              <a:t>Customer loyalty</a:t>
            </a:r>
            <a:endParaRPr lang="en-US" sz="1400" dirty="0"/>
          </a:p>
        </p:txBody>
      </p:sp>
      <p:sp>
        <p:nvSpPr>
          <p:cNvPr id="34" name="Text 16"/>
          <p:cNvSpPr/>
          <p:nvPr/>
        </p:nvSpPr>
        <p:spPr>
          <a:xfrm>
            <a:off x="8432750" y="3810000"/>
            <a:ext cx="3149501"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400" dirty="0">
                <a:solidFill>
                  <a:srgbClr val="374151"/>
                </a:solidFill>
                <a:latin typeface="ui-sans-serif" pitchFamily="34" charset="0"/>
                <a:ea typeface="ui-sans-serif" pitchFamily="34" charset="-122"/>
                <a:cs typeface="ui-sans-serif" pitchFamily="34" charset="-120"/>
              </a:rPr>
              <a:t>Market expertise</a:t>
            </a:r>
            <a:endParaRPr lang="en-US" sz="1400" dirty="0"/>
          </a:p>
        </p:txBody>
      </p:sp>
      <p:grpSp>
        <p:nvGrpSpPr>
          <p:cNvPr id="43" name="Group 42">
            <a:extLst>
              <a:ext uri="{FF2B5EF4-FFF2-40B4-BE49-F238E27FC236}">
                <a16:creationId xmlns:a16="http://schemas.microsoft.com/office/drawing/2014/main" id="{F5BEA132-EBC5-1EB8-7AF2-CD7D3560575D}"/>
              </a:ext>
            </a:extLst>
          </p:cNvPr>
          <p:cNvGrpSpPr/>
          <p:nvPr/>
        </p:nvGrpSpPr>
        <p:grpSpPr>
          <a:xfrm>
            <a:off x="571500" y="4724400"/>
            <a:ext cx="2156520" cy="304800"/>
            <a:chOff x="571500" y="4724400"/>
            <a:chExt cx="2156520" cy="304800"/>
          </a:xfrm>
        </p:grpSpPr>
        <p:pic>
          <p:nvPicPr>
            <p:cNvPr id="15" name="Image 13" descr="preencoded.png"/>
            <p:cNvPicPr>
              <a:picLocks noChangeAspect="1"/>
            </p:cNvPicPr>
            <p:nvPr/>
          </p:nvPicPr>
          <p:blipFill>
            <a:blip r:embed="rId16"/>
            <a:stretch>
              <a:fillRect/>
            </a:stretch>
          </p:blipFill>
          <p:spPr>
            <a:xfrm>
              <a:off x="571500" y="4724400"/>
              <a:ext cx="228600" cy="304800"/>
            </a:xfrm>
            <a:prstGeom prst="rect">
              <a:avLst/>
            </a:prstGeom>
          </p:spPr>
        </p:pic>
        <p:sp>
          <p:nvSpPr>
            <p:cNvPr id="35" name="Text 17"/>
            <p:cNvSpPr/>
            <p:nvPr/>
          </p:nvSpPr>
          <p:spPr>
            <a:xfrm>
              <a:off x="914400" y="4743450"/>
              <a:ext cx="1813620" cy="266700"/>
            </a:xfrm>
            <a:prstGeom prst="rect">
              <a:avLst/>
            </a:prstGeom>
            <a:noFill/>
            <a:ln/>
          </p:spPr>
          <p:txBody>
            <a:bodyPr vert="horz" wrap="square" lIns="0" tIns="0" rIns="0" bIns="0" rtlCol="0" anchor="t"/>
            <a:lstStyle/>
            <a:p>
              <a:pPr marL="0" indent="0">
                <a:lnSpc>
                  <a:spcPts val="2100"/>
                </a:lnSpc>
                <a:buNone/>
              </a:pPr>
              <a:r>
                <a:rPr lang="en-US" sz="2400" b="1" dirty="0">
                  <a:solidFill>
                    <a:srgbClr val="1F2937"/>
                  </a:solidFill>
                  <a:latin typeface="ui-sans-serif" pitchFamily="34" charset="0"/>
                  <a:ea typeface="ui-sans-serif" pitchFamily="34" charset="-122"/>
                  <a:cs typeface="ui-sans-serif" pitchFamily="34" charset="-120"/>
                </a:rPr>
                <a:t>Core Business</a:t>
              </a:r>
              <a:endParaRPr lang="en-US" sz="2400" dirty="0"/>
            </a:p>
          </p:txBody>
        </p:sp>
      </p:grpSp>
      <p:sp>
        <p:nvSpPr>
          <p:cNvPr id="36" name="Text 18"/>
          <p:cNvSpPr/>
          <p:nvPr/>
        </p:nvSpPr>
        <p:spPr>
          <a:xfrm>
            <a:off x="571500" y="5105400"/>
            <a:ext cx="5181600" cy="457200"/>
          </a:xfrm>
          <a:prstGeom prst="rect">
            <a:avLst/>
          </a:prstGeom>
          <a:noFill/>
          <a:ln/>
        </p:spPr>
        <p:txBody>
          <a:bodyPr vert="horz" wrap="square" lIns="0" tIns="0" rIns="0" bIns="0" rtlCol="0" anchor="t"/>
          <a:lstStyle/>
          <a:p>
            <a:pPr marL="0" indent="0">
              <a:lnSpc>
                <a:spcPts val="1800"/>
              </a:lnSpc>
              <a:buNone/>
            </a:pPr>
            <a:r>
              <a:rPr lang="en-US" sz="1400" dirty="0">
                <a:solidFill>
                  <a:srgbClr val="374151"/>
                </a:solidFill>
                <a:latin typeface="ui-sans-serif" pitchFamily="34" charset="0"/>
                <a:ea typeface="ui-sans-serif" pitchFamily="34" charset="-122"/>
                <a:cs typeface="ui-sans-serif" pitchFamily="34" charset="-120"/>
              </a:rPr>
              <a:t>Manufacturing high-quality artisanal food products with a focus on sustainability.</a:t>
            </a:r>
            <a:endParaRPr lang="en-US" sz="1400" dirty="0"/>
          </a:p>
        </p:txBody>
      </p:sp>
      <p:grpSp>
        <p:nvGrpSpPr>
          <p:cNvPr id="46" name="Group 45">
            <a:extLst>
              <a:ext uri="{FF2B5EF4-FFF2-40B4-BE49-F238E27FC236}">
                <a16:creationId xmlns:a16="http://schemas.microsoft.com/office/drawing/2014/main" id="{3A520ABB-F4B0-F79A-C6C6-183DBEC82B80}"/>
              </a:ext>
            </a:extLst>
          </p:cNvPr>
          <p:cNvGrpSpPr/>
          <p:nvPr/>
        </p:nvGrpSpPr>
        <p:grpSpPr>
          <a:xfrm>
            <a:off x="6438899" y="4724399"/>
            <a:ext cx="3660141" cy="348343"/>
            <a:chOff x="6438899" y="4724399"/>
            <a:chExt cx="3660141" cy="348343"/>
          </a:xfrm>
        </p:grpSpPr>
        <p:pic>
          <p:nvPicPr>
            <p:cNvPr id="17" name="Image 15" descr="preencoded.png"/>
            <p:cNvPicPr>
              <a:picLocks noChangeAspect="1"/>
            </p:cNvPicPr>
            <p:nvPr/>
          </p:nvPicPr>
          <p:blipFill>
            <a:blip r:embed="rId17"/>
            <a:stretch>
              <a:fillRect/>
            </a:stretch>
          </p:blipFill>
          <p:spPr>
            <a:xfrm>
              <a:off x="6438899" y="4724399"/>
              <a:ext cx="261257" cy="348343"/>
            </a:xfrm>
            <a:prstGeom prst="rect">
              <a:avLst/>
            </a:prstGeom>
          </p:spPr>
        </p:pic>
        <p:sp>
          <p:nvSpPr>
            <p:cNvPr id="37" name="Text 19"/>
            <p:cNvSpPr/>
            <p:nvPr/>
          </p:nvSpPr>
          <p:spPr>
            <a:xfrm>
              <a:off x="6781800" y="4743450"/>
              <a:ext cx="3317240" cy="304800"/>
            </a:xfrm>
            <a:prstGeom prst="rect">
              <a:avLst/>
            </a:prstGeom>
            <a:noFill/>
            <a:ln/>
          </p:spPr>
          <p:txBody>
            <a:bodyPr vert="horz" wrap="square" lIns="0" tIns="0" rIns="0" bIns="0" rtlCol="0" anchor="t"/>
            <a:lstStyle/>
            <a:p>
              <a:pPr marL="0" indent="0">
                <a:lnSpc>
                  <a:spcPts val="2100"/>
                </a:lnSpc>
                <a:buNone/>
              </a:pPr>
              <a:r>
                <a:rPr lang="en-US" sz="2400" b="1" dirty="0">
                  <a:solidFill>
                    <a:srgbClr val="1F2937"/>
                  </a:solidFill>
                  <a:latin typeface="ui-sans-serif" pitchFamily="34" charset="0"/>
                  <a:ea typeface="ui-sans-serif" pitchFamily="34" charset="-122"/>
                  <a:cs typeface="ui-sans-serif" pitchFamily="34" charset="-120"/>
                </a:rPr>
                <a:t>International Readiness</a:t>
              </a:r>
              <a:endParaRPr lang="en-US" sz="2400" dirty="0"/>
            </a:p>
          </p:txBody>
        </p:sp>
      </p:grpSp>
      <p:sp>
        <p:nvSpPr>
          <p:cNvPr id="38" name="Text 20"/>
          <p:cNvSpPr/>
          <p:nvPr/>
        </p:nvSpPr>
        <p:spPr>
          <a:xfrm>
            <a:off x="6438900" y="5105400"/>
            <a:ext cx="5181600" cy="457200"/>
          </a:xfrm>
          <a:prstGeom prst="rect">
            <a:avLst/>
          </a:prstGeom>
          <a:noFill/>
          <a:ln/>
        </p:spPr>
        <p:txBody>
          <a:bodyPr vert="horz" wrap="square" lIns="0" tIns="0" rIns="0" bIns="0" rtlCol="0" anchor="t"/>
          <a:lstStyle/>
          <a:p>
            <a:pPr marL="0" indent="0">
              <a:lnSpc>
                <a:spcPts val="1800"/>
              </a:lnSpc>
              <a:buNone/>
            </a:pPr>
            <a:r>
              <a:rPr lang="en-US" sz="1400" dirty="0">
                <a:solidFill>
                  <a:srgbClr val="374151"/>
                </a:solidFill>
                <a:latin typeface="ui-sans-serif" pitchFamily="34" charset="0"/>
                <a:ea typeface="ui-sans-serif" pitchFamily="34" charset="-122"/>
                <a:cs typeface="ui-sans-serif" pitchFamily="34" charset="-120"/>
              </a:rPr>
              <a:t>Internal analysis confirms we have the necessary resources, expertise, and product offering for international markets.</a:t>
            </a:r>
            <a:endParaRPr lang="en-US" sz="1400" dirty="0"/>
          </a:p>
        </p:txBody>
      </p:sp>
      <p:sp>
        <p:nvSpPr>
          <p:cNvPr id="39" name="Text 21"/>
          <p:cNvSpPr/>
          <p:nvPr/>
        </p:nvSpPr>
        <p:spPr>
          <a:xfrm>
            <a:off x="113718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3 / 16</a:t>
            </a:r>
            <a:endParaRPr lang="en-US" sz="1200" dirty="0"/>
          </a:p>
        </p:txBody>
      </p:sp>
      <p:pic>
        <p:nvPicPr>
          <p:cNvPr id="47" name="Picture 46" descr="A blue letters on a black background&#10;&#10;AI-generated content may be incorrect.">
            <a:extLst>
              <a:ext uri="{FF2B5EF4-FFF2-40B4-BE49-F238E27FC236}">
                <a16:creationId xmlns:a16="http://schemas.microsoft.com/office/drawing/2014/main" id="{6F78D18F-2568-2A6B-D527-CC9CFAFBDFAE}"/>
              </a:ext>
            </a:extLst>
          </p:cNvPr>
          <p:cNvPicPr>
            <a:picLocks noChangeAspect="1"/>
          </p:cNvPicPr>
          <p:nvPr/>
        </p:nvPicPr>
        <p:blipFill>
          <a:blip r:embed="rId18"/>
          <a:stretch>
            <a:fillRect/>
          </a:stretch>
        </p:blipFill>
        <p:spPr>
          <a:xfrm>
            <a:off x="10825377" y="233170"/>
            <a:ext cx="1052680" cy="2606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anim calcmode="lin" valueType="num">
                                      <p:cBhvr additive="base">
                                        <p:cTn id="11" dur="500" fill="hold"/>
                                        <p:tgtEl>
                                          <p:spTgt spid="45"/>
                                        </p:tgtEl>
                                        <p:attrNameLst>
                                          <p:attrName>ppt_x</p:attrName>
                                        </p:attrNameLst>
                                      </p:cBhvr>
                                      <p:tavLst>
                                        <p:tav tm="0">
                                          <p:val>
                                            <p:strVal val="#ppt_x"/>
                                          </p:val>
                                        </p:tav>
                                        <p:tav tm="100000">
                                          <p:val>
                                            <p:strVal val="#ppt_x"/>
                                          </p:val>
                                        </p:tav>
                                      </p:tavLst>
                                    </p:anim>
                                    <p:anim calcmode="lin" valueType="num">
                                      <p:cBhvr additive="base">
                                        <p:cTn id="12" dur="500" fill="hold"/>
                                        <p:tgtEl>
                                          <p:spTgt spid="4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ppt_x"/>
                                          </p:val>
                                        </p:tav>
                                        <p:tav tm="100000">
                                          <p:val>
                                            <p:strVal val="#ppt_x"/>
                                          </p:val>
                                        </p:tav>
                                      </p:tavLst>
                                    </p:anim>
                                    <p:anim calcmode="lin" valueType="num">
                                      <p:cBhvr additive="base">
                                        <p:cTn id="16" dur="500" fill="hold"/>
                                        <p:tgtEl>
                                          <p:spTgt spid="2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500" fill="hold"/>
                                        <p:tgtEl>
                                          <p:spTgt spid="27"/>
                                        </p:tgtEl>
                                        <p:attrNameLst>
                                          <p:attrName>ppt_x</p:attrName>
                                        </p:attrNameLst>
                                      </p:cBhvr>
                                      <p:tavLst>
                                        <p:tav tm="0">
                                          <p:val>
                                            <p:strVal val="#ppt_x"/>
                                          </p:val>
                                        </p:tav>
                                        <p:tav tm="100000">
                                          <p:val>
                                            <p:strVal val="#ppt_x"/>
                                          </p:val>
                                        </p:tav>
                                      </p:tavLst>
                                    </p:anim>
                                    <p:anim calcmode="lin" valueType="num">
                                      <p:cBhvr additive="base">
                                        <p:cTn id="20" dur="500" fill="hold"/>
                                        <p:tgtEl>
                                          <p:spTgt spid="2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anim calcmode="lin" valueType="num">
                                      <p:cBhvr additive="base">
                                        <p:cTn id="23" dur="500" fill="hold"/>
                                        <p:tgtEl>
                                          <p:spTgt spid="28"/>
                                        </p:tgtEl>
                                        <p:attrNameLst>
                                          <p:attrName>ppt_x</p:attrName>
                                        </p:attrNameLst>
                                      </p:cBhvr>
                                      <p:tavLst>
                                        <p:tav tm="0">
                                          <p:val>
                                            <p:strVal val="#ppt_x"/>
                                          </p:val>
                                        </p:tav>
                                        <p:tav tm="100000">
                                          <p:val>
                                            <p:strVal val="#ppt_x"/>
                                          </p:val>
                                        </p:tav>
                                      </p:tavLst>
                                    </p:anim>
                                    <p:anim calcmode="lin" valueType="num">
                                      <p:cBhvr additive="base">
                                        <p:cTn id="24" dur="500" fill="hold"/>
                                        <p:tgtEl>
                                          <p:spTgt spid="2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additive="base">
                                        <p:cTn id="27" dur="500" fill="hold"/>
                                        <p:tgtEl>
                                          <p:spTgt spid="29"/>
                                        </p:tgtEl>
                                        <p:attrNameLst>
                                          <p:attrName>ppt_x</p:attrName>
                                        </p:attrNameLst>
                                      </p:cBhvr>
                                      <p:tavLst>
                                        <p:tav tm="0">
                                          <p:val>
                                            <p:strVal val="#ppt_x"/>
                                          </p:val>
                                        </p:tav>
                                        <p:tav tm="100000">
                                          <p:val>
                                            <p:strVal val="#ppt_x"/>
                                          </p:val>
                                        </p:tav>
                                      </p:tavLst>
                                    </p:anim>
                                    <p:anim calcmode="lin" valueType="num">
                                      <p:cBhvr additive="base">
                                        <p:cTn id="2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1000"/>
                                        <p:tgtEl>
                                          <p:spTgt spid="11"/>
                                        </p:tgtEl>
                                      </p:cBhvr>
                                    </p:animEffect>
                                    <p:anim calcmode="lin" valueType="num">
                                      <p:cBhvr>
                                        <p:cTn id="34" dur="1000" fill="hold"/>
                                        <p:tgtEl>
                                          <p:spTgt spid="11"/>
                                        </p:tgtEl>
                                        <p:attrNameLst>
                                          <p:attrName>ppt_x</p:attrName>
                                        </p:attrNameLst>
                                      </p:cBhvr>
                                      <p:tavLst>
                                        <p:tav tm="0">
                                          <p:val>
                                            <p:strVal val="#ppt_x"/>
                                          </p:val>
                                        </p:tav>
                                        <p:tav tm="100000">
                                          <p:val>
                                            <p:strVal val="#ppt_x"/>
                                          </p:val>
                                        </p:tav>
                                      </p:tavLst>
                                    </p:anim>
                                    <p:anim calcmode="lin" valueType="num">
                                      <p:cBhvr>
                                        <p:cTn id="35" dur="1000" fill="hold"/>
                                        <p:tgtEl>
                                          <p:spTgt spid="11"/>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fade">
                                      <p:cBhvr>
                                        <p:cTn id="38" dur="1000"/>
                                        <p:tgtEl>
                                          <p:spTgt spid="42"/>
                                        </p:tgtEl>
                                      </p:cBhvr>
                                    </p:animEffect>
                                    <p:anim calcmode="lin" valueType="num">
                                      <p:cBhvr>
                                        <p:cTn id="39" dur="1000" fill="hold"/>
                                        <p:tgtEl>
                                          <p:spTgt spid="42"/>
                                        </p:tgtEl>
                                        <p:attrNameLst>
                                          <p:attrName>ppt_x</p:attrName>
                                        </p:attrNameLst>
                                      </p:cBhvr>
                                      <p:tavLst>
                                        <p:tav tm="0">
                                          <p:val>
                                            <p:strVal val="#ppt_x"/>
                                          </p:val>
                                        </p:tav>
                                        <p:tav tm="100000">
                                          <p:val>
                                            <p:strVal val="#ppt_x"/>
                                          </p:val>
                                        </p:tav>
                                      </p:tavLst>
                                    </p:anim>
                                    <p:anim calcmode="lin" valueType="num">
                                      <p:cBhvr>
                                        <p:cTn id="40" dur="1000" fill="hold"/>
                                        <p:tgtEl>
                                          <p:spTgt spid="42"/>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1000"/>
                                        <p:tgtEl>
                                          <p:spTgt spid="31"/>
                                        </p:tgtEl>
                                      </p:cBhvr>
                                    </p:animEffect>
                                    <p:anim calcmode="lin" valueType="num">
                                      <p:cBhvr>
                                        <p:cTn id="44" dur="1000" fill="hold"/>
                                        <p:tgtEl>
                                          <p:spTgt spid="31"/>
                                        </p:tgtEl>
                                        <p:attrNameLst>
                                          <p:attrName>ppt_x</p:attrName>
                                        </p:attrNameLst>
                                      </p:cBhvr>
                                      <p:tavLst>
                                        <p:tav tm="0">
                                          <p:val>
                                            <p:strVal val="#ppt_x"/>
                                          </p:val>
                                        </p:tav>
                                        <p:tav tm="100000">
                                          <p:val>
                                            <p:strVal val="#ppt_x"/>
                                          </p:val>
                                        </p:tav>
                                      </p:tavLst>
                                    </p:anim>
                                    <p:anim calcmode="lin" valueType="num">
                                      <p:cBhvr>
                                        <p:cTn id="45" dur="1000" fill="hold"/>
                                        <p:tgtEl>
                                          <p:spTgt spid="3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1000"/>
                                        <p:tgtEl>
                                          <p:spTgt spid="32"/>
                                        </p:tgtEl>
                                      </p:cBhvr>
                                    </p:animEffect>
                                    <p:anim calcmode="lin" valueType="num">
                                      <p:cBhvr>
                                        <p:cTn id="49" dur="1000" fill="hold"/>
                                        <p:tgtEl>
                                          <p:spTgt spid="32"/>
                                        </p:tgtEl>
                                        <p:attrNameLst>
                                          <p:attrName>ppt_x</p:attrName>
                                        </p:attrNameLst>
                                      </p:cBhvr>
                                      <p:tavLst>
                                        <p:tav tm="0">
                                          <p:val>
                                            <p:strVal val="#ppt_x"/>
                                          </p:val>
                                        </p:tav>
                                        <p:tav tm="100000">
                                          <p:val>
                                            <p:strVal val="#ppt_x"/>
                                          </p:val>
                                        </p:tav>
                                      </p:tavLst>
                                    </p:anim>
                                    <p:anim calcmode="lin" valueType="num">
                                      <p:cBhvr>
                                        <p:cTn id="50" dur="1000" fill="hold"/>
                                        <p:tgtEl>
                                          <p:spTgt spid="32"/>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1000"/>
                                        <p:tgtEl>
                                          <p:spTgt spid="33"/>
                                        </p:tgtEl>
                                      </p:cBhvr>
                                    </p:animEffect>
                                    <p:anim calcmode="lin" valueType="num">
                                      <p:cBhvr>
                                        <p:cTn id="54" dur="1000" fill="hold"/>
                                        <p:tgtEl>
                                          <p:spTgt spid="33"/>
                                        </p:tgtEl>
                                        <p:attrNameLst>
                                          <p:attrName>ppt_x</p:attrName>
                                        </p:attrNameLst>
                                      </p:cBhvr>
                                      <p:tavLst>
                                        <p:tav tm="0">
                                          <p:val>
                                            <p:strVal val="#ppt_x"/>
                                          </p:val>
                                        </p:tav>
                                        <p:tav tm="100000">
                                          <p:val>
                                            <p:strVal val="#ppt_x"/>
                                          </p:val>
                                        </p:tav>
                                      </p:tavLst>
                                    </p:anim>
                                    <p:anim calcmode="lin" valueType="num">
                                      <p:cBhvr>
                                        <p:cTn id="55" dur="1000" fill="hold"/>
                                        <p:tgtEl>
                                          <p:spTgt spid="33"/>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fade">
                                      <p:cBhvr>
                                        <p:cTn id="58" dur="1000"/>
                                        <p:tgtEl>
                                          <p:spTgt spid="34"/>
                                        </p:tgtEl>
                                      </p:cBhvr>
                                    </p:animEffect>
                                    <p:anim calcmode="lin" valueType="num">
                                      <p:cBhvr>
                                        <p:cTn id="59" dur="1000" fill="hold"/>
                                        <p:tgtEl>
                                          <p:spTgt spid="34"/>
                                        </p:tgtEl>
                                        <p:attrNameLst>
                                          <p:attrName>ppt_x</p:attrName>
                                        </p:attrNameLst>
                                      </p:cBhvr>
                                      <p:tavLst>
                                        <p:tav tm="0">
                                          <p:val>
                                            <p:strVal val="#ppt_x"/>
                                          </p:val>
                                        </p:tav>
                                        <p:tav tm="100000">
                                          <p:val>
                                            <p:strVal val="#ppt_x"/>
                                          </p:val>
                                        </p:tav>
                                      </p:tavLst>
                                    </p:anim>
                                    <p:anim calcmode="lin" valueType="num">
                                      <p:cBhvr>
                                        <p:cTn id="60"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4"/>
                                        </p:tgtEl>
                                        <p:attrNameLst>
                                          <p:attrName>style.visibility</p:attrName>
                                        </p:attrNameLst>
                                      </p:cBhvr>
                                      <p:to>
                                        <p:strVal val="visible"/>
                                      </p:to>
                                    </p:set>
                                    <p:anim calcmode="lin" valueType="num">
                                      <p:cBhvr additive="base">
                                        <p:cTn id="65" dur="500" fill="hold"/>
                                        <p:tgtEl>
                                          <p:spTgt spid="14"/>
                                        </p:tgtEl>
                                        <p:attrNameLst>
                                          <p:attrName>ppt_x</p:attrName>
                                        </p:attrNameLst>
                                      </p:cBhvr>
                                      <p:tavLst>
                                        <p:tav tm="0">
                                          <p:val>
                                            <p:strVal val="#ppt_x"/>
                                          </p:val>
                                        </p:tav>
                                        <p:tav tm="100000">
                                          <p:val>
                                            <p:strVal val="#ppt_x"/>
                                          </p:val>
                                        </p:tav>
                                      </p:tavLst>
                                    </p:anim>
                                    <p:anim calcmode="lin" valueType="num">
                                      <p:cBhvr additive="base">
                                        <p:cTn id="66" dur="500" fill="hold"/>
                                        <p:tgtEl>
                                          <p:spTgt spid="14"/>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43"/>
                                        </p:tgtEl>
                                        <p:attrNameLst>
                                          <p:attrName>style.visibility</p:attrName>
                                        </p:attrNameLst>
                                      </p:cBhvr>
                                      <p:to>
                                        <p:strVal val="visible"/>
                                      </p:to>
                                    </p:set>
                                    <p:anim calcmode="lin" valueType="num">
                                      <p:cBhvr additive="base">
                                        <p:cTn id="69" dur="500" fill="hold"/>
                                        <p:tgtEl>
                                          <p:spTgt spid="43"/>
                                        </p:tgtEl>
                                        <p:attrNameLst>
                                          <p:attrName>ppt_x</p:attrName>
                                        </p:attrNameLst>
                                      </p:cBhvr>
                                      <p:tavLst>
                                        <p:tav tm="0">
                                          <p:val>
                                            <p:strVal val="#ppt_x"/>
                                          </p:val>
                                        </p:tav>
                                        <p:tav tm="100000">
                                          <p:val>
                                            <p:strVal val="#ppt_x"/>
                                          </p:val>
                                        </p:tav>
                                      </p:tavLst>
                                    </p:anim>
                                    <p:anim calcmode="lin" valueType="num">
                                      <p:cBhvr additive="base">
                                        <p:cTn id="70" dur="500" fill="hold"/>
                                        <p:tgtEl>
                                          <p:spTgt spid="43"/>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 calcmode="lin" valueType="num">
                                      <p:cBhvr additive="base">
                                        <p:cTn id="73" dur="500" fill="hold"/>
                                        <p:tgtEl>
                                          <p:spTgt spid="36"/>
                                        </p:tgtEl>
                                        <p:attrNameLst>
                                          <p:attrName>ppt_x</p:attrName>
                                        </p:attrNameLst>
                                      </p:cBhvr>
                                      <p:tavLst>
                                        <p:tav tm="0">
                                          <p:val>
                                            <p:strVal val="#ppt_x"/>
                                          </p:val>
                                        </p:tav>
                                        <p:tav tm="100000">
                                          <p:val>
                                            <p:strVal val="#ppt_x"/>
                                          </p:val>
                                        </p:tav>
                                      </p:tavLst>
                                    </p:anim>
                                    <p:anim calcmode="lin" valueType="num">
                                      <p:cBhvr additive="base">
                                        <p:cTn id="7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16"/>
                                        </p:tgtEl>
                                        <p:attrNameLst>
                                          <p:attrName>style.visibility</p:attrName>
                                        </p:attrNameLst>
                                      </p:cBhvr>
                                      <p:to>
                                        <p:strVal val="visible"/>
                                      </p:to>
                                    </p:set>
                                    <p:anim calcmode="lin" valueType="num">
                                      <p:cBhvr additive="base">
                                        <p:cTn id="79" dur="500" fill="hold"/>
                                        <p:tgtEl>
                                          <p:spTgt spid="16"/>
                                        </p:tgtEl>
                                        <p:attrNameLst>
                                          <p:attrName>ppt_x</p:attrName>
                                        </p:attrNameLst>
                                      </p:cBhvr>
                                      <p:tavLst>
                                        <p:tav tm="0">
                                          <p:val>
                                            <p:strVal val="#ppt_x"/>
                                          </p:val>
                                        </p:tav>
                                        <p:tav tm="100000">
                                          <p:val>
                                            <p:strVal val="#ppt_x"/>
                                          </p:val>
                                        </p:tav>
                                      </p:tavLst>
                                    </p:anim>
                                    <p:anim calcmode="lin" valueType="num">
                                      <p:cBhvr additive="base">
                                        <p:cTn id="80" dur="500" fill="hold"/>
                                        <p:tgtEl>
                                          <p:spTgt spid="16"/>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46"/>
                                        </p:tgtEl>
                                        <p:attrNameLst>
                                          <p:attrName>style.visibility</p:attrName>
                                        </p:attrNameLst>
                                      </p:cBhvr>
                                      <p:to>
                                        <p:strVal val="visible"/>
                                      </p:to>
                                    </p:set>
                                    <p:anim calcmode="lin" valueType="num">
                                      <p:cBhvr additive="base">
                                        <p:cTn id="83" dur="500" fill="hold"/>
                                        <p:tgtEl>
                                          <p:spTgt spid="46"/>
                                        </p:tgtEl>
                                        <p:attrNameLst>
                                          <p:attrName>ppt_x</p:attrName>
                                        </p:attrNameLst>
                                      </p:cBhvr>
                                      <p:tavLst>
                                        <p:tav tm="0">
                                          <p:val>
                                            <p:strVal val="#ppt_x"/>
                                          </p:val>
                                        </p:tav>
                                        <p:tav tm="100000">
                                          <p:val>
                                            <p:strVal val="#ppt_x"/>
                                          </p:val>
                                        </p:tav>
                                      </p:tavLst>
                                    </p:anim>
                                    <p:anim calcmode="lin" valueType="num">
                                      <p:cBhvr additive="base">
                                        <p:cTn id="84" dur="500" fill="hold"/>
                                        <p:tgtEl>
                                          <p:spTgt spid="46"/>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38"/>
                                        </p:tgtEl>
                                        <p:attrNameLst>
                                          <p:attrName>style.visibility</p:attrName>
                                        </p:attrNameLst>
                                      </p:cBhvr>
                                      <p:to>
                                        <p:strVal val="visible"/>
                                      </p:to>
                                    </p:set>
                                    <p:anim calcmode="lin" valueType="num">
                                      <p:cBhvr additive="base">
                                        <p:cTn id="87" dur="500" fill="hold"/>
                                        <p:tgtEl>
                                          <p:spTgt spid="38"/>
                                        </p:tgtEl>
                                        <p:attrNameLst>
                                          <p:attrName>ppt_x</p:attrName>
                                        </p:attrNameLst>
                                      </p:cBhvr>
                                      <p:tavLst>
                                        <p:tav tm="0">
                                          <p:val>
                                            <p:strVal val="#ppt_x"/>
                                          </p:val>
                                        </p:tav>
                                        <p:tav tm="100000">
                                          <p:val>
                                            <p:strVal val="#ppt_x"/>
                                          </p:val>
                                        </p:tav>
                                      </p:tavLst>
                                    </p:anim>
                                    <p:anim calcmode="lin" valueType="num">
                                      <p:cBhvr additive="base">
                                        <p:cTn id="88"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1" grpId="0" animBg="1"/>
      <p:bldP spid="32" grpId="0" animBg="1"/>
      <p:bldP spid="33" grpId="0" animBg="1"/>
      <p:bldP spid="34" grpId="0" animBg="1"/>
      <p:bldP spid="36" grpId="0" animBg="1"/>
      <p:bldP spid="3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9334500" y="5429250"/>
            <a:ext cx="1905000" cy="1905000"/>
          </a:xfrm>
          <a:prstGeom prst="rect">
            <a:avLst/>
          </a:prstGeom>
        </p:spPr>
      </p:pic>
      <p:pic>
        <p:nvPicPr>
          <p:cNvPr id="5" name="Image 3" descr="preencoded.png"/>
          <p:cNvPicPr>
            <a:picLocks noChangeAspect="1"/>
          </p:cNvPicPr>
          <p:nvPr/>
        </p:nvPicPr>
        <p:blipFill>
          <a:blip r:embed="rId6"/>
          <a:stretch>
            <a:fillRect/>
          </a:stretch>
        </p:blipFill>
        <p:spPr>
          <a:xfrm>
            <a:off x="0" y="0"/>
            <a:ext cx="12192000" cy="685800"/>
          </a:xfrm>
          <a:prstGeom prst="rect">
            <a:avLst/>
          </a:prstGeom>
        </p:spPr>
      </p:pic>
      <p:pic>
        <p:nvPicPr>
          <p:cNvPr id="6" name="Image 4" descr="preencoded.png"/>
          <p:cNvPicPr>
            <a:picLocks noChangeAspect="1"/>
          </p:cNvPicPr>
          <p:nvPr/>
        </p:nvPicPr>
        <p:blipFill>
          <a:blip r:embed="rId7"/>
          <a:stretch>
            <a:fillRect/>
          </a:stretch>
        </p:blipFill>
        <p:spPr>
          <a:xfrm>
            <a:off x="381000" y="1600200"/>
            <a:ext cx="3657600" cy="2457450"/>
          </a:xfrm>
          <a:prstGeom prst="rect">
            <a:avLst/>
          </a:prstGeom>
        </p:spPr>
      </p:pic>
      <p:pic>
        <p:nvPicPr>
          <p:cNvPr id="9" name="Image 7" descr="preencoded.png"/>
          <p:cNvPicPr>
            <a:picLocks noChangeAspect="1"/>
          </p:cNvPicPr>
          <p:nvPr/>
        </p:nvPicPr>
        <p:blipFill>
          <a:blip r:embed="rId7"/>
          <a:stretch>
            <a:fillRect/>
          </a:stretch>
        </p:blipFill>
        <p:spPr>
          <a:xfrm>
            <a:off x="4267200" y="1600200"/>
            <a:ext cx="3657600" cy="2457450"/>
          </a:xfrm>
          <a:prstGeom prst="rect">
            <a:avLst/>
          </a:prstGeom>
        </p:spPr>
      </p:pic>
      <p:pic>
        <p:nvPicPr>
          <p:cNvPr id="11" name="Image 9" descr="preencoded.png"/>
          <p:cNvPicPr>
            <a:picLocks noChangeAspect="1"/>
          </p:cNvPicPr>
          <p:nvPr/>
        </p:nvPicPr>
        <p:blipFill>
          <a:blip r:embed="rId7"/>
          <a:stretch>
            <a:fillRect/>
          </a:stretch>
        </p:blipFill>
        <p:spPr>
          <a:xfrm>
            <a:off x="8153400" y="1600200"/>
            <a:ext cx="3657600" cy="2457450"/>
          </a:xfrm>
          <a:prstGeom prst="rect">
            <a:avLst/>
          </a:prstGeom>
        </p:spPr>
      </p:pic>
      <p:pic>
        <p:nvPicPr>
          <p:cNvPr id="14" name="Image 12" descr="preencoded.png"/>
          <p:cNvPicPr>
            <a:picLocks noChangeAspect="1"/>
          </p:cNvPicPr>
          <p:nvPr/>
        </p:nvPicPr>
        <p:blipFill>
          <a:blip r:embed="rId8"/>
          <a:stretch>
            <a:fillRect/>
          </a:stretch>
        </p:blipFill>
        <p:spPr>
          <a:xfrm>
            <a:off x="381000" y="4191000"/>
            <a:ext cx="11430000" cy="2133600"/>
          </a:xfrm>
          <a:prstGeom prst="rect">
            <a:avLst/>
          </a:prstGeom>
        </p:spPr>
      </p:pic>
      <p:sp>
        <p:nvSpPr>
          <p:cNvPr id="16" name="Text 0"/>
          <p:cNvSpPr/>
          <p:nvPr/>
        </p:nvSpPr>
        <p:spPr>
          <a:xfrm>
            <a:off x="381000" y="182880"/>
            <a:ext cx="11430000" cy="381000"/>
          </a:xfrm>
          <a:prstGeom prst="rect">
            <a:avLst/>
          </a:prstGeom>
          <a:noFill/>
          <a:ln/>
        </p:spPr>
        <p:txBody>
          <a:bodyPr vert="horz" wrap="square" lIns="0" tIns="0" rIns="0" bIns="0" rtlCol="0" anchor="t"/>
          <a:lstStyle/>
          <a:p>
            <a:pPr marL="0" indent="0">
              <a:lnSpc>
                <a:spcPts val="3000"/>
              </a:lnSpc>
              <a:buNone/>
            </a:pPr>
            <a:r>
              <a:rPr lang="en-US" sz="3600" b="1" dirty="0">
                <a:solidFill>
                  <a:srgbClr val="FFFFFF"/>
                </a:solidFill>
                <a:latin typeface="ui-sans-serif" pitchFamily="34" charset="0"/>
                <a:ea typeface="ui-sans-serif" pitchFamily="34" charset="-122"/>
                <a:cs typeface="ui-sans-serif" pitchFamily="34" charset="-120"/>
              </a:rPr>
              <a:t>Why Export Now?</a:t>
            </a:r>
            <a:endParaRPr lang="en-US" sz="3600" dirty="0"/>
          </a:p>
        </p:txBody>
      </p:sp>
      <p:sp>
        <p:nvSpPr>
          <p:cNvPr id="17" name="Text 1"/>
          <p:cNvSpPr/>
          <p:nvPr/>
        </p:nvSpPr>
        <p:spPr>
          <a:xfrm>
            <a:off x="381000" y="883920"/>
            <a:ext cx="11430000" cy="533400"/>
          </a:xfrm>
          <a:prstGeom prst="rect">
            <a:avLst/>
          </a:prstGeom>
          <a:noFill/>
          <a:ln/>
        </p:spPr>
        <p:txBody>
          <a:bodyPr vert="horz" wrap="square" lIns="0" tIns="0" rIns="0" bIns="0" rtlCol="0" anchor="t"/>
          <a:lstStyle/>
          <a:p>
            <a:pPr marL="0" indent="0">
              <a:lnSpc>
                <a:spcPts val="2100"/>
              </a:lnSpc>
              <a:buNone/>
            </a:pPr>
            <a:r>
              <a:rPr lang="en-US" dirty="0">
                <a:solidFill>
                  <a:srgbClr val="374151"/>
                </a:solidFill>
                <a:latin typeface="ui-sans-serif" pitchFamily="34" charset="0"/>
                <a:ea typeface="ui-sans-serif" pitchFamily="34" charset="-122"/>
                <a:cs typeface="ui-sans-serif" pitchFamily="34" charset="-120"/>
              </a:rPr>
              <a:t>Our internal analysis confirms we have the necessary resources, expertise, and a robust product offering that aligns with identified international market needs.</a:t>
            </a:r>
            <a:endParaRPr lang="en-US" dirty="0"/>
          </a:p>
        </p:txBody>
      </p:sp>
      <p:grpSp>
        <p:nvGrpSpPr>
          <p:cNvPr id="27" name="Group 26">
            <a:extLst>
              <a:ext uri="{FF2B5EF4-FFF2-40B4-BE49-F238E27FC236}">
                <a16:creationId xmlns:a16="http://schemas.microsoft.com/office/drawing/2014/main" id="{EB3529B2-6FEE-6D8C-A8D7-7793AD4F431F}"/>
              </a:ext>
            </a:extLst>
          </p:cNvPr>
          <p:cNvGrpSpPr/>
          <p:nvPr/>
        </p:nvGrpSpPr>
        <p:grpSpPr>
          <a:xfrm>
            <a:off x="609600" y="1666240"/>
            <a:ext cx="3200400" cy="609600"/>
            <a:chOff x="609600" y="1666240"/>
            <a:chExt cx="3200400" cy="609600"/>
          </a:xfrm>
        </p:grpSpPr>
        <p:pic>
          <p:nvPicPr>
            <p:cNvPr id="7" name="Image 5" descr="preencoded.png"/>
            <p:cNvPicPr>
              <a:picLocks noChangeAspect="1"/>
            </p:cNvPicPr>
            <p:nvPr/>
          </p:nvPicPr>
          <p:blipFill>
            <a:blip r:embed="rId9"/>
            <a:stretch>
              <a:fillRect/>
            </a:stretch>
          </p:blipFill>
          <p:spPr>
            <a:xfrm>
              <a:off x="609600" y="1685290"/>
              <a:ext cx="483691" cy="571500"/>
            </a:xfrm>
            <a:prstGeom prst="rect">
              <a:avLst/>
            </a:prstGeom>
          </p:spPr>
        </p:pic>
        <p:pic>
          <p:nvPicPr>
            <p:cNvPr id="8" name="Image 6" descr="preencoded.png"/>
            <p:cNvPicPr>
              <a:picLocks noChangeAspect="1"/>
            </p:cNvPicPr>
            <p:nvPr/>
          </p:nvPicPr>
          <p:blipFill>
            <a:blip r:embed="rId10"/>
            <a:stretch>
              <a:fillRect/>
            </a:stretch>
          </p:blipFill>
          <p:spPr>
            <a:xfrm>
              <a:off x="722858" y="1818640"/>
              <a:ext cx="257175" cy="304800"/>
            </a:xfrm>
            <a:prstGeom prst="rect">
              <a:avLst/>
            </a:prstGeom>
          </p:spPr>
        </p:pic>
        <p:sp>
          <p:nvSpPr>
            <p:cNvPr id="18" name="Text 2"/>
            <p:cNvSpPr/>
            <p:nvPr/>
          </p:nvSpPr>
          <p:spPr>
            <a:xfrm>
              <a:off x="1245691" y="1666240"/>
              <a:ext cx="2564309" cy="609600"/>
            </a:xfrm>
            <a:prstGeom prst="rect">
              <a:avLst/>
            </a:prstGeom>
            <a:noFill/>
            <a:ln/>
          </p:spPr>
          <p:txBody>
            <a:bodyPr vert="horz" wrap="square" lIns="0" tIns="0" rIns="0" bIns="0" rtlCol="0" anchor="t"/>
            <a:lstStyle/>
            <a:p>
              <a:pPr marL="0" indent="0">
                <a:lnSpc>
                  <a:spcPts val="2400"/>
                </a:lnSpc>
                <a:buNone/>
              </a:pPr>
              <a:r>
                <a:rPr lang="en-US" sz="2400" b="1" dirty="0">
                  <a:solidFill>
                    <a:srgbClr val="1F2937"/>
                  </a:solidFill>
                  <a:latin typeface="ui-sans-serif" pitchFamily="34" charset="0"/>
                  <a:ea typeface="ui-sans-serif" pitchFamily="34" charset="-122"/>
                  <a:cs typeface="ui-sans-serif" pitchFamily="34" charset="-120"/>
                </a:rPr>
                <a:t>Unique Product/Service</a:t>
              </a:r>
              <a:endParaRPr lang="en-US" sz="2400" dirty="0"/>
            </a:p>
          </p:txBody>
        </p:sp>
      </p:grpSp>
      <p:sp>
        <p:nvSpPr>
          <p:cNvPr id="19" name="Text 3"/>
          <p:cNvSpPr/>
          <p:nvPr/>
        </p:nvSpPr>
        <p:spPr>
          <a:xfrm>
            <a:off x="609600" y="2590800"/>
            <a:ext cx="3200400" cy="685800"/>
          </a:xfrm>
          <a:prstGeom prst="rect">
            <a:avLst/>
          </a:prstGeom>
          <a:noFill/>
          <a:ln/>
        </p:spPr>
        <p:txBody>
          <a:bodyPr vert="horz" wrap="square" lIns="0" tIns="0" rIns="0" bIns="0" rtlCol="0" anchor="t"/>
          <a:lstStyle/>
          <a:p>
            <a:pPr marL="0" indent="0">
              <a:lnSpc>
                <a:spcPts val="1800"/>
              </a:lnSpc>
              <a:buNone/>
            </a:pPr>
            <a:r>
              <a:rPr lang="en-US" sz="1400" dirty="0">
                <a:solidFill>
                  <a:srgbClr val="374151"/>
                </a:solidFill>
                <a:latin typeface="ui-sans-serif" pitchFamily="34" charset="0"/>
                <a:ea typeface="ui-sans-serif" pitchFamily="34" charset="-122"/>
                <a:cs typeface="ui-sans-serif" pitchFamily="34" charset="-120"/>
              </a:rPr>
              <a:t>Our innovative, eco-friendly packaging solutions fill a gap in the [Target Market Country] market.</a:t>
            </a:r>
            <a:endParaRPr lang="en-US" sz="1400" dirty="0"/>
          </a:p>
        </p:txBody>
      </p:sp>
      <p:grpSp>
        <p:nvGrpSpPr>
          <p:cNvPr id="28" name="Group 27">
            <a:extLst>
              <a:ext uri="{FF2B5EF4-FFF2-40B4-BE49-F238E27FC236}">
                <a16:creationId xmlns:a16="http://schemas.microsoft.com/office/drawing/2014/main" id="{4029A11A-97D3-9CB3-12E2-BA352FC2DE55}"/>
              </a:ext>
            </a:extLst>
          </p:cNvPr>
          <p:cNvGrpSpPr/>
          <p:nvPr/>
        </p:nvGrpSpPr>
        <p:grpSpPr>
          <a:xfrm>
            <a:off x="4578548" y="1666240"/>
            <a:ext cx="3117652" cy="609600"/>
            <a:chOff x="4578548" y="1666240"/>
            <a:chExt cx="3117652" cy="609600"/>
          </a:xfrm>
        </p:grpSpPr>
        <p:pic>
          <p:nvPicPr>
            <p:cNvPr id="10" name="Image 8" descr="preencoded.png"/>
            <p:cNvPicPr>
              <a:picLocks noChangeAspect="1"/>
            </p:cNvPicPr>
            <p:nvPr/>
          </p:nvPicPr>
          <p:blipFill>
            <a:blip r:embed="rId11"/>
            <a:stretch>
              <a:fillRect/>
            </a:stretch>
          </p:blipFill>
          <p:spPr>
            <a:xfrm>
              <a:off x="4578548" y="1777999"/>
              <a:ext cx="324743" cy="384881"/>
            </a:xfrm>
            <a:prstGeom prst="rect">
              <a:avLst/>
            </a:prstGeom>
          </p:spPr>
        </p:pic>
        <p:sp>
          <p:nvSpPr>
            <p:cNvPr id="20" name="Text 4"/>
            <p:cNvSpPr/>
            <p:nvPr/>
          </p:nvSpPr>
          <p:spPr>
            <a:xfrm>
              <a:off x="5071021" y="1666240"/>
              <a:ext cx="2625179" cy="609600"/>
            </a:xfrm>
            <a:prstGeom prst="rect">
              <a:avLst/>
            </a:prstGeom>
            <a:noFill/>
            <a:ln/>
          </p:spPr>
          <p:txBody>
            <a:bodyPr vert="horz" wrap="square" lIns="0" tIns="0" rIns="0" bIns="0" rtlCol="0" anchor="t"/>
            <a:lstStyle/>
            <a:p>
              <a:pPr marL="0" indent="0">
                <a:lnSpc>
                  <a:spcPts val="2400"/>
                </a:lnSpc>
                <a:buNone/>
              </a:pPr>
              <a:r>
                <a:rPr lang="en-US" sz="2400" b="1" dirty="0">
                  <a:solidFill>
                    <a:srgbClr val="1F2937"/>
                  </a:solidFill>
                  <a:latin typeface="ui-sans-serif" pitchFamily="34" charset="0"/>
                  <a:ea typeface="ui-sans-serif" pitchFamily="34" charset="-122"/>
                  <a:cs typeface="ui-sans-serif" pitchFamily="34" charset="-120"/>
                </a:rPr>
                <a:t>Strong Production Capacity</a:t>
              </a:r>
              <a:endParaRPr lang="en-US" sz="2400" dirty="0"/>
            </a:p>
          </p:txBody>
        </p:sp>
      </p:grpSp>
      <p:sp>
        <p:nvSpPr>
          <p:cNvPr id="21" name="Text 5"/>
          <p:cNvSpPr/>
          <p:nvPr/>
        </p:nvSpPr>
        <p:spPr>
          <a:xfrm>
            <a:off x="4495800" y="2590800"/>
            <a:ext cx="3200400" cy="457200"/>
          </a:xfrm>
          <a:prstGeom prst="rect">
            <a:avLst/>
          </a:prstGeom>
          <a:noFill/>
          <a:ln/>
        </p:spPr>
        <p:txBody>
          <a:bodyPr vert="horz" wrap="square" lIns="0" tIns="0" rIns="0" bIns="0" rtlCol="0" anchor="t"/>
          <a:lstStyle/>
          <a:p>
            <a:pPr marL="0" indent="0">
              <a:lnSpc>
                <a:spcPts val="1800"/>
              </a:lnSpc>
              <a:buNone/>
            </a:pPr>
            <a:r>
              <a:rPr lang="en-US" sz="1400" dirty="0">
                <a:solidFill>
                  <a:srgbClr val="374151"/>
                </a:solidFill>
                <a:latin typeface="ui-sans-serif" pitchFamily="34" charset="0"/>
                <a:ea typeface="ui-sans-serif" pitchFamily="34" charset="-122"/>
                <a:cs typeface="ui-sans-serif" pitchFamily="34" charset="-120"/>
              </a:rPr>
              <a:t>Ability to scale production by 50% within 6 months to meet international demand.</a:t>
            </a:r>
            <a:endParaRPr lang="en-US" sz="1400" dirty="0"/>
          </a:p>
        </p:txBody>
      </p:sp>
      <p:grpSp>
        <p:nvGrpSpPr>
          <p:cNvPr id="29" name="Group 28">
            <a:extLst>
              <a:ext uri="{FF2B5EF4-FFF2-40B4-BE49-F238E27FC236}">
                <a16:creationId xmlns:a16="http://schemas.microsoft.com/office/drawing/2014/main" id="{5762000B-1774-ED7D-C702-5F19F55BE38C}"/>
              </a:ext>
            </a:extLst>
          </p:cNvPr>
          <p:cNvGrpSpPr/>
          <p:nvPr/>
        </p:nvGrpSpPr>
        <p:grpSpPr>
          <a:xfrm>
            <a:off x="8382000" y="1666240"/>
            <a:ext cx="3200400" cy="609600"/>
            <a:chOff x="8382000" y="1666240"/>
            <a:chExt cx="3200400" cy="609600"/>
          </a:xfrm>
        </p:grpSpPr>
        <p:pic>
          <p:nvPicPr>
            <p:cNvPr id="12" name="Image 10" descr="preencoded.png"/>
            <p:cNvPicPr>
              <a:picLocks noChangeAspect="1"/>
            </p:cNvPicPr>
            <p:nvPr/>
          </p:nvPicPr>
          <p:blipFill>
            <a:blip r:embed="rId12"/>
            <a:stretch>
              <a:fillRect/>
            </a:stretch>
          </p:blipFill>
          <p:spPr>
            <a:xfrm>
              <a:off x="8382000" y="1695450"/>
              <a:ext cx="391567" cy="571500"/>
            </a:xfrm>
            <a:prstGeom prst="rect">
              <a:avLst/>
            </a:prstGeom>
          </p:spPr>
        </p:pic>
        <p:pic>
          <p:nvPicPr>
            <p:cNvPr id="13" name="Image 11" descr="preencoded.png"/>
            <p:cNvPicPr>
              <a:picLocks noChangeAspect="1"/>
            </p:cNvPicPr>
            <p:nvPr/>
          </p:nvPicPr>
          <p:blipFill>
            <a:blip r:embed="rId13"/>
            <a:stretch>
              <a:fillRect/>
            </a:stretch>
          </p:blipFill>
          <p:spPr>
            <a:xfrm>
              <a:off x="8491984" y="1828800"/>
              <a:ext cx="171450" cy="304800"/>
            </a:xfrm>
            <a:prstGeom prst="rect">
              <a:avLst/>
            </a:prstGeom>
          </p:spPr>
        </p:pic>
        <p:sp>
          <p:nvSpPr>
            <p:cNvPr id="22" name="Text 6"/>
            <p:cNvSpPr/>
            <p:nvPr/>
          </p:nvSpPr>
          <p:spPr>
            <a:xfrm>
              <a:off x="8925967" y="1666240"/>
              <a:ext cx="2656433" cy="609600"/>
            </a:xfrm>
            <a:prstGeom prst="rect">
              <a:avLst/>
            </a:prstGeom>
            <a:noFill/>
            <a:ln/>
          </p:spPr>
          <p:txBody>
            <a:bodyPr vert="horz" wrap="square" lIns="0" tIns="0" rIns="0" bIns="0" rtlCol="0" anchor="t"/>
            <a:lstStyle/>
            <a:p>
              <a:pPr marL="0" indent="0">
                <a:lnSpc>
                  <a:spcPts val="2400"/>
                </a:lnSpc>
                <a:buNone/>
              </a:pPr>
              <a:r>
                <a:rPr lang="en-US" sz="2400" b="1" dirty="0">
                  <a:solidFill>
                    <a:srgbClr val="1F2937"/>
                  </a:solidFill>
                  <a:latin typeface="ui-sans-serif" pitchFamily="34" charset="0"/>
                  <a:ea typeface="ui-sans-serif" pitchFamily="34" charset="-122"/>
                  <a:cs typeface="ui-sans-serif" pitchFamily="34" charset="-120"/>
                </a:rPr>
                <a:t>Established Domestic Success</a:t>
              </a:r>
              <a:endParaRPr lang="en-US" sz="2400" dirty="0"/>
            </a:p>
          </p:txBody>
        </p:sp>
      </p:grpSp>
      <p:sp>
        <p:nvSpPr>
          <p:cNvPr id="23" name="Text 7"/>
          <p:cNvSpPr/>
          <p:nvPr/>
        </p:nvSpPr>
        <p:spPr>
          <a:xfrm>
            <a:off x="8382000" y="2590800"/>
            <a:ext cx="3200400" cy="685800"/>
          </a:xfrm>
          <a:prstGeom prst="rect">
            <a:avLst/>
          </a:prstGeom>
          <a:noFill/>
          <a:ln/>
        </p:spPr>
        <p:txBody>
          <a:bodyPr vert="horz" wrap="square" lIns="0" tIns="0" rIns="0" bIns="0" rtlCol="0" anchor="t"/>
          <a:lstStyle/>
          <a:p>
            <a:pPr marL="0" indent="0">
              <a:lnSpc>
                <a:spcPts val="1800"/>
              </a:lnSpc>
              <a:buNone/>
            </a:pPr>
            <a:r>
              <a:rPr lang="en-US" sz="1400" dirty="0">
                <a:solidFill>
                  <a:srgbClr val="374151"/>
                </a:solidFill>
                <a:latin typeface="ui-sans-serif" pitchFamily="34" charset="0"/>
                <a:ea typeface="ui-sans-serif" pitchFamily="34" charset="-122"/>
                <a:cs typeface="ui-sans-serif" pitchFamily="34" charset="-120"/>
              </a:rPr>
              <a:t>A proven track record of 10 years in the domestic market with a 20% annual growth rate.</a:t>
            </a:r>
            <a:endParaRPr lang="en-US" sz="1400" dirty="0"/>
          </a:p>
        </p:txBody>
      </p:sp>
      <p:grpSp>
        <p:nvGrpSpPr>
          <p:cNvPr id="30" name="Group 29">
            <a:extLst>
              <a:ext uri="{FF2B5EF4-FFF2-40B4-BE49-F238E27FC236}">
                <a16:creationId xmlns:a16="http://schemas.microsoft.com/office/drawing/2014/main" id="{6C2AC054-8558-DF1C-709D-5ED9F42B964B}"/>
              </a:ext>
            </a:extLst>
          </p:cNvPr>
          <p:cNvGrpSpPr/>
          <p:nvPr/>
        </p:nvGrpSpPr>
        <p:grpSpPr>
          <a:xfrm>
            <a:off x="609600" y="4419600"/>
            <a:ext cx="4433828" cy="342900"/>
            <a:chOff x="609600" y="4419600"/>
            <a:chExt cx="4433828" cy="342900"/>
          </a:xfrm>
        </p:grpSpPr>
        <p:pic>
          <p:nvPicPr>
            <p:cNvPr id="15" name="Image 13" descr="preencoded.png"/>
            <p:cNvPicPr>
              <a:picLocks noChangeAspect="1"/>
            </p:cNvPicPr>
            <p:nvPr/>
          </p:nvPicPr>
          <p:blipFill>
            <a:blip r:embed="rId14"/>
            <a:stretch>
              <a:fillRect/>
            </a:stretch>
          </p:blipFill>
          <p:spPr>
            <a:xfrm>
              <a:off x="609600" y="4419600"/>
              <a:ext cx="285750" cy="342900"/>
            </a:xfrm>
            <a:prstGeom prst="rect">
              <a:avLst/>
            </a:prstGeom>
          </p:spPr>
        </p:pic>
        <p:sp>
          <p:nvSpPr>
            <p:cNvPr id="24" name="Text 8"/>
            <p:cNvSpPr/>
            <p:nvPr/>
          </p:nvSpPr>
          <p:spPr>
            <a:xfrm>
              <a:off x="1047750" y="4438650"/>
              <a:ext cx="3995678" cy="304800"/>
            </a:xfrm>
            <a:prstGeom prst="rect">
              <a:avLst/>
            </a:prstGeom>
            <a:noFill/>
            <a:ln/>
          </p:spPr>
          <p:txBody>
            <a:bodyPr vert="horz" wrap="square" lIns="0" tIns="0" rIns="0" bIns="0" rtlCol="0" anchor="t"/>
            <a:lstStyle/>
            <a:p>
              <a:pPr marL="0" indent="0">
                <a:lnSpc>
                  <a:spcPts val="2400"/>
                </a:lnSpc>
                <a:buNone/>
              </a:pPr>
              <a:r>
                <a:rPr lang="en-US" sz="2400" b="1" dirty="0">
                  <a:solidFill>
                    <a:srgbClr val="1F2937"/>
                  </a:solidFill>
                  <a:latin typeface="ui-sans-serif" pitchFamily="34" charset="0"/>
                  <a:ea typeface="ui-sans-serif" pitchFamily="34" charset="-122"/>
                  <a:cs typeface="ui-sans-serif" pitchFamily="34" charset="-120"/>
                </a:rPr>
                <a:t>Ready to Go International</a:t>
              </a:r>
              <a:endParaRPr lang="en-US" sz="2400" dirty="0"/>
            </a:p>
          </p:txBody>
        </p:sp>
      </p:grpSp>
      <p:sp>
        <p:nvSpPr>
          <p:cNvPr id="25" name="Text 9"/>
          <p:cNvSpPr/>
          <p:nvPr/>
        </p:nvSpPr>
        <p:spPr>
          <a:xfrm>
            <a:off x="609600" y="4876800"/>
            <a:ext cx="10972800" cy="457200"/>
          </a:xfrm>
          <a:prstGeom prst="rect">
            <a:avLst/>
          </a:prstGeom>
          <a:noFill/>
          <a:ln/>
        </p:spPr>
        <p:txBody>
          <a:bodyPr vert="horz" wrap="square" lIns="0" tIns="0" rIns="0" bIns="0" rtlCol="0" anchor="t"/>
          <a:lstStyle/>
          <a:p>
            <a:pPr marL="0" indent="0">
              <a:lnSpc>
                <a:spcPts val="1800"/>
              </a:lnSpc>
              <a:buNone/>
            </a:pPr>
            <a:r>
              <a:rPr lang="en-US" sz="1400" dirty="0">
                <a:solidFill>
                  <a:srgbClr val="374151"/>
                </a:solidFill>
                <a:latin typeface="ui-sans-serif" pitchFamily="34" charset="0"/>
                <a:ea typeface="ui-sans-serif" pitchFamily="34" charset="-122"/>
                <a:cs typeface="ui-sans-serif" pitchFamily="34" charset="-120"/>
              </a:rPr>
              <a:t>With our core business established and internal analysis confirming our readiness, we are prepared to capitalize on the export opportunity in [Target Market Country] at this time.</a:t>
            </a:r>
            <a:endParaRPr lang="en-US" sz="1400" dirty="0"/>
          </a:p>
        </p:txBody>
      </p:sp>
      <p:sp>
        <p:nvSpPr>
          <p:cNvPr id="26" name="Text 10"/>
          <p:cNvSpPr/>
          <p:nvPr/>
        </p:nvSpPr>
        <p:spPr>
          <a:xfrm>
            <a:off x="113718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4 / 16</a:t>
            </a:r>
            <a:endParaRPr lang="en-US" sz="1200" dirty="0"/>
          </a:p>
        </p:txBody>
      </p:sp>
      <p:pic>
        <p:nvPicPr>
          <p:cNvPr id="31" name="Picture 30" descr="A blue letters on a black background&#10;&#10;AI-generated content may be incorrect.">
            <a:extLst>
              <a:ext uri="{FF2B5EF4-FFF2-40B4-BE49-F238E27FC236}">
                <a16:creationId xmlns:a16="http://schemas.microsoft.com/office/drawing/2014/main" id="{5874AC44-53B2-D17B-2303-AAD71F26300D}"/>
              </a:ext>
            </a:extLst>
          </p:cNvPr>
          <p:cNvPicPr>
            <a:picLocks noChangeAspect="1"/>
          </p:cNvPicPr>
          <p:nvPr/>
        </p:nvPicPr>
        <p:blipFill>
          <a:blip r:embed="rId15"/>
          <a:stretch>
            <a:fillRect/>
          </a:stretch>
        </p:blipFill>
        <p:spPr>
          <a:xfrm>
            <a:off x="10825377" y="233170"/>
            <a:ext cx="1052680" cy="2606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additive="base">
                                        <p:cTn id="11" dur="500" fill="hold"/>
                                        <p:tgtEl>
                                          <p:spTgt spid="27"/>
                                        </p:tgtEl>
                                        <p:attrNameLst>
                                          <p:attrName>ppt_x</p:attrName>
                                        </p:attrNameLst>
                                      </p:cBhvr>
                                      <p:tavLst>
                                        <p:tav tm="0">
                                          <p:val>
                                            <p:strVal val="#ppt_x"/>
                                          </p:val>
                                        </p:tav>
                                        <p:tav tm="100000">
                                          <p:val>
                                            <p:strVal val="#ppt_x"/>
                                          </p:val>
                                        </p:tav>
                                      </p:tavLst>
                                    </p:anim>
                                    <p:anim calcmode="lin" valueType="num">
                                      <p:cBhvr additive="base">
                                        <p:cTn id="12" dur="500" fill="hold"/>
                                        <p:tgtEl>
                                          <p:spTgt spid="2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500" fill="hold"/>
                                        <p:tgtEl>
                                          <p:spTgt spid="19"/>
                                        </p:tgtEl>
                                        <p:attrNameLst>
                                          <p:attrName>ppt_x</p:attrName>
                                        </p:attrNameLst>
                                      </p:cBhvr>
                                      <p:tavLst>
                                        <p:tav tm="0">
                                          <p:val>
                                            <p:strVal val="#ppt_x"/>
                                          </p:val>
                                        </p:tav>
                                        <p:tav tm="100000">
                                          <p:val>
                                            <p:strVal val="#ppt_x"/>
                                          </p:val>
                                        </p:tav>
                                      </p:tavLst>
                                    </p:anim>
                                    <p:anim calcmode="lin" valueType="num">
                                      <p:cBhvr additive="base">
                                        <p:cTn id="1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additive="base">
                                        <p:cTn id="25" dur="500" fill="hold"/>
                                        <p:tgtEl>
                                          <p:spTgt spid="28"/>
                                        </p:tgtEl>
                                        <p:attrNameLst>
                                          <p:attrName>ppt_x</p:attrName>
                                        </p:attrNameLst>
                                      </p:cBhvr>
                                      <p:tavLst>
                                        <p:tav tm="0">
                                          <p:val>
                                            <p:strVal val="#ppt_x"/>
                                          </p:val>
                                        </p:tav>
                                        <p:tav tm="100000">
                                          <p:val>
                                            <p:strVal val="#ppt_x"/>
                                          </p:val>
                                        </p:tav>
                                      </p:tavLst>
                                    </p:anim>
                                    <p:anim calcmode="lin" valueType="num">
                                      <p:cBhvr additive="base">
                                        <p:cTn id="26" dur="500" fill="hold"/>
                                        <p:tgtEl>
                                          <p:spTgt spid="2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500" fill="hold"/>
                                        <p:tgtEl>
                                          <p:spTgt spid="21"/>
                                        </p:tgtEl>
                                        <p:attrNameLst>
                                          <p:attrName>ppt_x</p:attrName>
                                        </p:attrNameLst>
                                      </p:cBhvr>
                                      <p:tavLst>
                                        <p:tav tm="0">
                                          <p:val>
                                            <p:strVal val="#ppt_x"/>
                                          </p:val>
                                        </p:tav>
                                        <p:tav tm="100000">
                                          <p:val>
                                            <p:strVal val="#ppt_x"/>
                                          </p:val>
                                        </p:tav>
                                      </p:tavLst>
                                    </p:anim>
                                    <p:anim calcmode="lin" valueType="num">
                                      <p:cBhvr additive="base">
                                        <p:cTn id="3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1000"/>
                                        <p:tgtEl>
                                          <p:spTgt spid="11"/>
                                        </p:tgtEl>
                                      </p:cBhvr>
                                    </p:animEffect>
                                    <p:anim calcmode="lin" valueType="num">
                                      <p:cBhvr>
                                        <p:cTn id="36" dur="1000" fill="hold"/>
                                        <p:tgtEl>
                                          <p:spTgt spid="11"/>
                                        </p:tgtEl>
                                        <p:attrNameLst>
                                          <p:attrName>ppt_x</p:attrName>
                                        </p:attrNameLst>
                                      </p:cBhvr>
                                      <p:tavLst>
                                        <p:tav tm="0">
                                          <p:val>
                                            <p:strVal val="#ppt_x"/>
                                          </p:val>
                                        </p:tav>
                                        <p:tav tm="100000">
                                          <p:val>
                                            <p:strVal val="#ppt_x"/>
                                          </p:val>
                                        </p:tav>
                                      </p:tavLst>
                                    </p:anim>
                                    <p:anim calcmode="lin" valueType="num">
                                      <p:cBhvr>
                                        <p:cTn id="37" dur="1000" fill="hold"/>
                                        <p:tgtEl>
                                          <p:spTgt spid="11"/>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1000"/>
                                        <p:tgtEl>
                                          <p:spTgt spid="29"/>
                                        </p:tgtEl>
                                      </p:cBhvr>
                                    </p:animEffect>
                                    <p:anim calcmode="lin" valueType="num">
                                      <p:cBhvr>
                                        <p:cTn id="41" dur="1000" fill="hold"/>
                                        <p:tgtEl>
                                          <p:spTgt spid="29"/>
                                        </p:tgtEl>
                                        <p:attrNameLst>
                                          <p:attrName>ppt_x</p:attrName>
                                        </p:attrNameLst>
                                      </p:cBhvr>
                                      <p:tavLst>
                                        <p:tav tm="0">
                                          <p:val>
                                            <p:strVal val="#ppt_x"/>
                                          </p:val>
                                        </p:tav>
                                        <p:tav tm="100000">
                                          <p:val>
                                            <p:strVal val="#ppt_x"/>
                                          </p:val>
                                        </p:tav>
                                      </p:tavLst>
                                    </p:anim>
                                    <p:anim calcmode="lin" valueType="num">
                                      <p:cBhvr>
                                        <p:cTn id="42" dur="1000" fill="hold"/>
                                        <p:tgtEl>
                                          <p:spTgt spid="29"/>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1000"/>
                                        <p:tgtEl>
                                          <p:spTgt spid="23"/>
                                        </p:tgtEl>
                                      </p:cBhvr>
                                    </p:animEffect>
                                    <p:anim calcmode="lin" valueType="num">
                                      <p:cBhvr>
                                        <p:cTn id="46" dur="1000" fill="hold"/>
                                        <p:tgtEl>
                                          <p:spTgt spid="23"/>
                                        </p:tgtEl>
                                        <p:attrNameLst>
                                          <p:attrName>ppt_x</p:attrName>
                                        </p:attrNameLst>
                                      </p:cBhvr>
                                      <p:tavLst>
                                        <p:tav tm="0">
                                          <p:val>
                                            <p:strVal val="#ppt_x"/>
                                          </p:val>
                                        </p:tav>
                                        <p:tav tm="100000">
                                          <p:val>
                                            <p:strVal val="#ppt_x"/>
                                          </p:val>
                                        </p:tav>
                                      </p:tavLst>
                                    </p:anim>
                                    <p:anim calcmode="lin" valueType="num">
                                      <p:cBhvr>
                                        <p:cTn id="47"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par>
                                <p:cTn id="53" presetID="10" presetClass="entr" presetSubtype="0" fill="hold"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500"/>
                                        <p:tgtEl>
                                          <p:spTgt spid="3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3"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9334500" y="5429250"/>
            <a:ext cx="1905000" cy="1905000"/>
          </a:xfrm>
          <a:prstGeom prst="rect">
            <a:avLst/>
          </a:prstGeom>
        </p:spPr>
      </p:pic>
      <p:pic>
        <p:nvPicPr>
          <p:cNvPr id="5" name="Image 3" descr="preencoded.png"/>
          <p:cNvPicPr>
            <a:picLocks noChangeAspect="1"/>
          </p:cNvPicPr>
          <p:nvPr/>
        </p:nvPicPr>
        <p:blipFill>
          <a:blip r:embed="rId6"/>
          <a:stretch>
            <a:fillRect/>
          </a:stretch>
        </p:blipFill>
        <p:spPr>
          <a:xfrm>
            <a:off x="0" y="0"/>
            <a:ext cx="12192000" cy="685800"/>
          </a:xfrm>
          <a:prstGeom prst="rect">
            <a:avLst/>
          </a:prstGeom>
        </p:spPr>
      </p:pic>
      <p:pic>
        <p:nvPicPr>
          <p:cNvPr id="6" name="Image 4" descr="preencoded.png"/>
          <p:cNvPicPr>
            <a:picLocks noChangeAspect="1"/>
          </p:cNvPicPr>
          <p:nvPr/>
        </p:nvPicPr>
        <p:blipFill>
          <a:blip r:embed="rId7"/>
          <a:stretch>
            <a:fillRect/>
          </a:stretch>
        </p:blipFill>
        <p:spPr>
          <a:xfrm>
            <a:off x="381000" y="1066800"/>
            <a:ext cx="5562600" cy="1828800"/>
          </a:xfrm>
          <a:prstGeom prst="rect">
            <a:avLst/>
          </a:prstGeom>
        </p:spPr>
      </p:pic>
      <p:pic>
        <p:nvPicPr>
          <p:cNvPr id="8" name="Image 6" descr="preencoded.png"/>
          <p:cNvPicPr>
            <a:picLocks noChangeAspect="1"/>
          </p:cNvPicPr>
          <p:nvPr/>
        </p:nvPicPr>
        <p:blipFill>
          <a:blip r:embed="rId7"/>
          <a:stretch>
            <a:fillRect/>
          </a:stretch>
        </p:blipFill>
        <p:spPr>
          <a:xfrm>
            <a:off x="6248400" y="1066800"/>
            <a:ext cx="5562600" cy="1828800"/>
          </a:xfrm>
          <a:prstGeom prst="rect">
            <a:avLst/>
          </a:prstGeom>
        </p:spPr>
      </p:pic>
      <p:pic>
        <p:nvPicPr>
          <p:cNvPr id="10" name="Image 8" descr="preencoded.png"/>
          <p:cNvPicPr>
            <a:picLocks noChangeAspect="1"/>
          </p:cNvPicPr>
          <p:nvPr/>
        </p:nvPicPr>
        <p:blipFill>
          <a:blip r:embed="rId8"/>
          <a:stretch>
            <a:fillRect/>
          </a:stretch>
        </p:blipFill>
        <p:spPr>
          <a:xfrm>
            <a:off x="381000" y="3200400"/>
            <a:ext cx="11430000" cy="3124200"/>
          </a:xfrm>
          <a:prstGeom prst="rect">
            <a:avLst/>
          </a:prstGeom>
        </p:spPr>
      </p:pic>
      <p:pic>
        <p:nvPicPr>
          <p:cNvPr id="12" name="Image 10" descr="preencoded.png"/>
          <p:cNvPicPr>
            <a:picLocks noChangeAspect="1"/>
          </p:cNvPicPr>
          <p:nvPr/>
        </p:nvPicPr>
        <p:blipFill>
          <a:blip r:embed="rId9"/>
          <a:stretch>
            <a:fillRect/>
          </a:stretch>
        </p:blipFill>
        <p:spPr>
          <a:xfrm>
            <a:off x="609600" y="4000500"/>
            <a:ext cx="3505200" cy="1600200"/>
          </a:xfrm>
          <a:prstGeom prst="rect">
            <a:avLst/>
          </a:prstGeom>
        </p:spPr>
      </p:pic>
      <p:pic>
        <p:nvPicPr>
          <p:cNvPr id="14" name="Image 12" descr="preencoded.png"/>
          <p:cNvPicPr>
            <a:picLocks noChangeAspect="1"/>
          </p:cNvPicPr>
          <p:nvPr/>
        </p:nvPicPr>
        <p:blipFill>
          <a:blip r:embed="rId9"/>
          <a:stretch>
            <a:fillRect/>
          </a:stretch>
        </p:blipFill>
        <p:spPr>
          <a:xfrm>
            <a:off x="4343400" y="4000500"/>
            <a:ext cx="3505200" cy="1600200"/>
          </a:xfrm>
          <a:prstGeom prst="rect">
            <a:avLst/>
          </a:prstGeom>
        </p:spPr>
      </p:pic>
      <p:pic>
        <p:nvPicPr>
          <p:cNvPr id="16" name="Image 14" descr="preencoded.png"/>
          <p:cNvPicPr>
            <a:picLocks noChangeAspect="1"/>
          </p:cNvPicPr>
          <p:nvPr/>
        </p:nvPicPr>
        <p:blipFill>
          <a:blip r:embed="rId9"/>
          <a:stretch>
            <a:fillRect/>
          </a:stretch>
        </p:blipFill>
        <p:spPr>
          <a:xfrm>
            <a:off x="8077200" y="4000500"/>
            <a:ext cx="3505200" cy="1600200"/>
          </a:xfrm>
          <a:prstGeom prst="rect">
            <a:avLst/>
          </a:prstGeom>
        </p:spPr>
      </p:pic>
      <p:sp>
        <p:nvSpPr>
          <p:cNvPr id="18" name="Text 0"/>
          <p:cNvSpPr/>
          <p:nvPr/>
        </p:nvSpPr>
        <p:spPr>
          <a:xfrm>
            <a:off x="381000" y="152400"/>
            <a:ext cx="11430000" cy="381000"/>
          </a:xfrm>
          <a:prstGeom prst="rect">
            <a:avLst/>
          </a:prstGeom>
          <a:noFill/>
          <a:ln/>
        </p:spPr>
        <p:txBody>
          <a:bodyPr vert="horz" wrap="square" lIns="0" tIns="0" rIns="0" bIns="0" rtlCol="0" anchor="t"/>
          <a:lstStyle/>
          <a:p>
            <a:pPr marL="0" indent="0">
              <a:lnSpc>
                <a:spcPts val="3000"/>
              </a:lnSpc>
              <a:buNone/>
            </a:pPr>
            <a:r>
              <a:rPr lang="en-US" sz="3600" b="1" dirty="0">
                <a:solidFill>
                  <a:srgbClr val="FFFFFF"/>
                </a:solidFill>
                <a:latin typeface="ui-sans-serif" pitchFamily="34" charset="0"/>
                <a:ea typeface="ui-sans-serif" pitchFamily="34" charset="-122"/>
                <a:cs typeface="ui-sans-serif" pitchFamily="34" charset="-120"/>
              </a:rPr>
              <a:t>Target Market Selection</a:t>
            </a:r>
            <a:endParaRPr lang="en-US" sz="3600" dirty="0"/>
          </a:p>
        </p:txBody>
      </p:sp>
      <p:grpSp>
        <p:nvGrpSpPr>
          <p:cNvPr id="33" name="Group 32">
            <a:extLst>
              <a:ext uri="{FF2B5EF4-FFF2-40B4-BE49-F238E27FC236}">
                <a16:creationId xmlns:a16="http://schemas.microsoft.com/office/drawing/2014/main" id="{1147101F-FB6B-C6FE-C8AA-65873FBC9973}"/>
              </a:ext>
            </a:extLst>
          </p:cNvPr>
          <p:cNvGrpSpPr/>
          <p:nvPr/>
        </p:nvGrpSpPr>
        <p:grpSpPr>
          <a:xfrm>
            <a:off x="609600" y="1234440"/>
            <a:ext cx="2678370" cy="342900"/>
            <a:chOff x="609600" y="1295400"/>
            <a:chExt cx="2678370" cy="342900"/>
          </a:xfrm>
        </p:grpSpPr>
        <p:pic>
          <p:nvPicPr>
            <p:cNvPr id="7" name="Image 5" descr="preencoded.png"/>
            <p:cNvPicPr>
              <a:picLocks noChangeAspect="1"/>
            </p:cNvPicPr>
            <p:nvPr/>
          </p:nvPicPr>
          <p:blipFill>
            <a:blip r:embed="rId10"/>
            <a:stretch>
              <a:fillRect/>
            </a:stretch>
          </p:blipFill>
          <p:spPr>
            <a:xfrm>
              <a:off x="609600" y="1295400"/>
              <a:ext cx="219075" cy="342900"/>
            </a:xfrm>
            <a:prstGeom prst="rect">
              <a:avLst/>
            </a:prstGeom>
          </p:spPr>
        </p:pic>
        <p:sp>
          <p:nvSpPr>
            <p:cNvPr id="19" name="Text 1"/>
            <p:cNvSpPr/>
            <p:nvPr/>
          </p:nvSpPr>
          <p:spPr>
            <a:xfrm>
              <a:off x="981075" y="1314450"/>
              <a:ext cx="2306895" cy="304800"/>
            </a:xfrm>
            <a:prstGeom prst="rect">
              <a:avLst/>
            </a:prstGeom>
            <a:noFill/>
            <a:ln/>
          </p:spPr>
          <p:txBody>
            <a:bodyPr vert="horz" wrap="square" lIns="0" tIns="0" rIns="0" bIns="0" rtlCol="0" anchor="t"/>
            <a:lstStyle/>
            <a:p>
              <a:pPr marL="0" indent="0">
                <a:lnSpc>
                  <a:spcPts val="2400"/>
                </a:lnSpc>
                <a:buNone/>
              </a:pPr>
              <a:r>
                <a:rPr lang="en-US" sz="2400" b="1" dirty="0">
                  <a:solidFill>
                    <a:srgbClr val="1F2937"/>
                  </a:solidFill>
                  <a:latin typeface="ui-sans-serif" pitchFamily="34" charset="0"/>
                  <a:ea typeface="ui-sans-serif" pitchFamily="34" charset="-122"/>
                  <a:cs typeface="ui-sans-serif" pitchFamily="34" charset="-120"/>
                </a:rPr>
                <a:t>Target Country</a:t>
              </a:r>
              <a:endParaRPr lang="en-US" sz="2400" dirty="0"/>
            </a:p>
          </p:txBody>
        </p:sp>
      </p:grpSp>
      <p:sp>
        <p:nvSpPr>
          <p:cNvPr id="20" name="Text 2"/>
          <p:cNvSpPr/>
          <p:nvPr/>
        </p:nvSpPr>
        <p:spPr>
          <a:xfrm>
            <a:off x="609600" y="1790700"/>
            <a:ext cx="5105400" cy="30099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Our primary target market is </a:t>
            </a:r>
            <a:r>
              <a:rPr lang="en-US" sz="1500" b="1" dirty="0">
                <a:solidFill>
                  <a:srgbClr val="374151"/>
                </a:solidFill>
                <a:latin typeface="ui-sans-serif" pitchFamily="34" charset="0"/>
                <a:ea typeface="ui-sans-serif" pitchFamily="34" charset="-122"/>
                <a:cs typeface="ui-sans-serif" pitchFamily="34" charset="-120"/>
              </a:rPr>
              <a:t>[Chosen Country]</a:t>
            </a:r>
            <a:r>
              <a:rPr lang="en-US" sz="1500" dirty="0">
                <a:solidFill>
                  <a:srgbClr val="374151"/>
                </a:solidFill>
                <a:latin typeface="ui-sans-serif" pitchFamily="34" charset="0"/>
                <a:ea typeface="ui-sans-serif" pitchFamily="34" charset="-122"/>
                <a:cs typeface="ui-sans-serif" pitchFamily="34" charset="-120"/>
              </a:rPr>
              <a:t>.</a:t>
            </a:r>
            <a:endParaRPr lang="en-US" sz="1500" dirty="0"/>
          </a:p>
        </p:txBody>
      </p:sp>
      <p:sp>
        <p:nvSpPr>
          <p:cNvPr id="21" name="Text 3"/>
          <p:cNvSpPr/>
          <p:nvPr/>
        </p:nvSpPr>
        <p:spPr>
          <a:xfrm>
            <a:off x="609600" y="2133600"/>
            <a:ext cx="5105400" cy="533400"/>
          </a:xfrm>
          <a:prstGeom prst="rect">
            <a:avLst/>
          </a:prstGeom>
          <a:noFill/>
          <a:ln/>
        </p:spPr>
        <p:txBody>
          <a:bodyPr vert="horz" wrap="square" lIns="0" tIns="0" rIns="0" bIns="0" rtlCol="0" anchor="t"/>
          <a:lstStyle/>
          <a:p>
            <a:pPr marL="0" indent="0">
              <a:lnSpc>
                <a:spcPts val="2100"/>
              </a:lnSpc>
              <a:buNone/>
            </a:pPr>
            <a:r>
              <a:rPr lang="en-US" sz="1400" dirty="0">
                <a:solidFill>
                  <a:srgbClr val="374151"/>
                </a:solidFill>
                <a:latin typeface="ui-sans-serif" pitchFamily="34" charset="0"/>
                <a:ea typeface="ui-sans-serif" pitchFamily="34" charset="-122"/>
                <a:cs typeface="ui-sans-serif" pitchFamily="34" charset="-120"/>
              </a:rPr>
              <a:t>This selection is based on comprehensive market research and analysis of export opportunities.</a:t>
            </a:r>
            <a:endParaRPr lang="en-US" sz="1400" dirty="0"/>
          </a:p>
        </p:txBody>
      </p:sp>
      <p:grpSp>
        <p:nvGrpSpPr>
          <p:cNvPr id="34" name="Group 33">
            <a:extLst>
              <a:ext uri="{FF2B5EF4-FFF2-40B4-BE49-F238E27FC236}">
                <a16:creationId xmlns:a16="http://schemas.microsoft.com/office/drawing/2014/main" id="{75377BFC-31B6-A6CC-3D9C-F0F98AF8BA41}"/>
              </a:ext>
            </a:extLst>
          </p:cNvPr>
          <p:cNvGrpSpPr/>
          <p:nvPr/>
        </p:nvGrpSpPr>
        <p:grpSpPr>
          <a:xfrm>
            <a:off x="6477000" y="1234440"/>
            <a:ext cx="3474899" cy="342900"/>
            <a:chOff x="6477000" y="1295400"/>
            <a:chExt cx="3474899" cy="342900"/>
          </a:xfrm>
        </p:grpSpPr>
        <p:pic>
          <p:nvPicPr>
            <p:cNvPr id="9" name="Image 7" descr="preencoded.png"/>
            <p:cNvPicPr>
              <a:picLocks noChangeAspect="1"/>
            </p:cNvPicPr>
            <p:nvPr/>
          </p:nvPicPr>
          <p:blipFill>
            <a:blip r:embed="rId11"/>
            <a:stretch>
              <a:fillRect/>
            </a:stretch>
          </p:blipFill>
          <p:spPr>
            <a:xfrm>
              <a:off x="6477000" y="1295400"/>
              <a:ext cx="361950" cy="342900"/>
            </a:xfrm>
            <a:prstGeom prst="rect">
              <a:avLst/>
            </a:prstGeom>
          </p:spPr>
        </p:pic>
        <p:sp>
          <p:nvSpPr>
            <p:cNvPr id="22" name="Text 4"/>
            <p:cNvSpPr/>
            <p:nvPr/>
          </p:nvSpPr>
          <p:spPr>
            <a:xfrm>
              <a:off x="6991350" y="1314450"/>
              <a:ext cx="2960549" cy="304800"/>
            </a:xfrm>
            <a:prstGeom prst="rect">
              <a:avLst/>
            </a:prstGeom>
            <a:noFill/>
            <a:ln/>
          </p:spPr>
          <p:txBody>
            <a:bodyPr vert="horz" wrap="square" lIns="0" tIns="0" rIns="0" bIns="0" rtlCol="0" anchor="t"/>
            <a:lstStyle/>
            <a:p>
              <a:pPr marL="0" indent="0">
                <a:lnSpc>
                  <a:spcPts val="2400"/>
                </a:lnSpc>
                <a:buNone/>
              </a:pPr>
              <a:r>
                <a:rPr lang="en-US" sz="2400" b="1" dirty="0">
                  <a:solidFill>
                    <a:srgbClr val="1F2937"/>
                  </a:solidFill>
                  <a:latin typeface="ui-sans-serif" pitchFamily="34" charset="0"/>
                  <a:ea typeface="ui-sans-serif" pitchFamily="34" charset="-122"/>
                  <a:cs typeface="ui-sans-serif" pitchFamily="34" charset="-120"/>
                </a:rPr>
                <a:t>Customer Segment</a:t>
              </a:r>
              <a:endParaRPr lang="en-US" sz="2400" dirty="0"/>
            </a:p>
          </p:txBody>
        </p:sp>
      </p:grpSp>
      <p:sp>
        <p:nvSpPr>
          <p:cNvPr id="23" name="Text 5"/>
          <p:cNvSpPr/>
          <p:nvPr/>
        </p:nvSpPr>
        <p:spPr>
          <a:xfrm>
            <a:off x="6477000" y="1790700"/>
            <a:ext cx="5105400" cy="30099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We will focus on </a:t>
            </a:r>
            <a:r>
              <a:rPr lang="en-US" sz="1500" b="1" dirty="0">
                <a:solidFill>
                  <a:srgbClr val="374151"/>
                </a:solidFill>
                <a:latin typeface="ui-sans-serif" pitchFamily="34" charset="0"/>
                <a:ea typeface="ui-sans-serif" pitchFamily="34" charset="-122"/>
                <a:cs typeface="ui-sans-serif" pitchFamily="34" charset="-120"/>
              </a:rPr>
              <a:t>[Specific Customer Segment]</a:t>
            </a:r>
            <a:r>
              <a:rPr lang="en-US" sz="1500" dirty="0">
                <a:solidFill>
                  <a:srgbClr val="374151"/>
                </a:solidFill>
                <a:latin typeface="ui-sans-serif" pitchFamily="34" charset="0"/>
                <a:ea typeface="ui-sans-serif" pitchFamily="34" charset="-122"/>
                <a:cs typeface="ui-sans-serif" pitchFamily="34" charset="-120"/>
              </a:rPr>
              <a:t>.</a:t>
            </a:r>
            <a:endParaRPr lang="en-US" sz="1500" dirty="0"/>
          </a:p>
        </p:txBody>
      </p:sp>
      <p:sp>
        <p:nvSpPr>
          <p:cNvPr id="24" name="Text 6"/>
          <p:cNvSpPr/>
          <p:nvPr/>
        </p:nvSpPr>
        <p:spPr>
          <a:xfrm>
            <a:off x="6477000" y="2133600"/>
            <a:ext cx="5105400" cy="533400"/>
          </a:xfrm>
          <a:prstGeom prst="rect">
            <a:avLst/>
          </a:prstGeom>
          <a:noFill/>
          <a:ln/>
        </p:spPr>
        <p:txBody>
          <a:bodyPr vert="horz" wrap="square" lIns="0" tIns="0" rIns="0" bIns="0" rtlCol="0" anchor="t"/>
          <a:lstStyle/>
          <a:p>
            <a:pPr marL="0" indent="0">
              <a:lnSpc>
                <a:spcPts val="2100"/>
              </a:lnSpc>
              <a:buNone/>
            </a:pPr>
            <a:r>
              <a:rPr lang="en-US" sz="1400" dirty="0">
                <a:solidFill>
                  <a:srgbClr val="374151"/>
                </a:solidFill>
                <a:latin typeface="ui-sans-serif" pitchFamily="34" charset="0"/>
                <a:ea typeface="ui-sans-serif" pitchFamily="34" charset="-122"/>
                <a:cs typeface="ui-sans-serif" pitchFamily="34" charset="-120"/>
              </a:rPr>
              <a:t>This segment shows the highest potential for our product and aligns with our core business focus.</a:t>
            </a:r>
            <a:endParaRPr lang="en-US" sz="1400" dirty="0"/>
          </a:p>
        </p:txBody>
      </p:sp>
      <p:grpSp>
        <p:nvGrpSpPr>
          <p:cNvPr id="35" name="Group 34">
            <a:extLst>
              <a:ext uri="{FF2B5EF4-FFF2-40B4-BE49-F238E27FC236}">
                <a16:creationId xmlns:a16="http://schemas.microsoft.com/office/drawing/2014/main" id="{481FE04C-77CD-4800-A43A-D83DB627F987}"/>
              </a:ext>
            </a:extLst>
          </p:cNvPr>
          <p:cNvGrpSpPr/>
          <p:nvPr/>
        </p:nvGrpSpPr>
        <p:grpSpPr>
          <a:xfrm>
            <a:off x="609600" y="3317240"/>
            <a:ext cx="5023604" cy="342900"/>
            <a:chOff x="609600" y="3317240"/>
            <a:chExt cx="5023604" cy="342900"/>
          </a:xfrm>
        </p:grpSpPr>
        <p:pic>
          <p:nvPicPr>
            <p:cNvPr id="11" name="Image 9" descr="preencoded.png"/>
            <p:cNvPicPr>
              <a:picLocks noChangeAspect="1"/>
            </p:cNvPicPr>
            <p:nvPr/>
          </p:nvPicPr>
          <p:blipFill>
            <a:blip r:embed="rId12"/>
            <a:stretch>
              <a:fillRect/>
            </a:stretch>
          </p:blipFill>
          <p:spPr>
            <a:xfrm>
              <a:off x="609600" y="3317240"/>
              <a:ext cx="323850" cy="342900"/>
            </a:xfrm>
            <a:prstGeom prst="rect">
              <a:avLst/>
            </a:prstGeom>
          </p:spPr>
        </p:pic>
        <p:sp>
          <p:nvSpPr>
            <p:cNvPr id="25" name="Text 7"/>
            <p:cNvSpPr/>
            <p:nvPr/>
          </p:nvSpPr>
          <p:spPr>
            <a:xfrm>
              <a:off x="1085850" y="3336290"/>
              <a:ext cx="4547354" cy="304800"/>
            </a:xfrm>
            <a:prstGeom prst="rect">
              <a:avLst/>
            </a:prstGeom>
            <a:noFill/>
            <a:ln/>
          </p:spPr>
          <p:txBody>
            <a:bodyPr vert="horz" wrap="square" lIns="0" tIns="0" rIns="0" bIns="0" rtlCol="0" anchor="t"/>
            <a:lstStyle/>
            <a:p>
              <a:pPr marL="0" indent="0">
                <a:lnSpc>
                  <a:spcPts val="2400"/>
                </a:lnSpc>
                <a:buNone/>
              </a:pPr>
              <a:r>
                <a:rPr lang="en-US" sz="2400" b="1" dirty="0">
                  <a:solidFill>
                    <a:srgbClr val="1F2937"/>
                  </a:solidFill>
                  <a:latin typeface="ui-sans-serif" pitchFamily="34" charset="0"/>
                  <a:ea typeface="ui-sans-serif" pitchFamily="34" charset="-122"/>
                  <a:cs typeface="ui-sans-serif" pitchFamily="34" charset="-120"/>
                </a:rPr>
                <a:t>Market Research Justification</a:t>
              </a:r>
              <a:endParaRPr lang="en-US" sz="2400" dirty="0"/>
            </a:p>
          </p:txBody>
        </p:sp>
      </p:grpSp>
      <p:grpSp>
        <p:nvGrpSpPr>
          <p:cNvPr id="36" name="Group 35">
            <a:extLst>
              <a:ext uri="{FF2B5EF4-FFF2-40B4-BE49-F238E27FC236}">
                <a16:creationId xmlns:a16="http://schemas.microsoft.com/office/drawing/2014/main" id="{83522AEE-762B-6E4F-6E10-8E83A6A2A3E2}"/>
              </a:ext>
            </a:extLst>
          </p:cNvPr>
          <p:cNvGrpSpPr/>
          <p:nvPr/>
        </p:nvGrpSpPr>
        <p:grpSpPr>
          <a:xfrm>
            <a:off x="762000" y="3776980"/>
            <a:ext cx="1858268" cy="304800"/>
            <a:chOff x="762000" y="3776980"/>
            <a:chExt cx="1858268" cy="304800"/>
          </a:xfrm>
        </p:grpSpPr>
        <p:pic>
          <p:nvPicPr>
            <p:cNvPr id="13" name="Image 11" descr="preencoded.png"/>
            <p:cNvPicPr>
              <a:picLocks noChangeAspect="1"/>
            </p:cNvPicPr>
            <p:nvPr/>
          </p:nvPicPr>
          <p:blipFill>
            <a:blip r:embed="rId13"/>
            <a:stretch>
              <a:fillRect/>
            </a:stretch>
          </p:blipFill>
          <p:spPr>
            <a:xfrm>
              <a:off x="762000" y="3776980"/>
              <a:ext cx="228600" cy="304800"/>
            </a:xfrm>
            <a:prstGeom prst="rect">
              <a:avLst/>
            </a:prstGeom>
          </p:spPr>
        </p:pic>
        <p:sp>
          <p:nvSpPr>
            <p:cNvPr id="26" name="Text 8"/>
            <p:cNvSpPr/>
            <p:nvPr/>
          </p:nvSpPr>
          <p:spPr>
            <a:xfrm>
              <a:off x="1104900" y="3796030"/>
              <a:ext cx="1515368" cy="266700"/>
            </a:xfrm>
            <a:prstGeom prst="rect">
              <a:avLst/>
            </a:prstGeom>
            <a:noFill/>
            <a:ln/>
          </p:spPr>
          <p:txBody>
            <a:bodyPr vert="horz" wrap="square" lIns="0" tIns="0" rIns="0" bIns="0" rtlCol="0" anchor="t"/>
            <a:lstStyle/>
            <a:p>
              <a:pPr marL="0" indent="0">
                <a:lnSpc>
                  <a:spcPts val="2100"/>
                </a:lnSpc>
                <a:buNone/>
              </a:pPr>
              <a:r>
                <a:rPr lang="en-US" b="1" dirty="0">
                  <a:solidFill>
                    <a:srgbClr val="1F2937"/>
                  </a:solidFill>
                  <a:latin typeface="ui-sans-serif" pitchFamily="34" charset="0"/>
                  <a:ea typeface="ui-sans-serif" pitchFamily="34" charset="-122"/>
                  <a:cs typeface="ui-sans-serif" pitchFamily="34" charset="-120"/>
                </a:rPr>
                <a:t>Market Size</a:t>
              </a:r>
              <a:endParaRPr lang="en-US" dirty="0"/>
            </a:p>
          </p:txBody>
        </p:sp>
      </p:grpSp>
      <p:sp>
        <p:nvSpPr>
          <p:cNvPr id="27" name="Text 9"/>
          <p:cNvSpPr/>
          <p:nvPr/>
        </p:nvSpPr>
        <p:spPr>
          <a:xfrm>
            <a:off x="771525" y="4217670"/>
            <a:ext cx="3200400" cy="685800"/>
          </a:xfrm>
          <a:prstGeom prst="rect">
            <a:avLst/>
          </a:prstGeom>
          <a:noFill/>
          <a:ln/>
        </p:spPr>
        <p:txBody>
          <a:bodyPr vert="horz" wrap="square" lIns="0" tIns="0" rIns="0" bIns="0" rtlCol="0" anchor="t"/>
          <a:lstStyle/>
          <a:p>
            <a:pPr marL="0" indent="0">
              <a:lnSpc>
                <a:spcPts val="1800"/>
              </a:lnSpc>
              <a:buNone/>
            </a:pPr>
            <a:r>
              <a:rPr lang="en-US" sz="1400" dirty="0">
                <a:solidFill>
                  <a:srgbClr val="374151"/>
                </a:solidFill>
                <a:latin typeface="ui-sans-serif" pitchFamily="34" charset="0"/>
                <a:ea typeface="ui-sans-serif" pitchFamily="34" charset="-122"/>
                <a:cs typeface="ui-sans-serif" pitchFamily="34" charset="-120"/>
              </a:rPr>
              <a:t>The market for [product type] in [Chosen Country] is projected to reach [$500 million] by [year].</a:t>
            </a:r>
            <a:endParaRPr lang="en-US" sz="1400" dirty="0"/>
          </a:p>
        </p:txBody>
      </p:sp>
      <p:grpSp>
        <p:nvGrpSpPr>
          <p:cNvPr id="37" name="Group 36">
            <a:extLst>
              <a:ext uri="{FF2B5EF4-FFF2-40B4-BE49-F238E27FC236}">
                <a16:creationId xmlns:a16="http://schemas.microsoft.com/office/drawing/2014/main" id="{4E38D83E-2F64-A16B-DFA7-A77F3B27A2E1}"/>
              </a:ext>
            </a:extLst>
          </p:cNvPr>
          <p:cNvGrpSpPr/>
          <p:nvPr/>
        </p:nvGrpSpPr>
        <p:grpSpPr>
          <a:xfrm>
            <a:off x="4495800" y="3776980"/>
            <a:ext cx="2408515" cy="304800"/>
            <a:chOff x="4495800" y="3776980"/>
            <a:chExt cx="2408515" cy="304800"/>
          </a:xfrm>
        </p:grpSpPr>
        <p:pic>
          <p:nvPicPr>
            <p:cNvPr id="15" name="Image 13" descr="preencoded.png"/>
            <p:cNvPicPr>
              <a:picLocks noChangeAspect="1"/>
            </p:cNvPicPr>
            <p:nvPr/>
          </p:nvPicPr>
          <p:blipFill>
            <a:blip r:embed="rId14"/>
            <a:stretch>
              <a:fillRect/>
            </a:stretch>
          </p:blipFill>
          <p:spPr>
            <a:xfrm>
              <a:off x="4495800" y="3776980"/>
              <a:ext cx="257175" cy="304800"/>
            </a:xfrm>
            <a:prstGeom prst="rect">
              <a:avLst/>
            </a:prstGeom>
          </p:spPr>
        </p:pic>
        <p:sp>
          <p:nvSpPr>
            <p:cNvPr id="28" name="Text 10"/>
            <p:cNvSpPr/>
            <p:nvPr/>
          </p:nvSpPr>
          <p:spPr>
            <a:xfrm>
              <a:off x="4867275" y="3796030"/>
              <a:ext cx="2037040" cy="266700"/>
            </a:xfrm>
            <a:prstGeom prst="rect">
              <a:avLst/>
            </a:prstGeom>
            <a:noFill/>
            <a:ln/>
          </p:spPr>
          <p:txBody>
            <a:bodyPr vert="horz" wrap="square" lIns="0" tIns="0" rIns="0" bIns="0" rtlCol="0" anchor="t"/>
            <a:lstStyle/>
            <a:p>
              <a:pPr marL="0" indent="0">
                <a:lnSpc>
                  <a:spcPts val="2100"/>
                </a:lnSpc>
                <a:buNone/>
              </a:pPr>
              <a:r>
                <a:rPr lang="en-US" b="1" dirty="0">
                  <a:solidFill>
                    <a:srgbClr val="1F2937"/>
                  </a:solidFill>
                  <a:latin typeface="ui-sans-serif" pitchFamily="34" charset="0"/>
                  <a:ea typeface="ui-sans-serif" pitchFamily="34" charset="-122"/>
                  <a:cs typeface="ui-sans-serif" pitchFamily="34" charset="-120"/>
                </a:rPr>
                <a:t>Consumer Need</a:t>
              </a:r>
              <a:endParaRPr lang="en-US" dirty="0"/>
            </a:p>
          </p:txBody>
        </p:sp>
      </p:grpSp>
      <p:sp>
        <p:nvSpPr>
          <p:cNvPr id="29" name="Text 11"/>
          <p:cNvSpPr/>
          <p:nvPr/>
        </p:nvSpPr>
        <p:spPr>
          <a:xfrm>
            <a:off x="4495800" y="4198620"/>
            <a:ext cx="3200400" cy="914400"/>
          </a:xfrm>
          <a:prstGeom prst="rect">
            <a:avLst/>
          </a:prstGeom>
          <a:noFill/>
          <a:ln/>
        </p:spPr>
        <p:txBody>
          <a:bodyPr vert="horz" wrap="square" lIns="0" tIns="0" rIns="0" bIns="0" rtlCol="0" anchor="t"/>
          <a:lstStyle/>
          <a:p>
            <a:pPr marL="0" indent="0">
              <a:lnSpc>
                <a:spcPts val="1800"/>
              </a:lnSpc>
              <a:buNone/>
            </a:pPr>
            <a:r>
              <a:rPr lang="en-US" sz="1400" dirty="0">
                <a:solidFill>
                  <a:srgbClr val="374151"/>
                </a:solidFill>
                <a:latin typeface="ui-sans-serif" pitchFamily="34" charset="0"/>
                <a:ea typeface="ui-sans-serif" pitchFamily="34" charset="-122"/>
                <a:cs typeface="ui-sans-serif" pitchFamily="34" charset="-120"/>
              </a:rPr>
              <a:t>Strong demand for [specific need/preference] among the target segment, which our product directly addresses.</a:t>
            </a:r>
            <a:endParaRPr lang="en-US" sz="1400" dirty="0"/>
          </a:p>
        </p:txBody>
      </p:sp>
      <p:grpSp>
        <p:nvGrpSpPr>
          <p:cNvPr id="38" name="Group 37">
            <a:extLst>
              <a:ext uri="{FF2B5EF4-FFF2-40B4-BE49-F238E27FC236}">
                <a16:creationId xmlns:a16="http://schemas.microsoft.com/office/drawing/2014/main" id="{43620799-A60E-4407-DAF2-81B23DEEEEF5}"/>
              </a:ext>
            </a:extLst>
          </p:cNvPr>
          <p:cNvGrpSpPr/>
          <p:nvPr/>
        </p:nvGrpSpPr>
        <p:grpSpPr>
          <a:xfrm>
            <a:off x="8229600" y="3776980"/>
            <a:ext cx="1540193" cy="304800"/>
            <a:chOff x="8229600" y="3776980"/>
            <a:chExt cx="1540193" cy="304800"/>
          </a:xfrm>
        </p:grpSpPr>
        <p:pic>
          <p:nvPicPr>
            <p:cNvPr id="17" name="Image 15" descr="preencoded.png"/>
            <p:cNvPicPr>
              <a:picLocks noChangeAspect="1"/>
            </p:cNvPicPr>
            <p:nvPr/>
          </p:nvPicPr>
          <p:blipFill>
            <a:blip r:embed="rId15"/>
            <a:stretch>
              <a:fillRect/>
            </a:stretch>
          </p:blipFill>
          <p:spPr>
            <a:xfrm>
              <a:off x="8229600" y="3776980"/>
              <a:ext cx="285750" cy="304800"/>
            </a:xfrm>
            <a:prstGeom prst="rect">
              <a:avLst/>
            </a:prstGeom>
          </p:spPr>
        </p:pic>
        <p:sp>
          <p:nvSpPr>
            <p:cNvPr id="30" name="Text 12"/>
            <p:cNvSpPr/>
            <p:nvPr/>
          </p:nvSpPr>
          <p:spPr>
            <a:xfrm>
              <a:off x="8629650" y="3796030"/>
              <a:ext cx="1140143" cy="266700"/>
            </a:xfrm>
            <a:prstGeom prst="rect">
              <a:avLst/>
            </a:prstGeom>
            <a:noFill/>
            <a:ln/>
          </p:spPr>
          <p:txBody>
            <a:bodyPr vert="horz" wrap="square" lIns="0" tIns="0" rIns="0" bIns="0" rtlCol="0" anchor="t"/>
            <a:lstStyle/>
            <a:p>
              <a:pPr marL="0" indent="0">
                <a:lnSpc>
                  <a:spcPts val="2100"/>
                </a:lnSpc>
                <a:buNone/>
              </a:pPr>
              <a:r>
                <a:rPr lang="en-US" b="1" dirty="0">
                  <a:solidFill>
                    <a:srgbClr val="1F2937"/>
                  </a:solidFill>
                  <a:latin typeface="ui-sans-serif" pitchFamily="34" charset="0"/>
                  <a:ea typeface="ui-sans-serif" pitchFamily="34" charset="-122"/>
                  <a:cs typeface="ui-sans-serif" pitchFamily="34" charset="-120"/>
                </a:rPr>
                <a:t>Logistics</a:t>
              </a:r>
              <a:endParaRPr lang="en-US" dirty="0"/>
            </a:p>
          </p:txBody>
        </p:sp>
      </p:grpSp>
      <p:sp>
        <p:nvSpPr>
          <p:cNvPr id="31" name="Text 13"/>
          <p:cNvSpPr/>
          <p:nvPr/>
        </p:nvSpPr>
        <p:spPr>
          <a:xfrm>
            <a:off x="8229600" y="4210050"/>
            <a:ext cx="3200400" cy="685800"/>
          </a:xfrm>
          <a:prstGeom prst="rect">
            <a:avLst/>
          </a:prstGeom>
          <a:noFill/>
          <a:ln/>
        </p:spPr>
        <p:txBody>
          <a:bodyPr vert="horz" wrap="square" lIns="0" tIns="0" rIns="0" bIns="0" rtlCol="0" anchor="t"/>
          <a:lstStyle/>
          <a:p>
            <a:pPr marL="0" indent="0">
              <a:lnSpc>
                <a:spcPts val="1800"/>
              </a:lnSpc>
              <a:buNone/>
            </a:pPr>
            <a:r>
              <a:rPr lang="en-US" sz="1400" dirty="0">
                <a:solidFill>
                  <a:srgbClr val="374151"/>
                </a:solidFill>
                <a:latin typeface="ui-sans-serif" pitchFamily="34" charset="0"/>
                <a:ea typeface="ui-sans-serif" pitchFamily="34" charset="-122"/>
                <a:cs typeface="ui-sans-serif" pitchFamily="34" charset="-120"/>
              </a:rPr>
              <a:t>Well-developed port and road network, facilitating efficient distribution to target markets.</a:t>
            </a:r>
            <a:endParaRPr lang="en-US" sz="1400" dirty="0"/>
          </a:p>
        </p:txBody>
      </p:sp>
      <p:sp>
        <p:nvSpPr>
          <p:cNvPr id="32" name="Text 14"/>
          <p:cNvSpPr/>
          <p:nvPr/>
        </p:nvSpPr>
        <p:spPr>
          <a:xfrm>
            <a:off x="113718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5 / 16</a:t>
            </a:r>
            <a:endParaRPr lang="en-US" sz="1200" dirty="0"/>
          </a:p>
        </p:txBody>
      </p:sp>
      <p:pic>
        <p:nvPicPr>
          <p:cNvPr id="39" name="Picture 38" descr="A blue letters on a black background&#10;&#10;AI-generated content may be incorrect.">
            <a:extLst>
              <a:ext uri="{FF2B5EF4-FFF2-40B4-BE49-F238E27FC236}">
                <a16:creationId xmlns:a16="http://schemas.microsoft.com/office/drawing/2014/main" id="{54E78C57-6C76-7CDF-997C-DC5B89501669}"/>
              </a:ext>
            </a:extLst>
          </p:cNvPr>
          <p:cNvPicPr>
            <a:picLocks noChangeAspect="1"/>
          </p:cNvPicPr>
          <p:nvPr/>
        </p:nvPicPr>
        <p:blipFill>
          <a:blip r:embed="rId16"/>
          <a:stretch>
            <a:fillRect/>
          </a:stretch>
        </p:blipFill>
        <p:spPr>
          <a:xfrm>
            <a:off x="10825377" y="233170"/>
            <a:ext cx="1052680" cy="2606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3"/>
                                        </p:tgtEl>
                                        <p:attrNameLst>
                                          <p:attrName>style.visibility</p:attrName>
                                        </p:attrNameLst>
                                      </p:cBhvr>
                                      <p:to>
                                        <p:strVal val="visible"/>
                                      </p:to>
                                    </p:set>
                                    <p:anim calcmode="lin" valueType="num">
                                      <p:cBhvr additive="base">
                                        <p:cTn id="11" dur="500" fill="hold"/>
                                        <p:tgtEl>
                                          <p:spTgt spid="33"/>
                                        </p:tgtEl>
                                        <p:attrNameLst>
                                          <p:attrName>ppt_x</p:attrName>
                                        </p:attrNameLst>
                                      </p:cBhvr>
                                      <p:tavLst>
                                        <p:tav tm="0">
                                          <p:val>
                                            <p:strVal val="#ppt_x"/>
                                          </p:val>
                                        </p:tav>
                                        <p:tav tm="100000">
                                          <p:val>
                                            <p:strVal val="#ppt_x"/>
                                          </p:val>
                                        </p:tav>
                                      </p:tavLst>
                                    </p:anim>
                                    <p:anim calcmode="lin" valueType="num">
                                      <p:cBhvr additive="base">
                                        <p:cTn id="12" dur="500" fill="hold"/>
                                        <p:tgtEl>
                                          <p:spTgt spid="3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additive="base">
                                        <p:cTn id="15" dur="500" fill="hold"/>
                                        <p:tgtEl>
                                          <p:spTgt spid="20"/>
                                        </p:tgtEl>
                                        <p:attrNameLst>
                                          <p:attrName>ppt_x</p:attrName>
                                        </p:attrNameLst>
                                      </p:cBhvr>
                                      <p:tavLst>
                                        <p:tav tm="0">
                                          <p:val>
                                            <p:strVal val="#ppt_x"/>
                                          </p:val>
                                        </p:tav>
                                        <p:tav tm="100000">
                                          <p:val>
                                            <p:strVal val="#ppt_x"/>
                                          </p:val>
                                        </p:tav>
                                      </p:tavLst>
                                    </p:anim>
                                    <p:anim calcmode="lin" valueType="num">
                                      <p:cBhvr additive="base">
                                        <p:cTn id="16" dur="500" fill="hold"/>
                                        <p:tgtEl>
                                          <p:spTgt spid="2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4"/>
                                        </p:tgtEl>
                                        <p:attrNameLst>
                                          <p:attrName>style.visibility</p:attrName>
                                        </p:attrNameLst>
                                      </p:cBhvr>
                                      <p:to>
                                        <p:strVal val="visible"/>
                                      </p:to>
                                    </p:set>
                                    <p:anim calcmode="lin" valueType="num">
                                      <p:cBhvr additive="base">
                                        <p:cTn id="29" dur="500" fill="hold"/>
                                        <p:tgtEl>
                                          <p:spTgt spid="34"/>
                                        </p:tgtEl>
                                        <p:attrNameLst>
                                          <p:attrName>ppt_x</p:attrName>
                                        </p:attrNameLst>
                                      </p:cBhvr>
                                      <p:tavLst>
                                        <p:tav tm="0">
                                          <p:val>
                                            <p:strVal val="#ppt_x"/>
                                          </p:val>
                                        </p:tav>
                                        <p:tav tm="100000">
                                          <p:val>
                                            <p:strVal val="#ppt_x"/>
                                          </p:val>
                                        </p:tav>
                                      </p:tavLst>
                                    </p:anim>
                                    <p:anim calcmode="lin" valueType="num">
                                      <p:cBhvr additive="base">
                                        <p:cTn id="30" dur="500" fill="hold"/>
                                        <p:tgtEl>
                                          <p:spTgt spid="34"/>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anim calcmode="lin" valueType="num">
                                      <p:cBhvr additive="base">
                                        <p:cTn id="33" dur="500" fill="hold"/>
                                        <p:tgtEl>
                                          <p:spTgt spid="23"/>
                                        </p:tgtEl>
                                        <p:attrNameLst>
                                          <p:attrName>ppt_x</p:attrName>
                                        </p:attrNameLst>
                                      </p:cBhvr>
                                      <p:tavLst>
                                        <p:tav tm="0">
                                          <p:val>
                                            <p:strVal val="#ppt_x"/>
                                          </p:val>
                                        </p:tav>
                                        <p:tav tm="100000">
                                          <p:val>
                                            <p:strVal val="#ppt_x"/>
                                          </p:val>
                                        </p:tav>
                                      </p:tavLst>
                                    </p:anim>
                                    <p:anim calcmode="lin" valueType="num">
                                      <p:cBhvr additive="base">
                                        <p:cTn id="34" dur="500" fill="hold"/>
                                        <p:tgtEl>
                                          <p:spTgt spid="23"/>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additive="base">
                                        <p:cTn id="37" dur="500" fill="hold"/>
                                        <p:tgtEl>
                                          <p:spTgt spid="24"/>
                                        </p:tgtEl>
                                        <p:attrNameLst>
                                          <p:attrName>ppt_x</p:attrName>
                                        </p:attrNameLst>
                                      </p:cBhvr>
                                      <p:tavLst>
                                        <p:tav tm="0">
                                          <p:val>
                                            <p:strVal val="#ppt_x"/>
                                          </p:val>
                                        </p:tav>
                                        <p:tav tm="100000">
                                          <p:val>
                                            <p:strVal val="#ppt_x"/>
                                          </p:val>
                                        </p:tav>
                                      </p:tavLst>
                                    </p:anim>
                                    <p:anim calcmode="lin" valueType="num">
                                      <p:cBhvr additive="base">
                                        <p:cTn id="3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5"/>
                                        </p:tgtEl>
                                        <p:attrNameLst>
                                          <p:attrName>style.visibility</p:attrName>
                                        </p:attrNameLst>
                                      </p:cBhvr>
                                      <p:to>
                                        <p:strVal val="visible"/>
                                      </p:to>
                                    </p:set>
                                    <p:anim calcmode="lin" valueType="num">
                                      <p:cBhvr additive="base">
                                        <p:cTn id="43" dur="500" fill="hold"/>
                                        <p:tgtEl>
                                          <p:spTgt spid="35"/>
                                        </p:tgtEl>
                                        <p:attrNameLst>
                                          <p:attrName>ppt_x</p:attrName>
                                        </p:attrNameLst>
                                      </p:cBhvr>
                                      <p:tavLst>
                                        <p:tav tm="0">
                                          <p:val>
                                            <p:strVal val="#ppt_x"/>
                                          </p:val>
                                        </p:tav>
                                        <p:tav tm="100000">
                                          <p:val>
                                            <p:strVal val="#ppt_x"/>
                                          </p:val>
                                        </p:tav>
                                      </p:tavLst>
                                    </p:anim>
                                    <p:anim calcmode="lin" valueType="num">
                                      <p:cBhvr additive="base">
                                        <p:cTn id="44" dur="500" fill="hold"/>
                                        <p:tgtEl>
                                          <p:spTgt spid="35"/>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ppt_x</p:attrName>
                                        </p:attrNameLst>
                                      </p:cBhvr>
                                      <p:tavLst>
                                        <p:tav tm="0">
                                          <p:val>
                                            <p:strVal val="#ppt_x"/>
                                          </p:val>
                                        </p:tav>
                                        <p:tav tm="100000">
                                          <p:val>
                                            <p:strVal val="#ppt_x"/>
                                          </p:val>
                                        </p:tav>
                                      </p:tavLst>
                                    </p:anim>
                                    <p:anim calcmode="lin" valueType="num">
                                      <p:cBhvr additive="base">
                                        <p:cTn id="4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2"/>
                                        </p:tgtEl>
                                        <p:attrNameLst>
                                          <p:attrName>style.visibility</p:attrName>
                                        </p:attrNameLst>
                                      </p:cBhvr>
                                      <p:to>
                                        <p:strVal val="visible"/>
                                      </p:to>
                                    </p:set>
                                    <p:anim calcmode="lin" valueType="num">
                                      <p:cBhvr additive="base">
                                        <p:cTn id="53" dur="500" fill="hold"/>
                                        <p:tgtEl>
                                          <p:spTgt spid="12"/>
                                        </p:tgtEl>
                                        <p:attrNameLst>
                                          <p:attrName>ppt_x</p:attrName>
                                        </p:attrNameLst>
                                      </p:cBhvr>
                                      <p:tavLst>
                                        <p:tav tm="0">
                                          <p:val>
                                            <p:strVal val="#ppt_x"/>
                                          </p:val>
                                        </p:tav>
                                        <p:tav tm="100000">
                                          <p:val>
                                            <p:strVal val="#ppt_x"/>
                                          </p:val>
                                        </p:tav>
                                      </p:tavLst>
                                    </p:anim>
                                    <p:anim calcmode="lin" valueType="num">
                                      <p:cBhvr additive="base">
                                        <p:cTn id="54" dur="500" fill="hold"/>
                                        <p:tgtEl>
                                          <p:spTgt spid="12"/>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36"/>
                                        </p:tgtEl>
                                        <p:attrNameLst>
                                          <p:attrName>style.visibility</p:attrName>
                                        </p:attrNameLst>
                                      </p:cBhvr>
                                      <p:to>
                                        <p:strVal val="visible"/>
                                      </p:to>
                                    </p:set>
                                    <p:anim calcmode="lin" valueType="num">
                                      <p:cBhvr additive="base">
                                        <p:cTn id="57" dur="500" fill="hold"/>
                                        <p:tgtEl>
                                          <p:spTgt spid="36"/>
                                        </p:tgtEl>
                                        <p:attrNameLst>
                                          <p:attrName>ppt_x</p:attrName>
                                        </p:attrNameLst>
                                      </p:cBhvr>
                                      <p:tavLst>
                                        <p:tav tm="0">
                                          <p:val>
                                            <p:strVal val="#ppt_x"/>
                                          </p:val>
                                        </p:tav>
                                        <p:tav tm="100000">
                                          <p:val>
                                            <p:strVal val="#ppt_x"/>
                                          </p:val>
                                        </p:tav>
                                      </p:tavLst>
                                    </p:anim>
                                    <p:anim calcmode="lin" valueType="num">
                                      <p:cBhvr additive="base">
                                        <p:cTn id="58" dur="500" fill="hold"/>
                                        <p:tgtEl>
                                          <p:spTgt spid="36"/>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anim calcmode="lin" valueType="num">
                                      <p:cBhvr additive="base">
                                        <p:cTn id="61" dur="500" fill="hold"/>
                                        <p:tgtEl>
                                          <p:spTgt spid="27"/>
                                        </p:tgtEl>
                                        <p:attrNameLst>
                                          <p:attrName>ppt_x</p:attrName>
                                        </p:attrNameLst>
                                      </p:cBhvr>
                                      <p:tavLst>
                                        <p:tav tm="0">
                                          <p:val>
                                            <p:strVal val="#ppt_x"/>
                                          </p:val>
                                        </p:tav>
                                        <p:tav tm="100000">
                                          <p:val>
                                            <p:strVal val="#ppt_x"/>
                                          </p:val>
                                        </p:tav>
                                      </p:tavLst>
                                    </p:anim>
                                    <p:anim calcmode="lin" valueType="num">
                                      <p:cBhvr additive="base">
                                        <p:cTn id="6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1000"/>
                                        <p:tgtEl>
                                          <p:spTgt spid="14"/>
                                        </p:tgtEl>
                                      </p:cBhvr>
                                    </p:animEffect>
                                    <p:anim calcmode="lin" valueType="num">
                                      <p:cBhvr>
                                        <p:cTn id="68" dur="1000" fill="hold"/>
                                        <p:tgtEl>
                                          <p:spTgt spid="14"/>
                                        </p:tgtEl>
                                        <p:attrNameLst>
                                          <p:attrName>ppt_x</p:attrName>
                                        </p:attrNameLst>
                                      </p:cBhvr>
                                      <p:tavLst>
                                        <p:tav tm="0">
                                          <p:val>
                                            <p:strVal val="#ppt_x"/>
                                          </p:val>
                                        </p:tav>
                                        <p:tav tm="100000">
                                          <p:val>
                                            <p:strVal val="#ppt_x"/>
                                          </p:val>
                                        </p:tav>
                                      </p:tavLst>
                                    </p:anim>
                                    <p:anim calcmode="lin" valueType="num">
                                      <p:cBhvr>
                                        <p:cTn id="69" dur="10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1000"/>
                                        <p:tgtEl>
                                          <p:spTgt spid="37"/>
                                        </p:tgtEl>
                                      </p:cBhvr>
                                    </p:animEffect>
                                    <p:anim calcmode="lin" valueType="num">
                                      <p:cBhvr>
                                        <p:cTn id="73" dur="1000" fill="hold"/>
                                        <p:tgtEl>
                                          <p:spTgt spid="37"/>
                                        </p:tgtEl>
                                        <p:attrNameLst>
                                          <p:attrName>ppt_x</p:attrName>
                                        </p:attrNameLst>
                                      </p:cBhvr>
                                      <p:tavLst>
                                        <p:tav tm="0">
                                          <p:val>
                                            <p:strVal val="#ppt_x"/>
                                          </p:val>
                                        </p:tav>
                                        <p:tav tm="100000">
                                          <p:val>
                                            <p:strVal val="#ppt_x"/>
                                          </p:val>
                                        </p:tav>
                                      </p:tavLst>
                                    </p:anim>
                                    <p:anim calcmode="lin" valueType="num">
                                      <p:cBhvr>
                                        <p:cTn id="74" dur="1000" fill="hold"/>
                                        <p:tgtEl>
                                          <p:spTgt spid="37"/>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1000"/>
                                        <p:tgtEl>
                                          <p:spTgt spid="29"/>
                                        </p:tgtEl>
                                      </p:cBhvr>
                                    </p:animEffect>
                                    <p:anim calcmode="lin" valueType="num">
                                      <p:cBhvr>
                                        <p:cTn id="78" dur="1000" fill="hold"/>
                                        <p:tgtEl>
                                          <p:spTgt spid="29"/>
                                        </p:tgtEl>
                                        <p:attrNameLst>
                                          <p:attrName>ppt_x</p:attrName>
                                        </p:attrNameLst>
                                      </p:cBhvr>
                                      <p:tavLst>
                                        <p:tav tm="0">
                                          <p:val>
                                            <p:strVal val="#ppt_x"/>
                                          </p:val>
                                        </p:tav>
                                        <p:tav tm="100000">
                                          <p:val>
                                            <p:strVal val="#ppt_x"/>
                                          </p:val>
                                        </p:tav>
                                      </p:tavLst>
                                    </p:anim>
                                    <p:anim calcmode="lin" valueType="num">
                                      <p:cBhvr>
                                        <p:cTn id="7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nodeType="clickEffect">
                                  <p:stCondLst>
                                    <p:cond delay="0"/>
                                  </p:stCondLst>
                                  <p:childTnLst>
                                    <p:set>
                                      <p:cBhvr>
                                        <p:cTn id="83" dur="1" fill="hold">
                                          <p:stCondLst>
                                            <p:cond delay="0"/>
                                          </p:stCondLst>
                                        </p:cTn>
                                        <p:tgtEl>
                                          <p:spTgt spid="16"/>
                                        </p:tgtEl>
                                        <p:attrNameLst>
                                          <p:attrName>style.visibility</p:attrName>
                                        </p:attrNameLst>
                                      </p:cBhvr>
                                      <p:to>
                                        <p:strVal val="visible"/>
                                      </p:to>
                                    </p:set>
                                    <p:anim calcmode="lin" valueType="num">
                                      <p:cBhvr additive="base">
                                        <p:cTn id="84" dur="500" fill="hold"/>
                                        <p:tgtEl>
                                          <p:spTgt spid="16"/>
                                        </p:tgtEl>
                                        <p:attrNameLst>
                                          <p:attrName>ppt_x</p:attrName>
                                        </p:attrNameLst>
                                      </p:cBhvr>
                                      <p:tavLst>
                                        <p:tav tm="0">
                                          <p:val>
                                            <p:strVal val="#ppt_x"/>
                                          </p:val>
                                        </p:tav>
                                        <p:tav tm="100000">
                                          <p:val>
                                            <p:strVal val="#ppt_x"/>
                                          </p:val>
                                        </p:tav>
                                      </p:tavLst>
                                    </p:anim>
                                    <p:anim calcmode="lin" valueType="num">
                                      <p:cBhvr additive="base">
                                        <p:cTn id="85" dur="500" fill="hold"/>
                                        <p:tgtEl>
                                          <p:spTgt spid="16"/>
                                        </p:tgtEl>
                                        <p:attrNameLst>
                                          <p:attrName>ppt_y</p:attrName>
                                        </p:attrNameLst>
                                      </p:cBhvr>
                                      <p:tavLst>
                                        <p:tav tm="0">
                                          <p:val>
                                            <p:strVal val="1+#ppt_h/2"/>
                                          </p:val>
                                        </p:tav>
                                        <p:tav tm="100000">
                                          <p:val>
                                            <p:strVal val="#ppt_y"/>
                                          </p:val>
                                        </p:tav>
                                      </p:tavLst>
                                    </p:anim>
                                  </p:childTnLst>
                                </p:cTn>
                              </p:par>
                              <p:par>
                                <p:cTn id="86" presetID="2" presetClass="entr" presetSubtype="4" fill="hold" nodeType="withEffect">
                                  <p:stCondLst>
                                    <p:cond delay="0"/>
                                  </p:stCondLst>
                                  <p:childTnLst>
                                    <p:set>
                                      <p:cBhvr>
                                        <p:cTn id="87" dur="1" fill="hold">
                                          <p:stCondLst>
                                            <p:cond delay="0"/>
                                          </p:stCondLst>
                                        </p:cTn>
                                        <p:tgtEl>
                                          <p:spTgt spid="38"/>
                                        </p:tgtEl>
                                        <p:attrNameLst>
                                          <p:attrName>style.visibility</p:attrName>
                                        </p:attrNameLst>
                                      </p:cBhvr>
                                      <p:to>
                                        <p:strVal val="visible"/>
                                      </p:to>
                                    </p:set>
                                    <p:anim calcmode="lin" valueType="num">
                                      <p:cBhvr additive="base">
                                        <p:cTn id="88" dur="500" fill="hold"/>
                                        <p:tgtEl>
                                          <p:spTgt spid="38"/>
                                        </p:tgtEl>
                                        <p:attrNameLst>
                                          <p:attrName>ppt_x</p:attrName>
                                        </p:attrNameLst>
                                      </p:cBhvr>
                                      <p:tavLst>
                                        <p:tav tm="0">
                                          <p:val>
                                            <p:strVal val="#ppt_x"/>
                                          </p:val>
                                        </p:tav>
                                        <p:tav tm="100000">
                                          <p:val>
                                            <p:strVal val="#ppt_x"/>
                                          </p:val>
                                        </p:tav>
                                      </p:tavLst>
                                    </p:anim>
                                    <p:anim calcmode="lin" valueType="num">
                                      <p:cBhvr additive="base">
                                        <p:cTn id="89" dur="500" fill="hold"/>
                                        <p:tgtEl>
                                          <p:spTgt spid="38"/>
                                        </p:tgtEl>
                                        <p:attrNameLst>
                                          <p:attrName>ppt_y</p:attrName>
                                        </p:attrNameLst>
                                      </p:cBhvr>
                                      <p:tavLst>
                                        <p:tav tm="0">
                                          <p:val>
                                            <p:strVal val="1+#ppt_h/2"/>
                                          </p:val>
                                        </p:tav>
                                        <p:tav tm="100000">
                                          <p:val>
                                            <p:strVal val="#ppt_y"/>
                                          </p:val>
                                        </p:tav>
                                      </p:tavLst>
                                    </p:anim>
                                  </p:childTnLst>
                                </p:cTn>
                              </p:par>
                              <p:par>
                                <p:cTn id="90" presetID="2" presetClass="entr" presetSubtype="4" fill="hold" grpId="0" nodeType="withEffect">
                                  <p:stCondLst>
                                    <p:cond delay="0"/>
                                  </p:stCondLst>
                                  <p:childTnLst>
                                    <p:set>
                                      <p:cBhvr>
                                        <p:cTn id="91" dur="1" fill="hold">
                                          <p:stCondLst>
                                            <p:cond delay="0"/>
                                          </p:stCondLst>
                                        </p:cTn>
                                        <p:tgtEl>
                                          <p:spTgt spid="31"/>
                                        </p:tgtEl>
                                        <p:attrNameLst>
                                          <p:attrName>style.visibility</p:attrName>
                                        </p:attrNameLst>
                                      </p:cBhvr>
                                      <p:to>
                                        <p:strVal val="visible"/>
                                      </p:to>
                                    </p:set>
                                    <p:anim calcmode="lin" valueType="num">
                                      <p:cBhvr additive="base">
                                        <p:cTn id="92" dur="500" fill="hold"/>
                                        <p:tgtEl>
                                          <p:spTgt spid="31"/>
                                        </p:tgtEl>
                                        <p:attrNameLst>
                                          <p:attrName>ppt_x</p:attrName>
                                        </p:attrNameLst>
                                      </p:cBhvr>
                                      <p:tavLst>
                                        <p:tav tm="0">
                                          <p:val>
                                            <p:strVal val="#ppt_x"/>
                                          </p:val>
                                        </p:tav>
                                        <p:tav tm="100000">
                                          <p:val>
                                            <p:strVal val="#ppt_x"/>
                                          </p:val>
                                        </p:tav>
                                      </p:tavLst>
                                    </p:anim>
                                    <p:anim calcmode="lin" valueType="num">
                                      <p:cBhvr additive="base">
                                        <p:cTn id="93"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3" grpId="0" animBg="1"/>
      <p:bldP spid="24" grpId="0" animBg="1"/>
      <p:bldP spid="27" grpId="0" animBg="1"/>
      <p:bldP spid="29" grpId="0" animBg="1"/>
      <p:bldP spid="3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9334500" y="5429250"/>
            <a:ext cx="1905000" cy="1905000"/>
          </a:xfrm>
          <a:prstGeom prst="rect">
            <a:avLst/>
          </a:prstGeom>
        </p:spPr>
      </p:pic>
      <p:pic>
        <p:nvPicPr>
          <p:cNvPr id="5" name="Image 3" descr="preencoded.png"/>
          <p:cNvPicPr>
            <a:picLocks noChangeAspect="1"/>
          </p:cNvPicPr>
          <p:nvPr/>
        </p:nvPicPr>
        <p:blipFill>
          <a:blip r:embed="rId6"/>
          <a:stretch>
            <a:fillRect/>
          </a:stretch>
        </p:blipFill>
        <p:spPr>
          <a:xfrm>
            <a:off x="0" y="0"/>
            <a:ext cx="12192000" cy="685800"/>
          </a:xfrm>
          <a:prstGeom prst="rect">
            <a:avLst/>
          </a:prstGeom>
        </p:spPr>
      </p:pic>
      <p:pic>
        <p:nvPicPr>
          <p:cNvPr id="6" name="Image 4" descr="preencoded.png"/>
          <p:cNvPicPr>
            <a:picLocks noChangeAspect="1"/>
          </p:cNvPicPr>
          <p:nvPr/>
        </p:nvPicPr>
        <p:blipFill>
          <a:blip r:embed="rId7"/>
          <a:stretch>
            <a:fillRect/>
          </a:stretch>
        </p:blipFill>
        <p:spPr>
          <a:xfrm>
            <a:off x="304800" y="990600"/>
            <a:ext cx="5676900" cy="5486400"/>
          </a:xfrm>
          <a:prstGeom prst="rect">
            <a:avLst/>
          </a:prstGeom>
        </p:spPr>
      </p:pic>
      <p:pic>
        <p:nvPicPr>
          <p:cNvPr id="8" name="Image 6" descr="preencoded.png"/>
          <p:cNvPicPr>
            <a:picLocks noChangeAspect="1"/>
          </p:cNvPicPr>
          <p:nvPr/>
        </p:nvPicPr>
        <p:blipFill>
          <a:blip r:embed="rId8"/>
          <a:stretch>
            <a:fillRect/>
          </a:stretch>
        </p:blipFill>
        <p:spPr>
          <a:xfrm>
            <a:off x="533400" y="4427220"/>
            <a:ext cx="5219700" cy="1905000"/>
          </a:xfrm>
          <a:prstGeom prst="rect">
            <a:avLst/>
          </a:prstGeom>
        </p:spPr>
      </p:pic>
      <p:pic>
        <p:nvPicPr>
          <p:cNvPr id="9" name="Image 7" descr="preencoded.png"/>
          <p:cNvPicPr>
            <a:picLocks noChangeAspect="1"/>
          </p:cNvPicPr>
          <p:nvPr/>
        </p:nvPicPr>
        <p:blipFill>
          <a:blip r:embed="rId9"/>
          <a:stretch>
            <a:fillRect/>
          </a:stretch>
        </p:blipFill>
        <p:spPr>
          <a:xfrm>
            <a:off x="685800" y="4579620"/>
            <a:ext cx="4914900" cy="1795463"/>
          </a:xfrm>
          <a:prstGeom prst="rect">
            <a:avLst/>
          </a:prstGeom>
        </p:spPr>
      </p:pic>
      <p:pic>
        <p:nvPicPr>
          <p:cNvPr id="10" name="Image 8" descr="preencoded.png"/>
          <p:cNvPicPr>
            <a:picLocks noChangeAspect="1"/>
          </p:cNvPicPr>
          <p:nvPr/>
        </p:nvPicPr>
        <p:blipFill>
          <a:blip r:embed="rId10"/>
          <a:stretch>
            <a:fillRect/>
          </a:stretch>
        </p:blipFill>
        <p:spPr>
          <a:xfrm>
            <a:off x="6210300" y="990600"/>
            <a:ext cx="5676900" cy="2570480"/>
          </a:xfrm>
          <a:prstGeom prst="rect">
            <a:avLst/>
          </a:prstGeom>
        </p:spPr>
      </p:pic>
      <p:pic>
        <p:nvPicPr>
          <p:cNvPr id="12" name="Image 10" descr="preencoded.png"/>
          <p:cNvPicPr>
            <a:picLocks noChangeAspect="1"/>
          </p:cNvPicPr>
          <p:nvPr/>
        </p:nvPicPr>
        <p:blipFill>
          <a:blip r:embed="rId11"/>
          <a:stretch>
            <a:fillRect/>
          </a:stretch>
        </p:blipFill>
        <p:spPr>
          <a:xfrm>
            <a:off x="6210300" y="3713480"/>
            <a:ext cx="5676900" cy="2763520"/>
          </a:xfrm>
          <a:prstGeom prst="rect">
            <a:avLst/>
          </a:prstGeom>
        </p:spPr>
      </p:pic>
      <p:sp>
        <p:nvSpPr>
          <p:cNvPr id="17" name="Text 0"/>
          <p:cNvSpPr/>
          <p:nvPr/>
        </p:nvSpPr>
        <p:spPr>
          <a:xfrm>
            <a:off x="381000" y="152400"/>
            <a:ext cx="11517838" cy="381000"/>
          </a:xfrm>
          <a:prstGeom prst="rect">
            <a:avLst/>
          </a:prstGeom>
          <a:noFill/>
          <a:ln/>
        </p:spPr>
        <p:txBody>
          <a:bodyPr vert="horz" wrap="square" lIns="0" tIns="0" rIns="0" bIns="0" rtlCol="0" anchor="t"/>
          <a:lstStyle/>
          <a:p>
            <a:pPr marL="0" indent="0">
              <a:lnSpc>
                <a:spcPts val="3000"/>
              </a:lnSpc>
              <a:buNone/>
            </a:pPr>
            <a:r>
              <a:rPr lang="en-US" sz="3600" b="1" dirty="0">
                <a:solidFill>
                  <a:srgbClr val="FFFFFF"/>
                </a:solidFill>
                <a:latin typeface="ui-sans-serif" pitchFamily="34" charset="0"/>
                <a:ea typeface="ui-sans-serif" pitchFamily="34" charset="-122"/>
                <a:cs typeface="ui-sans-serif" pitchFamily="34" charset="-120"/>
              </a:rPr>
              <a:t>Market Size &amp; Growth Potential</a:t>
            </a:r>
            <a:endParaRPr lang="en-US" sz="3600" dirty="0"/>
          </a:p>
        </p:txBody>
      </p:sp>
      <p:grpSp>
        <p:nvGrpSpPr>
          <p:cNvPr id="28" name="Group 27">
            <a:extLst>
              <a:ext uri="{FF2B5EF4-FFF2-40B4-BE49-F238E27FC236}">
                <a16:creationId xmlns:a16="http://schemas.microsoft.com/office/drawing/2014/main" id="{EF6E2505-55B7-E35D-3798-7EBAED10CBCF}"/>
              </a:ext>
            </a:extLst>
          </p:cNvPr>
          <p:cNvGrpSpPr/>
          <p:nvPr/>
        </p:nvGrpSpPr>
        <p:grpSpPr>
          <a:xfrm>
            <a:off x="533400" y="1168400"/>
            <a:ext cx="4045089" cy="342900"/>
            <a:chOff x="533400" y="1219200"/>
            <a:chExt cx="4045089" cy="342900"/>
          </a:xfrm>
        </p:grpSpPr>
        <p:pic>
          <p:nvPicPr>
            <p:cNvPr id="7" name="Image 5" descr="preencoded.png"/>
            <p:cNvPicPr>
              <a:picLocks noChangeAspect="1"/>
            </p:cNvPicPr>
            <p:nvPr/>
          </p:nvPicPr>
          <p:blipFill>
            <a:blip r:embed="rId12"/>
            <a:stretch>
              <a:fillRect/>
            </a:stretch>
          </p:blipFill>
          <p:spPr>
            <a:xfrm>
              <a:off x="533400" y="1219200"/>
              <a:ext cx="323850" cy="342900"/>
            </a:xfrm>
            <a:prstGeom prst="rect">
              <a:avLst/>
            </a:prstGeom>
          </p:spPr>
        </p:pic>
        <p:sp>
          <p:nvSpPr>
            <p:cNvPr id="18" name="Text 1"/>
            <p:cNvSpPr/>
            <p:nvPr/>
          </p:nvSpPr>
          <p:spPr>
            <a:xfrm>
              <a:off x="1009650" y="1238250"/>
              <a:ext cx="3568839" cy="304800"/>
            </a:xfrm>
            <a:prstGeom prst="rect">
              <a:avLst/>
            </a:prstGeom>
            <a:noFill/>
            <a:ln/>
          </p:spPr>
          <p:txBody>
            <a:bodyPr vert="horz" wrap="square" lIns="0" tIns="0" rIns="0" bIns="0" rtlCol="0" anchor="t"/>
            <a:lstStyle/>
            <a:p>
              <a:pPr marL="0" indent="0">
                <a:lnSpc>
                  <a:spcPts val="2400"/>
                </a:lnSpc>
                <a:buNone/>
              </a:pPr>
              <a:r>
                <a:rPr lang="en-US" sz="2400" b="1" dirty="0">
                  <a:solidFill>
                    <a:srgbClr val="1F2937"/>
                  </a:solidFill>
                  <a:latin typeface="ui-sans-serif" pitchFamily="34" charset="0"/>
                  <a:ea typeface="ui-sans-serif" pitchFamily="34" charset="-122"/>
                  <a:cs typeface="ui-sans-serif" pitchFamily="34" charset="-120"/>
                </a:rPr>
                <a:t>Significant Market Size</a:t>
              </a:r>
              <a:endParaRPr lang="en-US" sz="2400" dirty="0"/>
            </a:p>
          </p:txBody>
        </p:sp>
      </p:grpSp>
      <p:sp>
        <p:nvSpPr>
          <p:cNvPr id="19" name="Text 2"/>
          <p:cNvSpPr/>
          <p:nvPr/>
        </p:nvSpPr>
        <p:spPr>
          <a:xfrm>
            <a:off x="533400" y="1676400"/>
            <a:ext cx="5219700" cy="533400"/>
          </a:xfrm>
          <a:prstGeom prst="rect">
            <a:avLst/>
          </a:prstGeom>
          <a:noFill/>
          <a:ln/>
        </p:spPr>
        <p:txBody>
          <a:bodyPr vert="horz" wrap="square" lIns="0" tIns="0" rIns="0" bIns="0" rtlCol="0" anchor="t"/>
          <a:lstStyle/>
          <a:p>
            <a:pPr marL="0" indent="0">
              <a:lnSpc>
                <a:spcPts val="2100"/>
              </a:lnSpc>
              <a:buNone/>
            </a:pPr>
            <a:r>
              <a:rPr lang="en-US" sz="1400" dirty="0">
                <a:solidFill>
                  <a:srgbClr val="374151"/>
                </a:solidFill>
                <a:latin typeface="ui-sans-serif" pitchFamily="34" charset="0"/>
                <a:ea typeface="ui-sans-serif" pitchFamily="34" charset="-122"/>
                <a:cs typeface="ui-sans-serif" pitchFamily="34" charset="-120"/>
              </a:rPr>
              <a:t>The market for [product type] in [Chosen Country] is projected to reach </a:t>
            </a:r>
            <a:r>
              <a:rPr lang="en-US" sz="1400" b="1" dirty="0">
                <a:solidFill>
                  <a:srgbClr val="0F766E"/>
                </a:solidFill>
                <a:latin typeface="ui-sans-serif" pitchFamily="34" charset="0"/>
                <a:ea typeface="ui-sans-serif" pitchFamily="34" charset="-122"/>
                <a:cs typeface="ui-sans-serif" pitchFamily="34" charset="-120"/>
              </a:rPr>
              <a:t>$500 million</a:t>
            </a:r>
            <a:r>
              <a:rPr lang="en-US" sz="1400" dirty="0">
                <a:solidFill>
                  <a:srgbClr val="374151"/>
                </a:solidFill>
                <a:latin typeface="ui-sans-serif" pitchFamily="34" charset="0"/>
                <a:ea typeface="ui-sans-serif" pitchFamily="34" charset="-122"/>
                <a:cs typeface="ui-sans-serif" pitchFamily="34" charset="-120"/>
              </a:rPr>
              <a:t> by [year].</a:t>
            </a:r>
            <a:endParaRPr lang="en-US" sz="1400" dirty="0"/>
          </a:p>
        </p:txBody>
      </p:sp>
      <p:grpSp>
        <p:nvGrpSpPr>
          <p:cNvPr id="29" name="Group 28">
            <a:extLst>
              <a:ext uri="{FF2B5EF4-FFF2-40B4-BE49-F238E27FC236}">
                <a16:creationId xmlns:a16="http://schemas.microsoft.com/office/drawing/2014/main" id="{9CAF790C-5958-7548-924C-EA28ACDC9220}"/>
              </a:ext>
            </a:extLst>
          </p:cNvPr>
          <p:cNvGrpSpPr/>
          <p:nvPr/>
        </p:nvGrpSpPr>
        <p:grpSpPr>
          <a:xfrm>
            <a:off x="6438900" y="1219200"/>
            <a:ext cx="4342328" cy="342900"/>
            <a:chOff x="6438900" y="1219200"/>
            <a:chExt cx="4342328" cy="342900"/>
          </a:xfrm>
        </p:grpSpPr>
        <p:pic>
          <p:nvPicPr>
            <p:cNvPr id="11" name="Image 9" descr="preencoded.png"/>
            <p:cNvPicPr>
              <a:picLocks noChangeAspect="1"/>
            </p:cNvPicPr>
            <p:nvPr/>
          </p:nvPicPr>
          <p:blipFill>
            <a:blip r:embed="rId13"/>
            <a:stretch>
              <a:fillRect/>
            </a:stretch>
          </p:blipFill>
          <p:spPr>
            <a:xfrm>
              <a:off x="6438900" y="1219200"/>
              <a:ext cx="361950" cy="342900"/>
            </a:xfrm>
            <a:prstGeom prst="rect">
              <a:avLst/>
            </a:prstGeom>
          </p:spPr>
        </p:pic>
        <p:sp>
          <p:nvSpPr>
            <p:cNvPr id="20" name="Text 3"/>
            <p:cNvSpPr/>
            <p:nvPr/>
          </p:nvSpPr>
          <p:spPr>
            <a:xfrm>
              <a:off x="6953250" y="1238250"/>
              <a:ext cx="3827978" cy="304800"/>
            </a:xfrm>
            <a:prstGeom prst="rect">
              <a:avLst/>
            </a:prstGeom>
            <a:noFill/>
            <a:ln/>
          </p:spPr>
          <p:txBody>
            <a:bodyPr vert="horz" wrap="square" lIns="0" tIns="0" rIns="0" bIns="0" rtlCol="0" anchor="t"/>
            <a:lstStyle/>
            <a:p>
              <a:pPr marL="0" indent="0">
                <a:lnSpc>
                  <a:spcPts val="2400"/>
                </a:lnSpc>
                <a:buNone/>
              </a:pPr>
              <a:r>
                <a:rPr lang="en-US" sz="2000" b="1" dirty="0">
                  <a:solidFill>
                    <a:srgbClr val="1F2937"/>
                  </a:solidFill>
                  <a:latin typeface="ui-sans-serif" pitchFamily="34" charset="0"/>
                  <a:ea typeface="ui-sans-serif" pitchFamily="34" charset="-122"/>
                  <a:cs typeface="ui-sans-serif" pitchFamily="34" charset="-120"/>
                </a:rPr>
                <a:t>Growing Consumer Need</a:t>
              </a:r>
              <a:endParaRPr lang="en-US" sz="2000" dirty="0"/>
            </a:p>
          </p:txBody>
        </p:sp>
      </p:grpSp>
      <p:sp>
        <p:nvSpPr>
          <p:cNvPr id="21" name="Text 4"/>
          <p:cNvSpPr/>
          <p:nvPr/>
        </p:nvSpPr>
        <p:spPr>
          <a:xfrm>
            <a:off x="6438900" y="1676400"/>
            <a:ext cx="5219700" cy="10668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Our research shows increasing demand among the target segment for convenient, healthy, and ethically sourced products that meet specific needs, creating a strong market opportunity.</a:t>
            </a:r>
            <a:endParaRPr lang="en-US" sz="1350" dirty="0"/>
          </a:p>
        </p:txBody>
      </p:sp>
      <p:grpSp>
        <p:nvGrpSpPr>
          <p:cNvPr id="30" name="Group 29">
            <a:extLst>
              <a:ext uri="{FF2B5EF4-FFF2-40B4-BE49-F238E27FC236}">
                <a16:creationId xmlns:a16="http://schemas.microsoft.com/office/drawing/2014/main" id="{CB7B2F93-24D0-C8C7-5116-F4D297D5206C}"/>
              </a:ext>
            </a:extLst>
          </p:cNvPr>
          <p:cNvGrpSpPr/>
          <p:nvPr/>
        </p:nvGrpSpPr>
        <p:grpSpPr>
          <a:xfrm>
            <a:off x="6438900" y="3942080"/>
            <a:ext cx="5123181" cy="342900"/>
            <a:chOff x="6438900" y="3352800"/>
            <a:chExt cx="5123181" cy="342900"/>
          </a:xfrm>
        </p:grpSpPr>
        <p:pic>
          <p:nvPicPr>
            <p:cNvPr id="13" name="Image 11" descr="preencoded.png"/>
            <p:cNvPicPr>
              <a:picLocks noChangeAspect="1"/>
            </p:cNvPicPr>
            <p:nvPr/>
          </p:nvPicPr>
          <p:blipFill>
            <a:blip r:embed="rId14"/>
            <a:stretch>
              <a:fillRect/>
            </a:stretch>
          </p:blipFill>
          <p:spPr>
            <a:xfrm>
              <a:off x="6438900" y="3352800"/>
              <a:ext cx="361950" cy="342900"/>
            </a:xfrm>
            <a:prstGeom prst="rect">
              <a:avLst/>
            </a:prstGeom>
          </p:spPr>
        </p:pic>
        <p:sp>
          <p:nvSpPr>
            <p:cNvPr id="22" name="Text 5"/>
            <p:cNvSpPr/>
            <p:nvPr/>
          </p:nvSpPr>
          <p:spPr>
            <a:xfrm>
              <a:off x="6953251" y="3371850"/>
              <a:ext cx="4608830" cy="304800"/>
            </a:xfrm>
            <a:prstGeom prst="rect">
              <a:avLst/>
            </a:prstGeom>
            <a:noFill/>
            <a:ln/>
          </p:spPr>
          <p:txBody>
            <a:bodyPr vert="horz" wrap="square" lIns="0" tIns="0" rIns="0" bIns="0" rtlCol="0" anchor="t"/>
            <a:lstStyle/>
            <a:p>
              <a:pPr marL="0" indent="0">
                <a:lnSpc>
                  <a:spcPts val="2400"/>
                </a:lnSpc>
                <a:buNone/>
              </a:pPr>
              <a:r>
                <a:rPr lang="en-US" sz="2000" b="1" dirty="0">
                  <a:solidFill>
                    <a:srgbClr val="1F2937"/>
                  </a:solidFill>
                  <a:latin typeface="ui-sans-serif" pitchFamily="34" charset="0"/>
                  <a:ea typeface="ui-sans-serif" pitchFamily="34" charset="-122"/>
                  <a:cs typeface="ui-sans-serif" pitchFamily="34" charset="-120"/>
                </a:rPr>
                <a:t>Favorable Logistics Infrastructure</a:t>
              </a:r>
              <a:endParaRPr lang="en-US" sz="2000" dirty="0"/>
            </a:p>
          </p:txBody>
        </p:sp>
      </p:grpSp>
      <p:sp>
        <p:nvSpPr>
          <p:cNvPr id="23" name="Text 6"/>
          <p:cNvSpPr/>
          <p:nvPr/>
        </p:nvSpPr>
        <p:spPr>
          <a:xfrm>
            <a:off x="6438900" y="4399280"/>
            <a:ext cx="52197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The target market possesses a well-developed port and road network, facilitating efficient distribution.</a:t>
            </a:r>
            <a:endParaRPr lang="en-US" sz="1350" dirty="0"/>
          </a:p>
        </p:txBody>
      </p:sp>
      <p:grpSp>
        <p:nvGrpSpPr>
          <p:cNvPr id="31" name="Group 30">
            <a:extLst>
              <a:ext uri="{FF2B5EF4-FFF2-40B4-BE49-F238E27FC236}">
                <a16:creationId xmlns:a16="http://schemas.microsoft.com/office/drawing/2014/main" id="{D1F2CC38-F077-4560-7F29-504D64F4A0D2}"/>
              </a:ext>
            </a:extLst>
          </p:cNvPr>
          <p:cNvGrpSpPr/>
          <p:nvPr/>
        </p:nvGrpSpPr>
        <p:grpSpPr>
          <a:xfrm>
            <a:off x="6673448" y="5730240"/>
            <a:ext cx="1046738" cy="647700"/>
            <a:chOff x="6673448" y="5730240"/>
            <a:chExt cx="1046738" cy="647700"/>
          </a:xfrm>
        </p:grpSpPr>
        <p:pic>
          <p:nvPicPr>
            <p:cNvPr id="14" name="Image 12" descr="preencoded.png"/>
            <p:cNvPicPr>
              <a:picLocks noChangeAspect="1"/>
            </p:cNvPicPr>
            <p:nvPr/>
          </p:nvPicPr>
          <p:blipFill>
            <a:blip r:embed="rId15"/>
            <a:stretch>
              <a:fillRect/>
            </a:stretch>
          </p:blipFill>
          <p:spPr>
            <a:xfrm>
              <a:off x="7001480" y="5730240"/>
              <a:ext cx="390525" cy="381000"/>
            </a:xfrm>
            <a:prstGeom prst="rect">
              <a:avLst/>
            </a:prstGeom>
          </p:spPr>
        </p:pic>
        <p:sp>
          <p:nvSpPr>
            <p:cNvPr id="24" name="Text 7"/>
            <p:cNvSpPr/>
            <p:nvPr/>
          </p:nvSpPr>
          <p:spPr>
            <a:xfrm>
              <a:off x="6673448" y="6149340"/>
              <a:ext cx="1046738" cy="228600"/>
            </a:xfrm>
            <a:prstGeom prst="rect">
              <a:avLst/>
            </a:prstGeom>
            <a:noFill/>
            <a:ln/>
          </p:spPr>
          <p:txBody>
            <a:bodyPr vert="horz" wrap="square" lIns="0" tIns="0" rIns="0" bIns="0" rtlCol="0" anchor="t"/>
            <a:lstStyle/>
            <a:p>
              <a:pPr marL="0" indent="0" algn="ctr">
                <a:lnSpc>
                  <a:spcPts val="1800"/>
                </a:lnSpc>
                <a:buNone/>
              </a:pPr>
              <a:r>
                <a:rPr lang="en-US" sz="1400" dirty="0">
                  <a:solidFill>
                    <a:srgbClr val="374151"/>
                  </a:solidFill>
                  <a:latin typeface="ui-sans-serif" pitchFamily="34" charset="0"/>
                  <a:ea typeface="ui-sans-serif" pitchFamily="34" charset="-122"/>
                  <a:cs typeface="ui-sans-serif" pitchFamily="34" charset="-120"/>
                </a:rPr>
                <a:t>Port Access</a:t>
              </a:r>
              <a:endParaRPr lang="en-US" sz="1400" dirty="0"/>
            </a:p>
          </p:txBody>
        </p:sp>
      </p:grpSp>
      <p:grpSp>
        <p:nvGrpSpPr>
          <p:cNvPr id="32" name="Group 31">
            <a:extLst>
              <a:ext uri="{FF2B5EF4-FFF2-40B4-BE49-F238E27FC236}">
                <a16:creationId xmlns:a16="http://schemas.microsoft.com/office/drawing/2014/main" id="{E983C000-5A7A-7673-EE6B-235AB67CC6DA}"/>
              </a:ext>
            </a:extLst>
          </p:cNvPr>
          <p:cNvGrpSpPr/>
          <p:nvPr/>
        </p:nvGrpSpPr>
        <p:grpSpPr>
          <a:xfrm>
            <a:off x="8399993" y="5730240"/>
            <a:ext cx="1280696" cy="647700"/>
            <a:chOff x="8399993" y="5730240"/>
            <a:chExt cx="1280696" cy="647700"/>
          </a:xfrm>
        </p:grpSpPr>
        <p:pic>
          <p:nvPicPr>
            <p:cNvPr id="15" name="Image 13" descr="preencoded.png"/>
            <p:cNvPicPr>
              <a:picLocks noChangeAspect="1"/>
            </p:cNvPicPr>
            <p:nvPr/>
          </p:nvPicPr>
          <p:blipFill>
            <a:blip r:embed="rId16"/>
            <a:stretch>
              <a:fillRect/>
            </a:stretch>
          </p:blipFill>
          <p:spPr>
            <a:xfrm>
              <a:off x="8845004" y="5730240"/>
              <a:ext cx="390525" cy="381000"/>
            </a:xfrm>
            <a:prstGeom prst="rect">
              <a:avLst/>
            </a:prstGeom>
          </p:spPr>
        </p:pic>
        <p:sp>
          <p:nvSpPr>
            <p:cNvPr id="25" name="Text 8"/>
            <p:cNvSpPr/>
            <p:nvPr/>
          </p:nvSpPr>
          <p:spPr>
            <a:xfrm>
              <a:off x="8399993" y="6149340"/>
              <a:ext cx="1280696" cy="228600"/>
            </a:xfrm>
            <a:prstGeom prst="rect">
              <a:avLst/>
            </a:prstGeom>
            <a:noFill/>
            <a:ln/>
          </p:spPr>
          <p:txBody>
            <a:bodyPr vert="horz" wrap="square" lIns="0" tIns="0" rIns="0" bIns="0" rtlCol="0" anchor="t"/>
            <a:lstStyle/>
            <a:p>
              <a:pPr marL="0" indent="0" algn="ctr">
                <a:lnSpc>
                  <a:spcPts val="1800"/>
                </a:lnSpc>
                <a:buNone/>
              </a:pPr>
              <a:r>
                <a:rPr lang="en-US" sz="1400" dirty="0">
                  <a:solidFill>
                    <a:srgbClr val="374151"/>
                  </a:solidFill>
                  <a:latin typeface="ui-sans-serif" pitchFamily="34" charset="0"/>
                  <a:ea typeface="ui-sans-serif" pitchFamily="34" charset="-122"/>
                  <a:cs typeface="ui-sans-serif" pitchFamily="34" charset="-120"/>
                </a:rPr>
                <a:t>Road Network</a:t>
              </a:r>
              <a:endParaRPr lang="en-US" sz="1400" dirty="0"/>
            </a:p>
          </p:txBody>
        </p:sp>
      </p:grpSp>
      <p:grpSp>
        <p:nvGrpSpPr>
          <p:cNvPr id="33" name="Group 32">
            <a:extLst>
              <a:ext uri="{FF2B5EF4-FFF2-40B4-BE49-F238E27FC236}">
                <a16:creationId xmlns:a16="http://schemas.microsoft.com/office/drawing/2014/main" id="{F1712D85-FBA2-C03C-0410-BA730D6DB816}"/>
              </a:ext>
            </a:extLst>
          </p:cNvPr>
          <p:cNvGrpSpPr/>
          <p:nvPr/>
        </p:nvGrpSpPr>
        <p:grpSpPr>
          <a:xfrm>
            <a:off x="10409615" y="5730240"/>
            <a:ext cx="1066919" cy="647700"/>
            <a:chOff x="10409615" y="5730240"/>
            <a:chExt cx="1066919" cy="647700"/>
          </a:xfrm>
        </p:grpSpPr>
        <p:pic>
          <p:nvPicPr>
            <p:cNvPr id="16" name="Image 14" descr="preencoded.png"/>
            <p:cNvPicPr>
              <a:picLocks noChangeAspect="1"/>
            </p:cNvPicPr>
            <p:nvPr/>
          </p:nvPicPr>
          <p:blipFill>
            <a:blip r:embed="rId17"/>
            <a:stretch>
              <a:fillRect/>
            </a:stretch>
          </p:blipFill>
          <p:spPr>
            <a:xfrm>
              <a:off x="10728762" y="5730240"/>
              <a:ext cx="428625" cy="381000"/>
            </a:xfrm>
            <a:prstGeom prst="rect">
              <a:avLst/>
            </a:prstGeom>
          </p:spPr>
        </p:pic>
        <p:sp>
          <p:nvSpPr>
            <p:cNvPr id="26" name="Text 9"/>
            <p:cNvSpPr/>
            <p:nvPr/>
          </p:nvSpPr>
          <p:spPr>
            <a:xfrm>
              <a:off x="10409615" y="6149340"/>
              <a:ext cx="1066919" cy="228600"/>
            </a:xfrm>
            <a:prstGeom prst="rect">
              <a:avLst/>
            </a:prstGeom>
            <a:noFill/>
            <a:ln/>
          </p:spPr>
          <p:txBody>
            <a:bodyPr vert="horz" wrap="square" lIns="0" tIns="0" rIns="0" bIns="0" rtlCol="0" anchor="t"/>
            <a:lstStyle/>
            <a:p>
              <a:pPr marL="0" indent="0" algn="ctr">
                <a:lnSpc>
                  <a:spcPts val="1800"/>
                </a:lnSpc>
                <a:buNone/>
              </a:pPr>
              <a:r>
                <a:rPr lang="en-US" sz="1400" dirty="0">
                  <a:solidFill>
                    <a:srgbClr val="374151"/>
                  </a:solidFill>
                  <a:latin typeface="ui-sans-serif" pitchFamily="34" charset="0"/>
                  <a:ea typeface="ui-sans-serif" pitchFamily="34" charset="-122"/>
                  <a:cs typeface="ui-sans-serif" pitchFamily="34" charset="-120"/>
                </a:rPr>
                <a:t>Distribution</a:t>
              </a:r>
              <a:endParaRPr lang="en-US" sz="1400" dirty="0"/>
            </a:p>
          </p:txBody>
        </p:sp>
      </p:grpSp>
      <p:sp>
        <p:nvSpPr>
          <p:cNvPr id="27" name="Text 10"/>
          <p:cNvSpPr/>
          <p:nvPr/>
        </p:nvSpPr>
        <p:spPr>
          <a:xfrm>
            <a:off x="113718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6 / 16</a:t>
            </a:r>
            <a:endParaRPr lang="en-US" sz="1200" dirty="0"/>
          </a:p>
        </p:txBody>
      </p:sp>
      <p:pic>
        <p:nvPicPr>
          <p:cNvPr id="34" name="Picture 33" descr="A blue letters on a black background&#10;&#10;AI-generated content may be incorrect.">
            <a:extLst>
              <a:ext uri="{FF2B5EF4-FFF2-40B4-BE49-F238E27FC236}">
                <a16:creationId xmlns:a16="http://schemas.microsoft.com/office/drawing/2014/main" id="{9E0CACA0-384E-A873-BD6F-51E63F55ACBE}"/>
              </a:ext>
            </a:extLst>
          </p:cNvPr>
          <p:cNvPicPr>
            <a:picLocks noChangeAspect="1"/>
          </p:cNvPicPr>
          <p:nvPr/>
        </p:nvPicPr>
        <p:blipFill>
          <a:blip r:embed="rId18"/>
          <a:stretch>
            <a:fillRect/>
          </a:stretch>
        </p:blipFill>
        <p:spPr>
          <a:xfrm>
            <a:off x="10825377" y="233170"/>
            <a:ext cx="1052680" cy="2606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anim calcmode="lin" valueType="num">
                                      <p:cBhvr additive="base">
                                        <p:cTn id="35" dur="500" fill="hold"/>
                                        <p:tgtEl>
                                          <p:spTgt spid="29"/>
                                        </p:tgtEl>
                                        <p:attrNameLst>
                                          <p:attrName>ppt_x</p:attrName>
                                        </p:attrNameLst>
                                      </p:cBhvr>
                                      <p:tavLst>
                                        <p:tav tm="0">
                                          <p:val>
                                            <p:strVal val="#ppt_x"/>
                                          </p:val>
                                        </p:tav>
                                        <p:tav tm="100000">
                                          <p:val>
                                            <p:strVal val="#ppt_x"/>
                                          </p:val>
                                        </p:tav>
                                      </p:tavLst>
                                    </p:anim>
                                    <p:anim calcmode="lin" valueType="num">
                                      <p:cBhvr additive="base">
                                        <p:cTn id="36" dur="500" fill="hold"/>
                                        <p:tgtEl>
                                          <p:spTgt spid="2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fill="hold"/>
                                        <p:tgtEl>
                                          <p:spTgt spid="21"/>
                                        </p:tgtEl>
                                        <p:attrNameLst>
                                          <p:attrName>ppt_x</p:attrName>
                                        </p:attrNameLst>
                                      </p:cBhvr>
                                      <p:tavLst>
                                        <p:tav tm="0">
                                          <p:val>
                                            <p:strVal val="#ppt_x"/>
                                          </p:val>
                                        </p:tav>
                                        <p:tav tm="100000">
                                          <p:val>
                                            <p:strVal val="#ppt_x"/>
                                          </p:val>
                                        </p:tav>
                                      </p:tavLst>
                                    </p:anim>
                                    <p:anim calcmode="lin" valueType="num">
                                      <p:cBhvr additive="base">
                                        <p:cTn id="4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ppt_x"/>
                                          </p:val>
                                        </p:tav>
                                        <p:tav tm="100000">
                                          <p:val>
                                            <p:strVal val="#ppt_x"/>
                                          </p:val>
                                        </p:tav>
                                      </p:tavLst>
                                    </p:anim>
                                    <p:anim calcmode="lin" valueType="num">
                                      <p:cBhvr additive="base">
                                        <p:cTn id="46" dur="500" fill="hold"/>
                                        <p:tgtEl>
                                          <p:spTgt spid="12"/>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 calcmode="lin" valueType="num">
                                      <p:cBhvr additive="base">
                                        <p:cTn id="49" dur="500" fill="hold"/>
                                        <p:tgtEl>
                                          <p:spTgt spid="30"/>
                                        </p:tgtEl>
                                        <p:attrNameLst>
                                          <p:attrName>ppt_x</p:attrName>
                                        </p:attrNameLst>
                                      </p:cBhvr>
                                      <p:tavLst>
                                        <p:tav tm="0">
                                          <p:val>
                                            <p:strVal val="#ppt_x"/>
                                          </p:val>
                                        </p:tav>
                                        <p:tav tm="100000">
                                          <p:val>
                                            <p:strVal val="#ppt_x"/>
                                          </p:val>
                                        </p:tav>
                                      </p:tavLst>
                                    </p:anim>
                                    <p:anim calcmode="lin" valueType="num">
                                      <p:cBhvr additive="base">
                                        <p:cTn id="50" dur="500" fill="hold"/>
                                        <p:tgtEl>
                                          <p:spTgt spid="30"/>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 calcmode="lin" valueType="num">
                                      <p:cBhvr additive="base">
                                        <p:cTn id="53" dur="500" fill="hold"/>
                                        <p:tgtEl>
                                          <p:spTgt spid="23"/>
                                        </p:tgtEl>
                                        <p:attrNameLst>
                                          <p:attrName>ppt_x</p:attrName>
                                        </p:attrNameLst>
                                      </p:cBhvr>
                                      <p:tavLst>
                                        <p:tav tm="0">
                                          <p:val>
                                            <p:strVal val="#ppt_x"/>
                                          </p:val>
                                        </p:tav>
                                        <p:tav tm="100000">
                                          <p:val>
                                            <p:strVal val="#ppt_x"/>
                                          </p:val>
                                        </p:tav>
                                      </p:tavLst>
                                    </p:anim>
                                    <p:anim calcmode="lin" valueType="num">
                                      <p:cBhvr additive="base">
                                        <p:cTn id="54" dur="500" fill="hold"/>
                                        <p:tgtEl>
                                          <p:spTgt spid="23"/>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31"/>
                                        </p:tgtEl>
                                        <p:attrNameLst>
                                          <p:attrName>style.visibility</p:attrName>
                                        </p:attrNameLst>
                                      </p:cBhvr>
                                      <p:to>
                                        <p:strVal val="visible"/>
                                      </p:to>
                                    </p:set>
                                    <p:anim calcmode="lin" valueType="num">
                                      <p:cBhvr additive="base">
                                        <p:cTn id="57" dur="500" fill="hold"/>
                                        <p:tgtEl>
                                          <p:spTgt spid="31"/>
                                        </p:tgtEl>
                                        <p:attrNameLst>
                                          <p:attrName>ppt_x</p:attrName>
                                        </p:attrNameLst>
                                      </p:cBhvr>
                                      <p:tavLst>
                                        <p:tav tm="0">
                                          <p:val>
                                            <p:strVal val="#ppt_x"/>
                                          </p:val>
                                        </p:tav>
                                        <p:tav tm="100000">
                                          <p:val>
                                            <p:strVal val="#ppt_x"/>
                                          </p:val>
                                        </p:tav>
                                      </p:tavLst>
                                    </p:anim>
                                    <p:anim calcmode="lin" valueType="num">
                                      <p:cBhvr additive="base">
                                        <p:cTn id="58" dur="500" fill="hold"/>
                                        <p:tgtEl>
                                          <p:spTgt spid="31"/>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32"/>
                                        </p:tgtEl>
                                        <p:attrNameLst>
                                          <p:attrName>style.visibility</p:attrName>
                                        </p:attrNameLst>
                                      </p:cBhvr>
                                      <p:to>
                                        <p:strVal val="visible"/>
                                      </p:to>
                                    </p:set>
                                    <p:anim calcmode="lin" valueType="num">
                                      <p:cBhvr additive="base">
                                        <p:cTn id="61" dur="500" fill="hold"/>
                                        <p:tgtEl>
                                          <p:spTgt spid="32"/>
                                        </p:tgtEl>
                                        <p:attrNameLst>
                                          <p:attrName>ppt_x</p:attrName>
                                        </p:attrNameLst>
                                      </p:cBhvr>
                                      <p:tavLst>
                                        <p:tav tm="0">
                                          <p:val>
                                            <p:strVal val="#ppt_x"/>
                                          </p:val>
                                        </p:tav>
                                        <p:tav tm="100000">
                                          <p:val>
                                            <p:strVal val="#ppt_x"/>
                                          </p:val>
                                        </p:tav>
                                      </p:tavLst>
                                    </p:anim>
                                    <p:anim calcmode="lin" valueType="num">
                                      <p:cBhvr additive="base">
                                        <p:cTn id="62" dur="500" fill="hold"/>
                                        <p:tgtEl>
                                          <p:spTgt spid="32"/>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33"/>
                                        </p:tgtEl>
                                        <p:attrNameLst>
                                          <p:attrName>style.visibility</p:attrName>
                                        </p:attrNameLst>
                                      </p:cBhvr>
                                      <p:to>
                                        <p:strVal val="visible"/>
                                      </p:to>
                                    </p:set>
                                    <p:anim calcmode="lin" valueType="num">
                                      <p:cBhvr additive="base">
                                        <p:cTn id="65" dur="500" fill="hold"/>
                                        <p:tgtEl>
                                          <p:spTgt spid="33"/>
                                        </p:tgtEl>
                                        <p:attrNameLst>
                                          <p:attrName>ppt_x</p:attrName>
                                        </p:attrNameLst>
                                      </p:cBhvr>
                                      <p:tavLst>
                                        <p:tav tm="0">
                                          <p:val>
                                            <p:strVal val="#ppt_x"/>
                                          </p:val>
                                        </p:tav>
                                        <p:tav tm="100000">
                                          <p:val>
                                            <p:strVal val="#ppt_x"/>
                                          </p:val>
                                        </p:tav>
                                      </p:tavLst>
                                    </p:anim>
                                    <p:anim calcmode="lin" valueType="num">
                                      <p:cBhvr additive="base">
                                        <p:cTn id="66"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9334500" y="5429250"/>
            <a:ext cx="1905000" cy="1905000"/>
          </a:xfrm>
          <a:prstGeom prst="rect">
            <a:avLst/>
          </a:prstGeom>
        </p:spPr>
      </p:pic>
      <p:pic>
        <p:nvPicPr>
          <p:cNvPr id="5" name="Image 3" descr="preencoded.png"/>
          <p:cNvPicPr>
            <a:picLocks noChangeAspect="1"/>
          </p:cNvPicPr>
          <p:nvPr/>
        </p:nvPicPr>
        <p:blipFill>
          <a:blip r:embed="rId6"/>
          <a:stretch>
            <a:fillRect/>
          </a:stretch>
        </p:blipFill>
        <p:spPr>
          <a:xfrm>
            <a:off x="0" y="0"/>
            <a:ext cx="12192000" cy="685800"/>
          </a:xfrm>
          <a:prstGeom prst="rect">
            <a:avLst/>
          </a:prstGeom>
        </p:spPr>
      </p:pic>
      <p:pic>
        <p:nvPicPr>
          <p:cNvPr id="7" name="Image 5" descr="preencoded.png"/>
          <p:cNvPicPr>
            <a:picLocks noChangeAspect="1"/>
          </p:cNvPicPr>
          <p:nvPr/>
        </p:nvPicPr>
        <p:blipFill>
          <a:blip r:embed="rId7"/>
          <a:stretch>
            <a:fillRect/>
          </a:stretch>
        </p:blipFill>
        <p:spPr>
          <a:xfrm>
            <a:off x="228600" y="1333500"/>
            <a:ext cx="11734800" cy="822960"/>
          </a:xfrm>
          <a:prstGeom prst="rect">
            <a:avLst/>
          </a:prstGeom>
        </p:spPr>
      </p:pic>
      <p:pic>
        <p:nvPicPr>
          <p:cNvPr id="8" name="Image 6" descr="preencoded.png"/>
          <p:cNvPicPr>
            <a:picLocks noChangeAspect="1"/>
          </p:cNvPicPr>
          <p:nvPr/>
        </p:nvPicPr>
        <p:blipFill>
          <a:blip r:embed="rId8"/>
          <a:stretch>
            <a:fillRect/>
          </a:stretch>
        </p:blipFill>
        <p:spPr>
          <a:xfrm>
            <a:off x="228600" y="2301240"/>
            <a:ext cx="5715000" cy="2077720"/>
          </a:xfrm>
          <a:prstGeom prst="rect">
            <a:avLst/>
          </a:prstGeom>
        </p:spPr>
      </p:pic>
      <p:pic>
        <p:nvPicPr>
          <p:cNvPr id="10" name="Image 8" descr="preencoded.png"/>
          <p:cNvPicPr>
            <a:picLocks noChangeAspect="1"/>
          </p:cNvPicPr>
          <p:nvPr/>
        </p:nvPicPr>
        <p:blipFill>
          <a:blip r:embed="rId9"/>
          <a:stretch>
            <a:fillRect/>
          </a:stretch>
        </p:blipFill>
        <p:spPr>
          <a:xfrm>
            <a:off x="419100" y="2948940"/>
            <a:ext cx="152400" cy="152400"/>
          </a:xfrm>
          <a:prstGeom prst="rect">
            <a:avLst/>
          </a:prstGeom>
        </p:spPr>
      </p:pic>
      <p:pic>
        <p:nvPicPr>
          <p:cNvPr id="11" name="Image 9" descr="preencoded.png"/>
          <p:cNvPicPr>
            <a:picLocks noChangeAspect="1"/>
          </p:cNvPicPr>
          <p:nvPr/>
        </p:nvPicPr>
        <p:blipFill>
          <a:blip r:embed="rId9"/>
          <a:stretch>
            <a:fillRect/>
          </a:stretch>
        </p:blipFill>
        <p:spPr>
          <a:xfrm>
            <a:off x="419100" y="3266440"/>
            <a:ext cx="152400" cy="152400"/>
          </a:xfrm>
          <a:prstGeom prst="rect">
            <a:avLst/>
          </a:prstGeom>
        </p:spPr>
      </p:pic>
      <p:pic>
        <p:nvPicPr>
          <p:cNvPr id="12" name="Image 10" descr="preencoded.png"/>
          <p:cNvPicPr>
            <a:picLocks noChangeAspect="1"/>
          </p:cNvPicPr>
          <p:nvPr/>
        </p:nvPicPr>
        <p:blipFill>
          <a:blip r:embed="rId8"/>
          <a:stretch>
            <a:fillRect/>
          </a:stretch>
        </p:blipFill>
        <p:spPr>
          <a:xfrm>
            <a:off x="6248400" y="2301240"/>
            <a:ext cx="5715000" cy="2077720"/>
          </a:xfrm>
          <a:prstGeom prst="rect">
            <a:avLst/>
          </a:prstGeom>
        </p:spPr>
      </p:pic>
      <p:pic>
        <p:nvPicPr>
          <p:cNvPr id="14" name="Image 12" descr="preencoded.png"/>
          <p:cNvPicPr>
            <a:picLocks noChangeAspect="1"/>
          </p:cNvPicPr>
          <p:nvPr/>
        </p:nvPicPr>
        <p:blipFill>
          <a:blip r:embed="rId9"/>
          <a:stretch>
            <a:fillRect/>
          </a:stretch>
        </p:blipFill>
        <p:spPr>
          <a:xfrm>
            <a:off x="6438900" y="2948940"/>
            <a:ext cx="152400" cy="152400"/>
          </a:xfrm>
          <a:prstGeom prst="rect">
            <a:avLst/>
          </a:prstGeom>
        </p:spPr>
      </p:pic>
      <p:pic>
        <p:nvPicPr>
          <p:cNvPr id="15" name="Image 13" descr="preencoded.png"/>
          <p:cNvPicPr>
            <a:picLocks noChangeAspect="1"/>
          </p:cNvPicPr>
          <p:nvPr/>
        </p:nvPicPr>
        <p:blipFill>
          <a:blip r:embed="rId9"/>
          <a:stretch>
            <a:fillRect/>
          </a:stretch>
        </p:blipFill>
        <p:spPr>
          <a:xfrm>
            <a:off x="6438900" y="3266440"/>
            <a:ext cx="152400" cy="152400"/>
          </a:xfrm>
          <a:prstGeom prst="rect">
            <a:avLst/>
          </a:prstGeom>
        </p:spPr>
      </p:pic>
      <p:pic>
        <p:nvPicPr>
          <p:cNvPr id="17" name="Image 15" descr="preencoded.png"/>
          <p:cNvPicPr>
            <a:picLocks noChangeAspect="1"/>
          </p:cNvPicPr>
          <p:nvPr/>
        </p:nvPicPr>
        <p:blipFill>
          <a:blip r:embed="rId10"/>
          <a:stretch>
            <a:fillRect/>
          </a:stretch>
        </p:blipFill>
        <p:spPr>
          <a:xfrm>
            <a:off x="228600" y="4531360"/>
            <a:ext cx="11734800" cy="1793240"/>
          </a:xfrm>
          <a:prstGeom prst="rect">
            <a:avLst/>
          </a:prstGeom>
        </p:spPr>
      </p:pic>
      <p:sp>
        <p:nvSpPr>
          <p:cNvPr id="19" name="Text 0"/>
          <p:cNvSpPr/>
          <p:nvPr/>
        </p:nvSpPr>
        <p:spPr>
          <a:xfrm>
            <a:off x="381000" y="152400"/>
            <a:ext cx="11430000" cy="381000"/>
          </a:xfrm>
          <a:prstGeom prst="rect">
            <a:avLst/>
          </a:prstGeom>
          <a:noFill/>
          <a:ln/>
        </p:spPr>
        <p:txBody>
          <a:bodyPr vert="horz" wrap="square" lIns="0" tIns="0" rIns="0" bIns="0" rtlCol="0" anchor="t"/>
          <a:lstStyle/>
          <a:p>
            <a:pPr marL="0" indent="0">
              <a:lnSpc>
                <a:spcPts val="3000"/>
              </a:lnSpc>
              <a:buNone/>
            </a:pPr>
            <a:r>
              <a:rPr lang="en-US" sz="3600" b="1" dirty="0">
                <a:solidFill>
                  <a:srgbClr val="FFFFFF"/>
                </a:solidFill>
                <a:latin typeface="ui-sans-serif" pitchFamily="34" charset="0"/>
                <a:ea typeface="ui-sans-serif" pitchFamily="34" charset="-122"/>
                <a:cs typeface="ui-sans-serif" pitchFamily="34" charset="-120"/>
              </a:rPr>
              <a:t>Our Competitive Advantage</a:t>
            </a:r>
            <a:endParaRPr lang="en-US" sz="3600" dirty="0"/>
          </a:p>
        </p:txBody>
      </p:sp>
      <p:grpSp>
        <p:nvGrpSpPr>
          <p:cNvPr id="32" name="Group 31">
            <a:extLst>
              <a:ext uri="{FF2B5EF4-FFF2-40B4-BE49-F238E27FC236}">
                <a16:creationId xmlns:a16="http://schemas.microsoft.com/office/drawing/2014/main" id="{0650AA23-4AC7-08C6-2B8E-807762A58BCD}"/>
              </a:ext>
            </a:extLst>
          </p:cNvPr>
          <p:cNvGrpSpPr/>
          <p:nvPr/>
        </p:nvGrpSpPr>
        <p:grpSpPr>
          <a:xfrm>
            <a:off x="228600" y="914400"/>
            <a:ext cx="4590336" cy="342900"/>
            <a:chOff x="228600" y="914400"/>
            <a:chExt cx="4590336" cy="342900"/>
          </a:xfrm>
        </p:grpSpPr>
        <p:pic>
          <p:nvPicPr>
            <p:cNvPr id="6" name="Image 4" descr="preencoded.png"/>
            <p:cNvPicPr>
              <a:picLocks noChangeAspect="1"/>
            </p:cNvPicPr>
            <p:nvPr/>
          </p:nvPicPr>
          <p:blipFill>
            <a:blip r:embed="rId11"/>
            <a:stretch>
              <a:fillRect/>
            </a:stretch>
          </p:blipFill>
          <p:spPr>
            <a:xfrm>
              <a:off x="228600" y="914400"/>
              <a:ext cx="323850" cy="342900"/>
            </a:xfrm>
            <a:prstGeom prst="rect">
              <a:avLst/>
            </a:prstGeom>
          </p:spPr>
        </p:pic>
        <p:sp>
          <p:nvSpPr>
            <p:cNvPr id="20" name="Text 1"/>
            <p:cNvSpPr/>
            <p:nvPr/>
          </p:nvSpPr>
          <p:spPr>
            <a:xfrm>
              <a:off x="704850" y="933450"/>
              <a:ext cx="4114086" cy="304800"/>
            </a:xfrm>
            <a:prstGeom prst="rect">
              <a:avLst/>
            </a:prstGeom>
            <a:noFill/>
            <a:ln/>
          </p:spPr>
          <p:txBody>
            <a:bodyPr vert="horz" wrap="square" lIns="0" tIns="0" rIns="0" bIns="0" rtlCol="0" anchor="t"/>
            <a:lstStyle/>
            <a:p>
              <a:pPr marL="0" indent="0">
                <a:lnSpc>
                  <a:spcPts val="2400"/>
                </a:lnSpc>
                <a:buNone/>
              </a:pPr>
              <a:r>
                <a:rPr lang="en-US" sz="2400" b="1" dirty="0">
                  <a:solidFill>
                    <a:srgbClr val="1F2937"/>
                  </a:solidFill>
                  <a:latin typeface="ui-sans-serif" pitchFamily="34" charset="0"/>
                  <a:ea typeface="ui-sans-serif" pitchFamily="34" charset="-122"/>
                  <a:cs typeface="ui-sans-serif" pitchFamily="34" charset="-120"/>
                </a:rPr>
                <a:t>Unique Selling Proposition</a:t>
              </a:r>
              <a:endParaRPr lang="en-US" sz="2400" dirty="0"/>
            </a:p>
          </p:txBody>
        </p:sp>
      </p:grpSp>
      <p:sp>
        <p:nvSpPr>
          <p:cNvPr id="21" name="Text 2"/>
          <p:cNvSpPr/>
          <p:nvPr/>
        </p:nvSpPr>
        <p:spPr>
          <a:xfrm>
            <a:off x="381000" y="1485900"/>
            <a:ext cx="11430000" cy="32385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Our USP in [Target Market Country] is "[State USP]". This differentiates us from competitors.</a:t>
            </a:r>
            <a:endParaRPr lang="en-US" sz="1500" dirty="0"/>
          </a:p>
        </p:txBody>
      </p:sp>
      <p:grpSp>
        <p:nvGrpSpPr>
          <p:cNvPr id="34" name="Group 33">
            <a:extLst>
              <a:ext uri="{FF2B5EF4-FFF2-40B4-BE49-F238E27FC236}">
                <a16:creationId xmlns:a16="http://schemas.microsoft.com/office/drawing/2014/main" id="{59AA2DCB-57BC-DE93-6FC8-6CE6FDFEA4BA}"/>
              </a:ext>
            </a:extLst>
          </p:cNvPr>
          <p:cNvGrpSpPr/>
          <p:nvPr/>
        </p:nvGrpSpPr>
        <p:grpSpPr>
          <a:xfrm>
            <a:off x="419100" y="2420620"/>
            <a:ext cx="2706410" cy="304800"/>
            <a:chOff x="419100" y="2491740"/>
            <a:chExt cx="2706410" cy="304800"/>
          </a:xfrm>
        </p:grpSpPr>
        <p:pic>
          <p:nvPicPr>
            <p:cNvPr id="9" name="Image 7" descr="preencoded.png"/>
            <p:cNvPicPr>
              <a:picLocks noChangeAspect="1"/>
            </p:cNvPicPr>
            <p:nvPr/>
          </p:nvPicPr>
          <p:blipFill>
            <a:blip r:embed="rId12"/>
            <a:stretch>
              <a:fillRect/>
            </a:stretch>
          </p:blipFill>
          <p:spPr>
            <a:xfrm>
              <a:off x="419100" y="2491740"/>
              <a:ext cx="257175" cy="304800"/>
            </a:xfrm>
            <a:prstGeom prst="rect">
              <a:avLst/>
            </a:prstGeom>
          </p:spPr>
        </p:pic>
        <p:sp>
          <p:nvSpPr>
            <p:cNvPr id="22" name="Text 3"/>
            <p:cNvSpPr/>
            <p:nvPr/>
          </p:nvSpPr>
          <p:spPr>
            <a:xfrm>
              <a:off x="790575" y="2510790"/>
              <a:ext cx="2334935" cy="266700"/>
            </a:xfrm>
            <a:prstGeom prst="rect">
              <a:avLst/>
            </a:prstGeom>
            <a:noFill/>
            <a:ln/>
          </p:spPr>
          <p:txBody>
            <a:bodyPr vert="horz" wrap="square" lIns="0" tIns="0" rIns="0" bIns="0" rtlCol="0" anchor="t"/>
            <a:lstStyle/>
            <a:p>
              <a:pPr marL="0" indent="0">
                <a:lnSpc>
                  <a:spcPts val="2100"/>
                </a:lnSpc>
                <a:buNone/>
              </a:pPr>
              <a:r>
                <a:rPr lang="en-US" sz="2000" b="1" dirty="0">
                  <a:solidFill>
                    <a:srgbClr val="1F2937"/>
                  </a:solidFill>
                  <a:latin typeface="ui-sans-serif" pitchFamily="34" charset="0"/>
                  <a:ea typeface="ui-sans-serif" pitchFamily="34" charset="-122"/>
                  <a:cs typeface="ui-sans-serif" pitchFamily="34" charset="-120"/>
                </a:rPr>
                <a:t>Local Competitors</a:t>
              </a:r>
              <a:endParaRPr lang="en-US" sz="2000" dirty="0"/>
            </a:p>
          </p:txBody>
        </p:sp>
      </p:grpSp>
      <p:sp>
        <p:nvSpPr>
          <p:cNvPr id="23" name="Text 4"/>
          <p:cNvSpPr/>
          <p:nvPr/>
        </p:nvSpPr>
        <p:spPr>
          <a:xfrm>
            <a:off x="647700" y="2910840"/>
            <a:ext cx="5163820" cy="24765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Lack sustainable certifications</a:t>
            </a:r>
            <a:endParaRPr lang="en-US" sz="1400" dirty="0"/>
          </a:p>
        </p:txBody>
      </p:sp>
      <p:sp>
        <p:nvSpPr>
          <p:cNvPr id="24" name="Text 5"/>
          <p:cNvSpPr/>
          <p:nvPr/>
        </p:nvSpPr>
        <p:spPr>
          <a:xfrm>
            <a:off x="647700" y="3228340"/>
            <a:ext cx="5163820" cy="22479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Higher prices</a:t>
            </a:r>
            <a:endParaRPr lang="en-US" sz="1400" dirty="0"/>
          </a:p>
        </p:txBody>
      </p:sp>
      <p:grpSp>
        <p:nvGrpSpPr>
          <p:cNvPr id="35" name="Group 34">
            <a:extLst>
              <a:ext uri="{FF2B5EF4-FFF2-40B4-BE49-F238E27FC236}">
                <a16:creationId xmlns:a16="http://schemas.microsoft.com/office/drawing/2014/main" id="{075C92CF-C0EE-A7EE-6B57-38788FBC79CA}"/>
              </a:ext>
            </a:extLst>
          </p:cNvPr>
          <p:cNvGrpSpPr/>
          <p:nvPr/>
        </p:nvGrpSpPr>
        <p:grpSpPr>
          <a:xfrm>
            <a:off x="6438900" y="2420620"/>
            <a:ext cx="3688854" cy="304800"/>
            <a:chOff x="6438900" y="2491740"/>
            <a:chExt cx="3688854" cy="304800"/>
          </a:xfrm>
        </p:grpSpPr>
        <p:pic>
          <p:nvPicPr>
            <p:cNvPr id="13" name="Image 11" descr="preencoded.png"/>
            <p:cNvPicPr>
              <a:picLocks noChangeAspect="1"/>
            </p:cNvPicPr>
            <p:nvPr/>
          </p:nvPicPr>
          <p:blipFill>
            <a:blip r:embed="rId13"/>
            <a:stretch>
              <a:fillRect/>
            </a:stretch>
          </p:blipFill>
          <p:spPr>
            <a:xfrm>
              <a:off x="6438900" y="2491740"/>
              <a:ext cx="228600" cy="304800"/>
            </a:xfrm>
            <a:prstGeom prst="rect">
              <a:avLst/>
            </a:prstGeom>
          </p:spPr>
        </p:pic>
        <p:sp>
          <p:nvSpPr>
            <p:cNvPr id="25" name="Text 6"/>
            <p:cNvSpPr/>
            <p:nvPr/>
          </p:nvSpPr>
          <p:spPr>
            <a:xfrm>
              <a:off x="6781800" y="2510790"/>
              <a:ext cx="3345954" cy="266700"/>
            </a:xfrm>
            <a:prstGeom prst="rect">
              <a:avLst/>
            </a:prstGeom>
            <a:noFill/>
            <a:ln/>
          </p:spPr>
          <p:txBody>
            <a:bodyPr vert="horz" wrap="square" lIns="0" tIns="0" rIns="0" bIns="0" rtlCol="0" anchor="t"/>
            <a:lstStyle/>
            <a:p>
              <a:pPr marL="0" indent="0">
                <a:lnSpc>
                  <a:spcPts val="2100"/>
                </a:lnSpc>
                <a:buNone/>
              </a:pPr>
              <a:r>
                <a:rPr lang="en-US" sz="2000" b="1" dirty="0">
                  <a:solidFill>
                    <a:srgbClr val="1F2937"/>
                  </a:solidFill>
                  <a:latin typeface="ui-sans-serif" pitchFamily="34" charset="0"/>
                  <a:ea typeface="ui-sans-serif" pitchFamily="34" charset="-122"/>
                  <a:cs typeface="ui-sans-serif" pitchFamily="34" charset="-120"/>
                </a:rPr>
                <a:t>International Competitors</a:t>
              </a:r>
              <a:endParaRPr lang="en-US" sz="2000" dirty="0"/>
            </a:p>
          </p:txBody>
        </p:sp>
      </p:grpSp>
      <p:sp>
        <p:nvSpPr>
          <p:cNvPr id="26" name="Text 7"/>
          <p:cNvSpPr/>
          <p:nvPr/>
        </p:nvSpPr>
        <p:spPr>
          <a:xfrm>
            <a:off x="6667500" y="2910840"/>
            <a:ext cx="5143500" cy="24765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Lower quality</a:t>
            </a:r>
            <a:endParaRPr lang="en-US" sz="1400" dirty="0"/>
          </a:p>
        </p:txBody>
      </p:sp>
      <p:sp>
        <p:nvSpPr>
          <p:cNvPr id="27" name="Text 8"/>
          <p:cNvSpPr/>
          <p:nvPr/>
        </p:nvSpPr>
        <p:spPr>
          <a:xfrm>
            <a:off x="6667500" y="3228340"/>
            <a:ext cx="5143500" cy="24765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Less local flavor adaptation</a:t>
            </a:r>
            <a:endParaRPr lang="en-US" sz="1400" dirty="0"/>
          </a:p>
        </p:txBody>
      </p:sp>
      <p:grpSp>
        <p:nvGrpSpPr>
          <p:cNvPr id="33" name="Group 32">
            <a:extLst>
              <a:ext uri="{FF2B5EF4-FFF2-40B4-BE49-F238E27FC236}">
                <a16:creationId xmlns:a16="http://schemas.microsoft.com/office/drawing/2014/main" id="{FD732799-D554-4510-D28B-6BB26EAA0B08}"/>
              </a:ext>
            </a:extLst>
          </p:cNvPr>
          <p:cNvGrpSpPr/>
          <p:nvPr/>
        </p:nvGrpSpPr>
        <p:grpSpPr>
          <a:xfrm>
            <a:off x="55880" y="2047240"/>
            <a:ext cx="457646" cy="482600"/>
            <a:chOff x="-299720" y="1955800"/>
            <a:chExt cx="457646" cy="482600"/>
          </a:xfrm>
        </p:grpSpPr>
        <p:pic>
          <p:nvPicPr>
            <p:cNvPr id="16" name="Image 14" descr="preencoded.png"/>
            <p:cNvPicPr>
              <a:picLocks noChangeAspect="1"/>
            </p:cNvPicPr>
            <p:nvPr/>
          </p:nvPicPr>
          <p:blipFill>
            <a:blip r:embed="rId14"/>
            <a:stretch>
              <a:fillRect/>
            </a:stretch>
          </p:blipFill>
          <p:spPr>
            <a:xfrm>
              <a:off x="-299720" y="1955800"/>
              <a:ext cx="381000" cy="381000"/>
            </a:xfrm>
            <a:prstGeom prst="rect">
              <a:avLst/>
            </a:prstGeom>
          </p:spPr>
        </p:pic>
        <p:sp>
          <p:nvSpPr>
            <p:cNvPr id="28" name="Text 9"/>
            <p:cNvSpPr/>
            <p:nvPr/>
          </p:nvSpPr>
          <p:spPr>
            <a:xfrm>
              <a:off x="-223074" y="2057400"/>
              <a:ext cx="381000" cy="381000"/>
            </a:xfrm>
            <a:prstGeom prst="rect">
              <a:avLst/>
            </a:prstGeom>
            <a:noFill/>
            <a:ln/>
          </p:spPr>
          <p:txBody>
            <a:bodyPr vert="horz" wrap="square" lIns="0" tIns="0" rIns="0" bIns="0" rtlCol="0" anchor="t"/>
            <a:lstStyle/>
            <a:p>
              <a:pPr marL="0" indent="0">
                <a:lnSpc>
                  <a:spcPts val="1800"/>
                </a:lnSpc>
                <a:buNone/>
              </a:pPr>
              <a:r>
                <a:rPr lang="en-US" b="1" dirty="0">
                  <a:solidFill>
                    <a:srgbClr val="FFFFFF"/>
                  </a:solidFill>
                  <a:latin typeface="ui-sans-serif" pitchFamily="34" charset="0"/>
                  <a:ea typeface="ui-sans-serif" pitchFamily="34" charset="-122"/>
                  <a:cs typeface="ui-sans-serif" pitchFamily="34" charset="-120"/>
                </a:rPr>
                <a:t>VS</a:t>
              </a:r>
              <a:endParaRPr lang="en-US" dirty="0"/>
            </a:p>
          </p:txBody>
        </p:sp>
      </p:grpSp>
      <p:grpSp>
        <p:nvGrpSpPr>
          <p:cNvPr id="44" name="Group 43">
            <a:extLst>
              <a:ext uri="{FF2B5EF4-FFF2-40B4-BE49-F238E27FC236}">
                <a16:creationId xmlns:a16="http://schemas.microsoft.com/office/drawing/2014/main" id="{826E5871-CF64-7E8F-357C-0BBB74F67AB8}"/>
              </a:ext>
            </a:extLst>
          </p:cNvPr>
          <p:cNvGrpSpPr/>
          <p:nvPr/>
        </p:nvGrpSpPr>
        <p:grpSpPr>
          <a:xfrm>
            <a:off x="381000" y="4683760"/>
            <a:ext cx="2708374" cy="304800"/>
            <a:chOff x="381000" y="4683760"/>
            <a:chExt cx="2708374" cy="304800"/>
          </a:xfrm>
        </p:grpSpPr>
        <p:pic>
          <p:nvPicPr>
            <p:cNvPr id="18" name="Image 16" descr="preencoded.png"/>
            <p:cNvPicPr>
              <a:picLocks noChangeAspect="1"/>
            </p:cNvPicPr>
            <p:nvPr/>
          </p:nvPicPr>
          <p:blipFill>
            <a:blip r:embed="rId15"/>
            <a:stretch>
              <a:fillRect/>
            </a:stretch>
          </p:blipFill>
          <p:spPr>
            <a:xfrm>
              <a:off x="381000" y="4683760"/>
              <a:ext cx="171450" cy="304800"/>
            </a:xfrm>
            <a:prstGeom prst="rect">
              <a:avLst/>
            </a:prstGeom>
          </p:spPr>
        </p:pic>
        <p:sp>
          <p:nvSpPr>
            <p:cNvPr id="29" name="Text 10"/>
            <p:cNvSpPr/>
            <p:nvPr/>
          </p:nvSpPr>
          <p:spPr>
            <a:xfrm>
              <a:off x="666750" y="4702810"/>
              <a:ext cx="2422624" cy="266700"/>
            </a:xfrm>
            <a:prstGeom prst="rect">
              <a:avLst/>
            </a:prstGeom>
            <a:noFill/>
            <a:ln/>
          </p:spPr>
          <p:txBody>
            <a:bodyPr vert="horz" wrap="square" lIns="0" tIns="0" rIns="0" bIns="0" rtlCol="0" anchor="t"/>
            <a:lstStyle/>
            <a:p>
              <a:pPr marL="0" indent="0">
                <a:lnSpc>
                  <a:spcPts val="2100"/>
                </a:lnSpc>
                <a:buNone/>
              </a:pPr>
              <a:r>
                <a:rPr lang="en-US" sz="2000" b="1" dirty="0">
                  <a:solidFill>
                    <a:srgbClr val="1F2937"/>
                  </a:solidFill>
                  <a:latin typeface="ui-sans-serif" pitchFamily="34" charset="0"/>
                  <a:ea typeface="ui-sans-serif" pitchFamily="34" charset="-122"/>
                  <a:cs typeface="ui-sans-serif" pitchFamily="34" charset="-120"/>
                </a:rPr>
                <a:t>Why We Stand Out</a:t>
              </a:r>
              <a:endParaRPr lang="en-US" sz="2000" dirty="0"/>
            </a:p>
          </p:txBody>
        </p:sp>
      </p:grpSp>
      <p:sp>
        <p:nvSpPr>
          <p:cNvPr id="30" name="Text 11"/>
          <p:cNvSpPr/>
          <p:nvPr/>
        </p:nvSpPr>
        <p:spPr>
          <a:xfrm>
            <a:off x="381000" y="5085080"/>
            <a:ext cx="11430000" cy="266700"/>
          </a:xfrm>
          <a:prstGeom prst="rect">
            <a:avLst/>
          </a:prstGeom>
          <a:noFill/>
          <a:ln/>
        </p:spPr>
        <p:txBody>
          <a:bodyPr vert="horz" wrap="square" lIns="0" tIns="0" rIns="0" bIns="0" rtlCol="0" anchor="t"/>
          <a:lstStyle/>
          <a:p>
            <a:pPr marL="0" indent="0">
              <a:lnSpc>
                <a:spcPts val="1800"/>
              </a:lnSpc>
              <a:buNone/>
            </a:pPr>
            <a:r>
              <a:rPr lang="en-US" sz="1400" dirty="0">
                <a:solidFill>
                  <a:srgbClr val="374151"/>
                </a:solidFill>
                <a:latin typeface="ui-sans-serif" pitchFamily="34" charset="0"/>
                <a:ea typeface="ui-sans-serif" pitchFamily="34" charset="-122"/>
                <a:cs typeface="ui-sans-serif" pitchFamily="34" charset="-120"/>
              </a:rPr>
              <a:t>We offer products that meet quality standards while resonating with growing consumer preference for environmentally responsible brands.</a:t>
            </a:r>
            <a:endParaRPr lang="en-US" sz="1400" dirty="0"/>
          </a:p>
        </p:txBody>
      </p:sp>
      <p:sp>
        <p:nvSpPr>
          <p:cNvPr id="31" name="Text 12"/>
          <p:cNvSpPr/>
          <p:nvPr/>
        </p:nvSpPr>
        <p:spPr>
          <a:xfrm>
            <a:off x="113718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7 / 16</a:t>
            </a:r>
            <a:endParaRPr lang="en-US" sz="1200" dirty="0"/>
          </a:p>
        </p:txBody>
      </p:sp>
      <p:pic>
        <p:nvPicPr>
          <p:cNvPr id="36" name="Image 8" descr="preencoded.png">
            <a:extLst>
              <a:ext uri="{FF2B5EF4-FFF2-40B4-BE49-F238E27FC236}">
                <a16:creationId xmlns:a16="http://schemas.microsoft.com/office/drawing/2014/main" id="{C8C63BAE-A04D-348A-5C7A-5783B6E83EB0}"/>
              </a:ext>
            </a:extLst>
          </p:cNvPr>
          <p:cNvPicPr>
            <a:picLocks noChangeAspect="1"/>
          </p:cNvPicPr>
          <p:nvPr/>
        </p:nvPicPr>
        <p:blipFill>
          <a:blip r:embed="rId9"/>
          <a:stretch>
            <a:fillRect/>
          </a:stretch>
        </p:blipFill>
        <p:spPr>
          <a:xfrm>
            <a:off x="419100" y="3568700"/>
            <a:ext cx="152400" cy="152400"/>
          </a:xfrm>
          <a:prstGeom prst="rect">
            <a:avLst/>
          </a:prstGeom>
        </p:spPr>
      </p:pic>
      <p:pic>
        <p:nvPicPr>
          <p:cNvPr id="37" name="Image 9" descr="preencoded.png">
            <a:extLst>
              <a:ext uri="{FF2B5EF4-FFF2-40B4-BE49-F238E27FC236}">
                <a16:creationId xmlns:a16="http://schemas.microsoft.com/office/drawing/2014/main" id="{3E20A165-0070-83A7-93AF-078630A6913B}"/>
              </a:ext>
            </a:extLst>
          </p:cNvPr>
          <p:cNvPicPr>
            <a:picLocks noChangeAspect="1"/>
          </p:cNvPicPr>
          <p:nvPr/>
        </p:nvPicPr>
        <p:blipFill>
          <a:blip r:embed="rId9"/>
          <a:stretch>
            <a:fillRect/>
          </a:stretch>
        </p:blipFill>
        <p:spPr>
          <a:xfrm>
            <a:off x="419100" y="3886200"/>
            <a:ext cx="152400" cy="152400"/>
          </a:xfrm>
          <a:prstGeom prst="rect">
            <a:avLst/>
          </a:prstGeom>
        </p:spPr>
      </p:pic>
      <p:pic>
        <p:nvPicPr>
          <p:cNvPr id="38" name="Image 12" descr="preencoded.png">
            <a:extLst>
              <a:ext uri="{FF2B5EF4-FFF2-40B4-BE49-F238E27FC236}">
                <a16:creationId xmlns:a16="http://schemas.microsoft.com/office/drawing/2014/main" id="{550CF4A8-E0CE-DE7A-961A-5B32CF727380}"/>
              </a:ext>
            </a:extLst>
          </p:cNvPr>
          <p:cNvPicPr>
            <a:picLocks noChangeAspect="1"/>
          </p:cNvPicPr>
          <p:nvPr/>
        </p:nvPicPr>
        <p:blipFill>
          <a:blip r:embed="rId9"/>
          <a:stretch>
            <a:fillRect/>
          </a:stretch>
        </p:blipFill>
        <p:spPr>
          <a:xfrm>
            <a:off x="6438900" y="3568700"/>
            <a:ext cx="152400" cy="152400"/>
          </a:xfrm>
          <a:prstGeom prst="rect">
            <a:avLst/>
          </a:prstGeom>
        </p:spPr>
      </p:pic>
      <p:pic>
        <p:nvPicPr>
          <p:cNvPr id="39" name="Image 13" descr="preencoded.png">
            <a:extLst>
              <a:ext uri="{FF2B5EF4-FFF2-40B4-BE49-F238E27FC236}">
                <a16:creationId xmlns:a16="http://schemas.microsoft.com/office/drawing/2014/main" id="{63ACA532-85F3-955A-B049-D0EDF2F458C5}"/>
              </a:ext>
            </a:extLst>
          </p:cNvPr>
          <p:cNvPicPr>
            <a:picLocks noChangeAspect="1"/>
          </p:cNvPicPr>
          <p:nvPr/>
        </p:nvPicPr>
        <p:blipFill>
          <a:blip r:embed="rId9"/>
          <a:stretch>
            <a:fillRect/>
          </a:stretch>
        </p:blipFill>
        <p:spPr>
          <a:xfrm>
            <a:off x="6438900" y="3886200"/>
            <a:ext cx="152400" cy="152400"/>
          </a:xfrm>
          <a:prstGeom prst="rect">
            <a:avLst/>
          </a:prstGeom>
        </p:spPr>
      </p:pic>
      <p:sp>
        <p:nvSpPr>
          <p:cNvPr id="40" name="Text 4">
            <a:extLst>
              <a:ext uri="{FF2B5EF4-FFF2-40B4-BE49-F238E27FC236}">
                <a16:creationId xmlns:a16="http://schemas.microsoft.com/office/drawing/2014/main" id="{A6D9044F-2602-D06F-41B2-22E3027D466A}"/>
              </a:ext>
            </a:extLst>
          </p:cNvPr>
          <p:cNvSpPr/>
          <p:nvPr/>
        </p:nvSpPr>
        <p:spPr>
          <a:xfrm>
            <a:off x="647700" y="3530600"/>
            <a:ext cx="5163820" cy="24765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Lack sustainable certifications</a:t>
            </a:r>
            <a:endParaRPr lang="en-US" sz="1400" dirty="0"/>
          </a:p>
        </p:txBody>
      </p:sp>
      <p:sp>
        <p:nvSpPr>
          <p:cNvPr id="41" name="Text 5">
            <a:extLst>
              <a:ext uri="{FF2B5EF4-FFF2-40B4-BE49-F238E27FC236}">
                <a16:creationId xmlns:a16="http://schemas.microsoft.com/office/drawing/2014/main" id="{ECFD881E-1659-58C7-96C8-DBE59E2E6248}"/>
              </a:ext>
            </a:extLst>
          </p:cNvPr>
          <p:cNvSpPr/>
          <p:nvPr/>
        </p:nvSpPr>
        <p:spPr>
          <a:xfrm>
            <a:off x="647700" y="3848100"/>
            <a:ext cx="5163820" cy="22479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Higher prices</a:t>
            </a:r>
            <a:endParaRPr lang="en-US" sz="1400" dirty="0"/>
          </a:p>
        </p:txBody>
      </p:sp>
      <p:sp>
        <p:nvSpPr>
          <p:cNvPr id="42" name="Text 7">
            <a:extLst>
              <a:ext uri="{FF2B5EF4-FFF2-40B4-BE49-F238E27FC236}">
                <a16:creationId xmlns:a16="http://schemas.microsoft.com/office/drawing/2014/main" id="{0E0CD8A8-9EE7-9E51-B902-805CD2AAA129}"/>
              </a:ext>
            </a:extLst>
          </p:cNvPr>
          <p:cNvSpPr/>
          <p:nvPr/>
        </p:nvSpPr>
        <p:spPr>
          <a:xfrm>
            <a:off x="6667500" y="3530600"/>
            <a:ext cx="5143500" cy="24765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Lower quality</a:t>
            </a:r>
            <a:endParaRPr lang="en-US" sz="1400" dirty="0"/>
          </a:p>
        </p:txBody>
      </p:sp>
      <p:sp>
        <p:nvSpPr>
          <p:cNvPr id="43" name="Text 8">
            <a:extLst>
              <a:ext uri="{FF2B5EF4-FFF2-40B4-BE49-F238E27FC236}">
                <a16:creationId xmlns:a16="http://schemas.microsoft.com/office/drawing/2014/main" id="{C51F53FE-F970-EBBC-0B62-3AFFCADE0A1A}"/>
              </a:ext>
            </a:extLst>
          </p:cNvPr>
          <p:cNvSpPr/>
          <p:nvPr/>
        </p:nvSpPr>
        <p:spPr>
          <a:xfrm>
            <a:off x="6667500" y="3848100"/>
            <a:ext cx="5143500" cy="24765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Less local flavor adaptation</a:t>
            </a:r>
            <a:endParaRPr lang="en-US" sz="1400" dirty="0"/>
          </a:p>
        </p:txBody>
      </p:sp>
      <p:pic>
        <p:nvPicPr>
          <p:cNvPr id="45" name="Picture 44" descr="A blue letters on a black background&#10;&#10;AI-generated content may be incorrect.">
            <a:extLst>
              <a:ext uri="{FF2B5EF4-FFF2-40B4-BE49-F238E27FC236}">
                <a16:creationId xmlns:a16="http://schemas.microsoft.com/office/drawing/2014/main" id="{2D7BA280-D5B3-C1B7-73FE-BCE1A578B469}"/>
              </a:ext>
            </a:extLst>
          </p:cNvPr>
          <p:cNvPicPr>
            <a:picLocks noChangeAspect="1"/>
          </p:cNvPicPr>
          <p:nvPr/>
        </p:nvPicPr>
        <p:blipFill>
          <a:blip r:embed="rId16"/>
          <a:stretch>
            <a:fillRect/>
          </a:stretch>
        </p:blipFill>
        <p:spPr>
          <a:xfrm>
            <a:off x="10825377" y="233170"/>
            <a:ext cx="1052680" cy="2606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22" presetClass="entr" presetSubtype="4"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par>
                                <p:cTn id="11" presetID="22" presetClass="entr" presetSubtype="4"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down)">
                                      <p:cBhvr>
                                        <p:cTn id="13" dur="500"/>
                                        <p:tgtEl>
                                          <p:spTgt spid="11"/>
                                        </p:tgtEl>
                                      </p:cBhvr>
                                    </p:animEffect>
                                  </p:childTnLst>
                                </p:cTn>
                              </p:par>
                              <p:par>
                                <p:cTn id="14" presetID="22" presetClass="entr" presetSubtype="4"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ipe(down)">
                                      <p:cBhvr>
                                        <p:cTn id="16" dur="500"/>
                                        <p:tgtEl>
                                          <p:spTgt spid="34"/>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down)">
                                      <p:cBhvr>
                                        <p:cTn id="19" dur="500"/>
                                        <p:tgtEl>
                                          <p:spTgt spid="23"/>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down)">
                                      <p:cBhvr>
                                        <p:cTn id="22" dur="500"/>
                                        <p:tgtEl>
                                          <p:spTgt spid="24"/>
                                        </p:tgtEl>
                                      </p:cBhvr>
                                    </p:animEffect>
                                  </p:childTnLst>
                                </p:cTn>
                              </p:par>
                              <p:par>
                                <p:cTn id="23" presetID="22" presetClass="entr" presetSubtype="4"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wipe(down)">
                                      <p:cBhvr>
                                        <p:cTn id="25" dur="500"/>
                                        <p:tgtEl>
                                          <p:spTgt spid="33"/>
                                        </p:tgtEl>
                                      </p:cBhvr>
                                    </p:animEffect>
                                  </p:childTnLst>
                                </p:cTn>
                              </p:par>
                              <p:par>
                                <p:cTn id="26" presetID="22" presetClass="entr" presetSubtype="4" fill="hold" nodeType="with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wipe(down)">
                                      <p:cBhvr>
                                        <p:cTn id="28" dur="500"/>
                                        <p:tgtEl>
                                          <p:spTgt spid="36"/>
                                        </p:tgtEl>
                                      </p:cBhvr>
                                    </p:animEffect>
                                  </p:childTnLst>
                                </p:cTn>
                              </p:par>
                              <p:par>
                                <p:cTn id="29" presetID="22" presetClass="entr" presetSubtype="4" fill="hold" nodeType="with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wipe(down)">
                                      <p:cBhvr>
                                        <p:cTn id="31" dur="500"/>
                                        <p:tgtEl>
                                          <p:spTgt spid="37"/>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wipe(down)">
                                      <p:cBhvr>
                                        <p:cTn id="34" dur="500"/>
                                        <p:tgtEl>
                                          <p:spTgt spid="40"/>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wipe(down)">
                                      <p:cBhvr>
                                        <p:cTn id="37" dur="500"/>
                                        <p:tgtEl>
                                          <p:spTgt spid="4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down)">
                                      <p:cBhvr>
                                        <p:cTn id="42" dur="500"/>
                                        <p:tgtEl>
                                          <p:spTgt spid="12"/>
                                        </p:tgtEl>
                                      </p:cBhvr>
                                    </p:animEffect>
                                  </p:childTnLst>
                                </p:cTn>
                              </p:par>
                              <p:par>
                                <p:cTn id="43" presetID="22" presetClass="entr" presetSubtype="4"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down)">
                                      <p:cBhvr>
                                        <p:cTn id="45" dur="500"/>
                                        <p:tgtEl>
                                          <p:spTgt spid="14"/>
                                        </p:tgtEl>
                                      </p:cBhvr>
                                    </p:animEffect>
                                  </p:childTnLst>
                                </p:cTn>
                              </p:par>
                              <p:par>
                                <p:cTn id="46" presetID="22" presetClass="entr" presetSubtype="4" fill="hold"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wipe(down)">
                                      <p:cBhvr>
                                        <p:cTn id="48" dur="500"/>
                                        <p:tgtEl>
                                          <p:spTgt spid="15"/>
                                        </p:tgtEl>
                                      </p:cBhvr>
                                    </p:animEffect>
                                  </p:childTnLst>
                                </p:cTn>
                              </p:par>
                              <p:par>
                                <p:cTn id="49" presetID="22" presetClass="entr" presetSubtype="4" fill="hold"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wipe(down)">
                                      <p:cBhvr>
                                        <p:cTn id="51" dur="500"/>
                                        <p:tgtEl>
                                          <p:spTgt spid="35"/>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wipe(down)">
                                      <p:cBhvr>
                                        <p:cTn id="54" dur="500"/>
                                        <p:tgtEl>
                                          <p:spTgt spid="26"/>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wipe(down)">
                                      <p:cBhvr>
                                        <p:cTn id="57" dur="500"/>
                                        <p:tgtEl>
                                          <p:spTgt spid="27"/>
                                        </p:tgtEl>
                                      </p:cBhvr>
                                    </p:animEffect>
                                  </p:childTnLst>
                                </p:cTn>
                              </p:par>
                              <p:par>
                                <p:cTn id="58" presetID="22" presetClass="entr" presetSubtype="4" fill="hold" nodeType="with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wipe(down)">
                                      <p:cBhvr>
                                        <p:cTn id="60" dur="500"/>
                                        <p:tgtEl>
                                          <p:spTgt spid="38"/>
                                        </p:tgtEl>
                                      </p:cBhvr>
                                    </p:animEffect>
                                  </p:childTnLst>
                                </p:cTn>
                              </p:par>
                              <p:par>
                                <p:cTn id="61" presetID="22" presetClass="entr" presetSubtype="4" fill="hold" nodeType="with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wipe(down)">
                                      <p:cBhvr>
                                        <p:cTn id="63" dur="500"/>
                                        <p:tgtEl>
                                          <p:spTgt spid="39"/>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42"/>
                                        </p:tgtEl>
                                        <p:attrNameLst>
                                          <p:attrName>style.visibility</p:attrName>
                                        </p:attrNameLst>
                                      </p:cBhvr>
                                      <p:to>
                                        <p:strVal val="visible"/>
                                      </p:to>
                                    </p:set>
                                    <p:animEffect transition="in" filter="wipe(down)">
                                      <p:cBhvr>
                                        <p:cTn id="66" dur="500"/>
                                        <p:tgtEl>
                                          <p:spTgt spid="42"/>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43"/>
                                        </p:tgtEl>
                                        <p:attrNameLst>
                                          <p:attrName>style.visibility</p:attrName>
                                        </p:attrNameLst>
                                      </p:cBhvr>
                                      <p:to>
                                        <p:strVal val="visible"/>
                                      </p:to>
                                    </p:set>
                                    <p:animEffect transition="in" filter="wipe(down)">
                                      <p:cBhvr>
                                        <p:cTn id="69" dur="500"/>
                                        <p:tgtEl>
                                          <p:spTgt spid="43"/>
                                        </p:tgtEl>
                                      </p:cBhvr>
                                    </p:animEffect>
                                  </p:childTnLst>
                                </p:cTn>
                              </p:par>
                            </p:childTnLst>
                          </p:cTn>
                        </p:par>
                      </p:childTnLst>
                    </p:cTn>
                  </p:par>
                  <p:par>
                    <p:cTn id="70" fill="hold">
                      <p:stCondLst>
                        <p:cond delay="indefinite"/>
                      </p:stCondLst>
                      <p:childTnLst>
                        <p:par>
                          <p:cTn id="71" fill="hold">
                            <p:stCondLst>
                              <p:cond delay="0"/>
                            </p:stCondLst>
                            <p:childTnLst>
                              <p:par>
                                <p:cTn id="72" presetID="6" presetClass="entr" presetSubtype="16" fill="hold" nodeType="click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circle(in)">
                                      <p:cBhvr>
                                        <p:cTn id="74" dur="2000"/>
                                        <p:tgtEl>
                                          <p:spTgt spid="17"/>
                                        </p:tgtEl>
                                      </p:cBhvr>
                                    </p:animEffect>
                                  </p:childTnLst>
                                </p:cTn>
                              </p:par>
                              <p:par>
                                <p:cTn id="75" presetID="6" presetClass="entr" presetSubtype="16" fill="hold"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circle(in)">
                                      <p:cBhvr>
                                        <p:cTn id="77" dur="2000"/>
                                        <p:tgtEl>
                                          <p:spTgt spid="44"/>
                                        </p:tgtEl>
                                      </p:cBhvr>
                                    </p:animEffect>
                                  </p:childTnLst>
                                </p:cTn>
                              </p:par>
                              <p:par>
                                <p:cTn id="78" presetID="6" presetClass="entr" presetSubtype="16" fill="hold" grpId="0"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circle(in)">
                                      <p:cBhvr>
                                        <p:cTn id="80" dur="2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6" grpId="0" animBg="1"/>
      <p:bldP spid="27" grpId="0" animBg="1"/>
      <p:bldP spid="30" grpId="0" animBg="1"/>
      <p:bldP spid="40" grpId="0" animBg="1"/>
      <p:bldP spid="41" grpId="0" animBg="1"/>
      <p:bldP spid="42" grpId="0" animBg="1"/>
      <p:bldP spid="4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10287000" y="0"/>
            <a:ext cx="1905000" cy="1905000"/>
          </a:xfrm>
          <a:prstGeom prst="rect">
            <a:avLst/>
          </a:prstGeom>
        </p:spPr>
      </p:pic>
      <p:pic>
        <p:nvPicPr>
          <p:cNvPr id="5" name="Image 3" descr="preencoded.png"/>
          <p:cNvPicPr>
            <a:picLocks noChangeAspect="1"/>
          </p:cNvPicPr>
          <p:nvPr/>
        </p:nvPicPr>
        <p:blipFill>
          <a:blip r:embed="rId5"/>
          <a:stretch>
            <a:fillRect/>
          </a:stretch>
        </p:blipFill>
        <p:spPr>
          <a:xfrm>
            <a:off x="0" y="0"/>
            <a:ext cx="12192000" cy="685800"/>
          </a:xfrm>
          <a:prstGeom prst="rect">
            <a:avLst/>
          </a:prstGeom>
        </p:spPr>
      </p:pic>
      <p:pic>
        <p:nvPicPr>
          <p:cNvPr id="6" name="Image 4" descr="preencoded.png"/>
          <p:cNvPicPr>
            <a:picLocks noChangeAspect="1"/>
          </p:cNvPicPr>
          <p:nvPr/>
        </p:nvPicPr>
        <p:blipFill>
          <a:blip r:embed="rId6"/>
          <a:stretch>
            <a:fillRect/>
          </a:stretch>
        </p:blipFill>
        <p:spPr>
          <a:xfrm>
            <a:off x="304800" y="990599"/>
            <a:ext cx="11582400" cy="3023953"/>
          </a:xfrm>
          <a:prstGeom prst="rect">
            <a:avLst/>
          </a:prstGeom>
        </p:spPr>
      </p:pic>
      <p:pic>
        <p:nvPicPr>
          <p:cNvPr id="7" name="Image 5" descr="preencoded.png"/>
          <p:cNvPicPr>
            <a:picLocks noChangeAspect="1"/>
          </p:cNvPicPr>
          <p:nvPr/>
        </p:nvPicPr>
        <p:blipFill>
          <a:blip r:embed="rId7"/>
          <a:stretch>
            <a:fillRect/>
          </a:stretch>
        </p:blipFill>
        <p:spPr>
          <a:xfrm>
            <a:off x="495300" y="1181100"/>
            <a:ext cx="323850" cy="342900"/>
          </a:xfrm>
          <a:prstGeom prst="rect">
            <a:avLst/>
          </a:prstGeom>
        </p:spPr>
      </p:pic>
      <p:pic>
        <p:nvPicPr>
          <p:cNvPr id="17" name="Image 15" descr="preencoded.png"/>
          <p:cNvPicPr>
            <a:picLocks noChangeAspect="1"/>
          </p:cNvPicPr>
          <p:nvPr/>
        </p:nvPicPr>
        <p:blipFill>
          <a:blip r:embed="rId8"/>
          <a:stretch>
            <a:fillRect/>
          </a:stretch>
        </p:blipFill>
        <p:spPr>
          <a:xfrm>
            <a:off x="1904120" y="5755640"/>
            <a:ext cx="1143000" cy="19050"/>
          </a:xfrm>
          <a:prstGeom prst="rect">
            <a:avLst/>
          </a:prstGeom>
        </p:spPr>
      </p:pic>
      <p:pic>
        <p:nvPicPr>
          <p:cNvPr id="18" name="Image 16" descr="preencoded.png"/>
          <p:cNvPicPr>
            <a:picLocks noChangeAspect="1"/>
          </p:cNvPicPr>
          <p:nvPr/>
        </p:nvPicPr>
        <p:blipFill>
          <a:blip r:embed="rId8"/>
          <a:stretch>
            <a:fillRect/>
          </a:stretch>
        </p:blipFill>
        <p:spPr>
          <a:xfrm>
            <a:off x="5931389" y="4878070"/>
            <a:ext cx="1143000" cy="19050"/>
          </a:xfrm>
          <a:prstGeom prst="rect">
            <a:avLst/>
          </a:prstGeom>
        </p:spPr>
      </p:pic>
      <p:pic>
        <p:nvPicPr>
          <p:cNvPr id="19" name="Image 17" descr="preencoded.png"/>
          <p:cNvPicPr>
            <a:picLocks noChangeAspect="1"/>
          </p:cNvPicPr>
          <p:nvPr/>
        </p:nvPicPr>
        <p:blipFill>
          <a:blip r:embed="rId8"/>
          <a:stretch>
            <a:fillRect/>
          </a:stretch>
        </p:blipFill>
        <p:spPr>
          <a:xfrm>
            <a:off x="4720715" y="5736590"/>
            <a:ext cx="1143000" cy="19050"/>
          </a:xfrm>
          <a:prstGeom prst="rect">
            <a:avLst/>
          </a:prstGeom>
        </p:spPr>
      </p:pic>
      <p:pic>
        <p:nvPicPr>
          <p:cNvPr id="20" name="Image 18" descr="preencoded.png"/>
          <p:cNvPicPr>
            <a:picLocks noChangeAspect="1"/>
          </p:cNvPicPr>
          <p:nvPr/>
        </p:nvPicPr>
        <p:blipFill>
          <a:blip r:embed="rId9"/>
          <a:stretch>
            <a:fillRect/>
          </a:stretch>
        </p:blipFill>
        <p:spPr>
          <a:xfrm>
            <a:off x="9410282" y="5733231"/>
            <a:ext cx="762000" cy="19050"/>
          </a:xfrm>
          <a:prstGeom prst="rect">
            <a:avLst/>
          </a:prstGeom>
        </p:spPr>
      </p:pic>
      <p:pic>
        <p:nvPicPr>
          <p:cNvPr id="21" name="Image 19" descr="preencoded.png"/>
          <p:cNvPicPr>
            <a:picLocks noChangeAspect="1"/>
          </p:cNvPicPr>
          <p:nvPr/>
        </p:nvPicPr>
        <p:blipFill>
          <a:blip r:embed="rId8"/>
          <a:stretch>
            <a:fillRect/>
          </a:stretch>
        </p:blipFill>
        <p:spPr>
          <a:xfrm>
            <a:off x="7143969" y="5736590"/>
            <a:ext cx="1143000" cy="19050"/>
          </a:xfrm>
          <a:prstGeom prst="rect">
            <a:avLst/>
          </a:prstGeom>
        </p:spPr>
      </p:pic>
      <p:sp>
        <p:nvSpPr>
          <p:cNvPr id="22" name="Text 0"/>
          <p:cNvSpPr/>
          <p:nvPr/>
        </p:nvSpPr>
        <p:spPr>
          <a:xfrm>
            <a:off x="381000" y="182880"/>
            <a:ext cx="11430000" cy="381000"/>
          </a:xfrm>
          <a:prstGeom prst="rect">
            <a:avLst/>
          </a:prstGeom>
          <a:noFill/>
          <a:ln/>
        </p:spPr>
        <p:txBody>
          <a:bodyPr vert="horz" wrap="square" lIns="0" tIns="0" rIns="0" bIns="0" rtlCol="0" anchor="t"/>
          <a:lstStyle/>
          <a:p>
            <a:pPr marL="0" indent="0">
              <a:lnSpc>
                <a:spcPts val="3000"/>
              </a:lnSpc>
              <a:buNone/>
            </a:pPr>
            <a:r>
              <a:rPr lang="en-US" sz="3600" b="1" dirty="0">
                <a:solidFill>
                  <a:srgbClr val="FFFFFF"/>
                </a:solidFill>
                <a:latin typeface="ui-sans-serif" pitchFamily="34" charset="0"/>
                <a:ea typeface="ui-sans-serif" pitchFamily="34" charset="-122"/>
                <a:cs typeface="ui-sans-serif" pitchFamily="34" charset="-120"/>
              </a:rPr>
              <a:t>Market Entry Strategy</a:t>
            </a:r>
            <a:endParaRPr lang="en-US" sz="3600" dirty="0"/>
          </a:p>
        </p:txBody>
      </p:sp>
      <p:sp>
        <p:nvSpPr>
          <p:cNvPr id="23" name="Text 1"/>
          <p:cNvSpPr/>
          <p:nvPr/>
        </p:nvSpPr>
        <p:spPr>
          <a:xfrm>
            <a:off x="971550" y="1200150"/>
            <a:ext cx="4100870" cy="304800"/>
          </a:xfrm>
          <a:prstGeom prst="rect">
            <a:avLst/>
          </a:prstGeom>
          <a:noFill/>
          <a:ln/>
        </p:spPr>
        <p:txBody>
          <a:bodyPr vert="horz" wrap="square" lIns="0" tIns="0" rIns="0" bIns="0" rtlCol="0" anchor="t"/>
          <a:lstStyle/>
          <a:p>
            <a:pPr marL="0" indent="0">
              <a:lnSpc>
                <a:spcPts val="2400"/>
              </a:lnSpc>
              <a:buNone/>
            </a:pPr>
            <a:r>
              <a:rPr lang="en-US" sz="2400" b="1" dirty="0">
                <a:solidFill>
                  <a:srgbClr val="1F2937"/>
                </a:solidFill>
                <a:latin typeface="ui-sans-serif" pitchFamily="34" charset="0"/>
                <a:ea typeface="ui-sans-serif" pitchFamily="34" charset="-122"/>
                <a:cs typeface="ui-sans-serif" pitchFamily="34" charset="-120"/>
              </a:rPr>
              <a:t>Direct Exporting Approach</a:t>
            </a:r>
            <a:endParaRPr lang="en-US" sz="2400" dirty="0"/>
          </a:p>
        </p:txBody>
      </p:sp>
      <p:sp>
        <p:nvSpPr>
          <p:cNvPr id="24" name="Text 2"/>
          <p:cNvSpPr/>
          <p:nvPr/>
        </p:nvSpPr>
        <p:spPr>
          <a:xfrm>
            <a:off x="495300" y="1638300"/>
            <a:ext cx="11158073" cy="304800"/>
          </a:xfrm>
          <a:prstGeom prst="rect">
            <a:avLst/>
          </a:prstGeom>
          <a:noFill/>
          <a:ln/>
        </p:spPr>
        <p:txBody>
          <a:bodyPr vert="horz" wrap="square" lIns="0" tIns="0" rIns="0" bIns="0" rtlCol="0" anchor="t"/>
          <a:lstStyle/>
          <a:p>
            <a:pPr marL="0" indent="0">
              <a:lnSpc>
                <a:spcPts val="2100"/>
              </a:lnSpc>
              <a:buNone/>
            </a:pPr>
            <a:r>
              <a:rPr lang="en-US" sz="1400" b="1" dirty="0">
                <a:solidFill>
                  <a:srgbClr val="374151"/>
                </a:solidFill>
                <a:latin typeface="ui-sans-serif" pitchFamily="34" charset="0"/>
                <a:ea typeface="ui-sans-serif" pitchFamily="34" charset="-122"/>
                <a:cs typeface="ui-sans-serif" pitchFamily="34" charset="-120"/>
              </a:rPr>
              <a:t>Our chosen market entry method is direct exporting via a local distributor in</a:t>
            </a:r>
            <a:endParaRPr lang="en-US" sz="1400" b="1" dirty="0"/>
          </a:p>
        </p:txBody>
      </p:sp>
      <p:sp>
        <p:nvSpPr>
          <p:cNvPr id="25" name="Text 3"/>
          <p:cNvSpPr/>
          <p:nvPr/>
        </p:nvSpPr>
        <p:spPr>
          <a:xfrm>
            <a:off x="533400" y="2019300"/>
            <a:ext cx="11120120" cy="304800"/>
          </a:xfrm>
          <a:prstGeom prst="rect">
            <a:avLst/>
          </a:prstGeom>
          <a:noFill/>
          <a:ln/>
        </p:spPr>
        <p:txBody>
          <a:bodyPr vert="horz" wrap="square" lIns="0" tIns="0" rIns="0" bIns="0" rtlCol="0" anchor="t"/>
          <a:lstStyle/>
          <a:p>
            <a:pPr marL="342900" indent="-342900" algn="l">
              <a:lnSpc>
                <a:spcPts val="2100"/>
              </a:lnSpc>
              <a:buSzPct val="100000"/>
              <a:buChar char="•"/>
            </a:pPr>
            <a:r>
              <a:rPr lang="en-US" sz="1400" dirty="0">
                <a:solidFill>
                  <a:srgbClr val="374151"/>
                </a:solidFill>
                <a:latin typeface="ui-sans-serif" pitchFamily="34" charset="0"/>
                <a:ea typeface="ui-sans-serif" pitchFamily="34" charset="-122"/>
                <a:cs typeface="ui-sans-serif" pitchFamily="34" charset="-120"/>
              </a:rPr>
              <a:t>Optimal given our company's current resources and limited export experience</a:t>
            </a:r>
            <a:endParaRPr lang="en-US" sz="1400" dirty="0"/>
          </a:p>
        </p:txBody>
      </p:sp>
      <p:sp>
        <p:nvSpPr>
          <p:cNvPr id="26" name="Text 4"/>
          <p:cNvSpPr/>
          <p:nvPr/>
        </p:nvSpPr>
        <p:spPr>
          <a:xfrm>
            <a:off x="533400" y="2324100"/>
            <a:ext cx="11120120" cy="304800"/>
          </a:xfrm>
          <a:prstGeom prst="rect">
            <a:avLst/>
          </a:prstGeom>
          <a:noFill/>
          <a:ln/>
        </p:spPr>
        <p:txBody>
          <a:bodyPr vert="horz" wrap="square" lIns="0" tIns="0" rIns="0" bIns="0" rtlCol="0" anchor="t"/>
          <a:lstStyle/>
          <a:p>
            <a:pPr marL="342900" indent="-342900" algn="l">
              <a:lnSpc>
                <a:spcPts val="2100"/>
              </a:lnSpc>
              <a:buSzPct val="100000"/>
              <a:buChar char="•"/>
            </a:pPr>
            <a:r>
              <a:rPr lang="en-US" sz="1400" dirty="0">
                <a:solidFill>
                  <a:srgbClr val="374151"/>
                </a:solidFill>
                <a:latin typeface="ui-sans-serif" pitchFamily="34" charset="0"/>
                <a:ea typeface="ui-sans-serif" pitchFamily="34" charset="-122"/>
                <a:cs typeface="ui-sans-serif" pitchFamily="34" charset="-120"/>
              </a:rPr>
              <a:t>Leverages distributor's established network and local market expertise</a:t>
            </a:r>
            <a:endParaRPr lang="en-US" sz="1400" dirty="0"/>
          </a:p>
        </p:txBody>
      </p:sp>
      <p:sp>
        <p:nvSpPr>
          <p:cNvPr id="27" name="Text 5"/>
          <p:cNvSpPr/>
          <p:nvPr/>
        </p:nvSpPr>
        <p:spPr>
          <a:xfrm>
            <a:off x="533400" y="2628900"/>
            <a:ext cx="11120120" cy="304800"/>
          </a:xfrm>
          <a:prstGeom prst="rect">
            <a:avLst/>
          </a:prstGeom>
          <a:noFill/>
          <a:ln/>
        </p:spPr>
        <p:txBody>
          <a:bodyPr vert="horz" wrap="square" lIns="0" tIns="0" rIns="0" bIns="0" rtlCol="0" anchor="t"/>
          <a:lstStyle/>
          <a:p>
            <a:pPr marL="342900" indent="-342900" algn="l">
              <a:lnSpc>
                <a:spcPts val="2100"/>
              </a:lnSpc>
              <a:buSzPct val="100000"/>
              <a:buChar char="•"/>
            </a:pPr>
            <a:r>
              <a:rPr lang="en-US" sz="1400" dirty="0">
                <a:solidFill>
                  <a:srgbClr val="374151"/>
                </a:solidFill>
                <a:latin typeface="ui-sans-serif" pitchFamily="34" charset="0"/>
                <a:ea typeface="ui-sans-serif" pitchFamily="34" charset="-122"/>
                <a:cs typeface="ui-sans-serif" pitchFamily="34" charset="-120"/>
              </a:rPr>
              <a:t>Maintains reasonable control over brand and customer relationships</a:t>
            </a:r>
            <a:endParaRPr lang="en-US" sz="1400" dirty="0"/>
          </a:p>
        </p:txBody>
      </p:sp>
      <p:sp>
        <p:nvSpPr>
          <p:cNvPr id="28" name="Text 6"/>
          <p:cNvSpPr/>
          <p:nvPr/>
        </p:nvSpPr>
        <p:spPr>
          <a:xfrm>
            <a:off x="412875" y="4495432"/>
            <a:ext cx="11582400" cy="304800"/>
          </a:xfrm>
          <a:prstGeom prst="rect">
            <a:avLst/>
          </a:prstGeom>
          <a:noFill/>
          <a:ln/>
        </p:spPr>
        <p:txBody>
          <a:bodyPr vert="horz" wrap="square" lIns="0" tIns="0" rIns="0" bIns="0" rtlCol="0" anchor="t"/>
          <a:lstStyle/>
          <a:p>
            <a:pPr marL="0" indent="0" algn="ctr">
              <a:lnSpc>
                <a:spcPts val="2400"/>
              </a:lnSpc>
              <a:buNone/>
            </a:pPr>
            <a:r>
              <a:rPr lang="en-US" sz="1800" b="1" dirty="0">
                <a:solidFill>
                  <a:srgbClr val="1F2937"/>
                </a:solidFill>
                <a:latin typeface="ui-sans-serif" pitchFamily="34" charset="0"/>
                <a:ea typeface="ui-sans-serif" pitchFamily="34" charset="-122"/>
                <a:cs typeface="ui-sans-serif" pitchFamily="34" charset="-120"/>
              </a:rPr>
              <a:t>Distribution Channel Flow</a:t>
            </a:r>
            <a:endParaRPr lang="en-US" sz="1800" dirty="0"/>
          </a:p>
        </p:txBody>
      </p:sp>
      <p:grpSp>
        <p:nvGrpSpPr>
          <p:cNvPr id="35" name="Group 34">
            <a:extLst>
              <a:ext uri="{FF2B5EF4-FFF2-40B4-BE49-F238E27FC236}">
                <a16:creationId xmlns:a16="http://schemas.microsoft.com/office/drawing/2014/main" id="{33D1063F-9531-ACD0-600D-D79B09248A62}"/>
              </a:ext>
            </a:extLst>
          </p:cNvPr>
          <p:cNvGrpSpPr/>
          <p:nvPr/>
        </p:nvGrpSpPr>
        <p:grpSpPr>
          <a:xfrm>
            <a:off x="545444" y="5276031"/>
            <a:ext cx="952500" cy="952500"/>
            <a:chOff x="914400" y="3714750"/>
            <a:chExt cx="952500" cy="952500"/>
          </a:xfrm>
        </p:grpSpPr>
        <p:pic>
          <p:nvPicPr>
            <p:cNvPr id="8" name="Image 6" descr="preencoded.png"/>
            <p:cNvPicPr>
              <a:picLocks noChangeAspect="1"/>
            </p:cNvPicPr>
            <p:nvPr/>
          </p:nvPicPr>
          <p:blipFill>
            <a:blip r:embed="rId10"/>
            <a:stretch>
              <a:fillRect/>
            </a:stretch>
          </p:blipFill>
          <p:spPr>
            <a:xfrm>
              <a:off x="914400" y="3714750"/>
              <a:ext cx="952500" cy="952500"/>
            </a:xfrm>
            <a:prstGeom prst="rect">
              <a:avLst/>
            </a:prstGeom>
          </p:spPr>
        </p:pic>
        <p:pic>
          <p:nvPicPr>
            <p:cNvPr id="9" name="Image 7" descr="preencoded.png"/>
            <p:cNvPicPr>
              <a:picLocks noChangeAspect="1"/>
            </p:cNvPicPr>
            <p:nvPr/>
          </p:nvPicPr>
          <p:blipFill>
            <a:blip r:embed="rId11"/>
            <a:stretch>
              <a:fillRect/>
            </a:stretch>
          </p:blipFill>
          <p:spPr>
            <a:xfrm>
              <a:off x="1262063" y="3943350"/>
              <a:ext cx="257175" cy="304800"/>
            </a:xfrm>
            <a:prstGeom prst="rect">
              <a:avLst/>
            </a:prstGeom>
          </p:spPr>
        </p:pic>
        <p:sp>
          <p:nvSpPr>
            <p:cNvPr id="29" name="Text 7"/>
            <p:cNvSpPr/>
            <p:nvPr/>
          </p:nvSpPr>
          <p:spPr>
            <a:xfrm>
              <a:off x="1054358" y="4286250"/>
              <a:ext cx="672584" cy="190500"/>
            </a:xfrm>
            <a:prstGeom prst="rect">
              <a:avLst/>
            </a:prstGeom>
            <a:noFill/>
            <a:ln/>
          </p:spPr>
          <p:txBody>
            <a:bodyPr vert="horz" wrap="square" lIns="0" tIns="0" rIns="0" bIns="0" rtlCol="0" anchor="t"/>
            <a:lstStyle/>
            <a:p>
              <a:pPr marL="0" indent="0" algn="ctr">
                <a:lnSpc>
                  <a:spcPts val="1500"/>
                </a:lnSpc>
                <a:buNone/>
              </a:pPr>
              <a:r>
                <a:rPr lang="en-US" sz="1400" b="1" dirty="0">
                  <a:solidFill>
                    <a:srgbClr val="FFFFFF"/>
                  </a:solidFill>
                  <a:latin typeface="ui-sans-serif" pitchFamily="34" charset="0"/>
                  <a:ea typeface="ui-sans-serif" pitchFamily="34" charset="-122"/>
                  <a:cs typeface="ui-sans-serif" pitchFamily="34" charset="-120"/>
                </a:rPr>
                <a:t>Factory</a:t>
              </a:r>
              <a:endParaRPr lang="en-US" sz="1400" dirty="0"/>
            </a:p>
          </p:txBody>
        </p:sp>
      </p:grpSp>
      <p:grpSp>
        <p:nvGrpSpPr>
          <p:cNvPr id="41" name="Group 40">
            <a:extLst>
              <a:ext uri="{FF2B5EF4-FFF2-40B4-BE49-F238E27FC236}">
                <a16:creationId xmlns:a16="http://schemas.microsoft.com/office/drawing/2014/main" id="{A294549A-1097-1246-4C0B-A40D96027015}"/>
              </a:ext>
            </a:extLst>
          </p:cNvPr>
          <p:cNvGrpSpPr/>
          <p:nvPr/>
        </p:nvGrpSpPr>
        <p:grpSpPr>
          <a:xfrm>
            <a:off x="3448471" y="5243830"/>
            <a:ext cx="1068438" cy="1068438"/>
            <a:chOff x="4135070" y="3733800"/>
            <a:chExt cx="1068438" cy="1068438"/>
          </a:xfrm>
        </p:grpSpPr>
        <p:pic>
          <p:nvPicPr>
            <p:cNvPr id="10" name="Image 8" descr="preencoded.png"/>
            <p:cNvPicPr>
              <a:picLocks noChangeAspect="1"/>
            </p:cNvPicPr>
            <p:nvPr/>
          </p:nvPicPr>
          <p:blipFill>
            <a:blip r:embed="rId12"/>
            <a:stretch>
              <a:fillRect/>
            </a:stretch>
          </p:blipFill>
          <p:spPr>
            <a:xfrm>
              <a:off x="4135070" y="3733800"/>
              <a:ext cx="1068438" cy="1068438"/>
            </a:xfrm>
            <a:prstGeom prst="rect">
              <a:avLst/>
            </a:prstGeom>
          </p:spPr>
        </p:pic>
        <p:pic>
          <p:nvPicPr>
            <p:cNvPr id="11" name="Image 9" descr="preencoded.png"/>
            <p:cNvPicPr>
              <a:picLocks noChangeAspect="1"/>
            </p:cNvPicPr>
            <p:nvPr/>
          </p:nvPicPr>
          <p:blipFill>
            <a:blip r:embed="rId13"/>
            <a:stretch>
              <a:fillRect/>
            </a:stretch>
          </p:blipFill>
          <p:spPr>
            <a:xfrm>
              <a:off x="4498925" y="3848100"/>
              <a:ext cx="285750" cy="304800"/>
            </a:xfrm>
            <a:prstGeom prst="rect">
              <a:avLst/>
            </a:prstGeom>
          </p:spPr>
        </p:pic>
        <p:sp>
          <p:nvSpPr>
            <p:cNvPr id="30" name="Text 8"/>
            <p:cNvSpPr/>
            <p:nvPr/>
          </p:nvSpPr>
          <p:spPr>
            <a:xfrm>
              <a:off x="4165550" y="4191000"/>
              <a:ext cx="952500" cy="381000"/>
            </a:xfrm>
            <a:prstGeom prst="rect">
              <a:avLst/>
            </a:prstGeom>
            <a:noFill/>
            <a:ln/>
          </p:spPr>
          <p:txBody>
            <a:bodyPr vert="horz" wrap="square" lIns="0" tIns="0" rIns="0" bIns="0" rtlCol="0" anchor="t"/>
            <a:lstStyle/>
            <a:p>
              <a:pPr marL="0" indent="0" algn="ctr">
                <a:lnSpc>
                  <a:spcPts val="1500"/>
                </a:lnSpc>
                <a:buNone/>
              </a:pPr>
              <a:r>
                <a:rPr lang="en-US" sz="1400" b="1" dirty="0">
                  <a:solidFill>
                    <a:srgbClr val="FFFFFF"/>
                  </a:solidFill>
                  <a:latin typeface="ui-sans-serif" pitchFamily="34" charset="0"/>
                  <a:ea typeface="ui-sans-serif" pitchFamily="34" charset="-122"/>
                  <a:cs typeface="ui-sans-serif" pitchFamily="34" charset="-120"/>
                </a:rPr>
                <a:t>Freight Forwarder</a:t>
              </a:r>
              <a:endParaRPr lang="en-US" sz="1400" dirty="0"/>
            </a:p>
          </p:txBody>
        </p:sp>
      </p:grpSp>
      <p:grpSp>
        <p:nvGrpSpPr>
          <p:cNvPr id="37" name="Group 36">
            <a:extLst>
              <a:ext uri="{FF2B5EF4-FFF2-40B4-BE49-F238E27FC236}">
                <a16:creationId xmlns:a16="http://schemas.microsoft.com/office/drawing/2014/main" id="{12FD5BCA-9D93-51BF-D204-B901A9ADE326}"/>
              </a:ext>
            </a:extLst>
          </p:cNvPr>
          <p:cNvGrpSpPr/>
          <p:nvPr/>
        </p:nvGrpSpPr>
        <p:grpSpPr>
          <a:xfrm>
            <a:off x="8305383" y="5279390"/>
            <a:ext cx="952500" cy="952500"/>
            <a:chOff x="10325100" y="3733800"/>
            <a:chExt cx="952500" cy="952500"/>
          </a:xfrm>
        </p:grpSpPr>
        <p:pic>
          <p:nvPicPr>
            <p:cNvPr id="13" name="Image 11" descr="preencoded.png"/>
            <p:cNvPicPr>
              <a:picLocks noChangeAspect="1"/>
            </p:cNvPicPr>
            <p:nvPr/>
          </p:nvPicPr>
          <p:blipFill>
            <a:blip r:embed="rId14"/>
            <a:stretch>
              <a:fillRect/>
            </a:stretch>
          </p:blipFill>
          <p:spPr>
            <a:xfrm>
              <a:off x="10325100" y="3733800"/>
              <a:ext cx="952500" cy="952500"/>
            </a:xfrm>
            <a:prstGeom prst="rect">
              <a:avLst/>
            </a:prstGeom>
          </p:spPr>
        </p:pic>
        <p:pic>
          <p:nvPicPr>
            <p:cNvPr id="14" name="Image 12" descr="preencoded.png"/>
            <p:cNvPicPr>
              <a:picLocks noChangeAspect="1"/>
            </p:cNvPicPr>
            <p:nvPr/>
          </p:nvPicPr>
          <p:blipFill>
            <a:blip r:embed="rId15"/>
            <a:stretch>
              <a:fillRect/>
            </a:stretch>
          </p:blipFill>
          <p:spPr>
            <a:xfrm>
              <a:off x="10672763" y="3943350"/>
              <a:ext cx="257175" cy="304800"/>
            </a:xfrm>
            <a:prstGeom prst="rect">
              <a:avLst/>
            </a:prstGeom>
          </p:spPr>
        </p:pic>
        <p:sp>
          <p:nvSpPr>
            <p:cNvPr id="32" name="Text 10"/>
            <p:cNvSpPr/>
            <p:nvPr/>
          </p:nvSpPr>
          <p:spPr>
            <a:xfrm>
              <a:off x="10397014" y="4286250"/>
              <a:ext cx="808673" cy="190500"/>
            </a:xfrm>
            <a:prstGeom prst="rect">
              <a:avLst/>
            </a:prstGeom>
            <a:noFill/>
            <a:ln/>
          </p:spPr>
          <p:txBody>
            <a:bodyPr vert="horz" wrap="square" lIns="0" tIns="0" rIns="0" bIns="0" rtlCol="0" anchor="t"/>
            <a:lstStyle/>
            <a:p>
              <a:pPr marL="0" indent="0" algn="ctr">
                <a:lnSpc>
                  <a:spcPts val="1500"/>
                </a:lnSpc>
                <a:buNone/>
              </a:pPr>
              <a:r>
                <a:rPr lang="en-US" sz="1400" b="1" dirty="0">
                  <a:solidFill>
                    <a:srgbClr val="FFFFFF"/>
                  </a:solidFill>
                  <a:latin typeface="ui-sans-serif" pitchFamily="34" charset="0"/>
                  <a:ea typeface="ui-sans-serif" pitchFamily="34" charset="-122"/>
                  <a:cs typeface="ui-sans-serif" pitchFamily="34" charset="-120"/>
                </a:rPr>
                <a:t>Retailers</a:t>
              </a:r>
              <a:endParaRPr lang="en-US" sz="1400" dirty="0"/>
            </a:p>
          </p:txBody>
        </p:sp>
      </p:grpSp>
      <p:grpSp>
        <p:nvGrpSpPr>
          <p:cNvPr id="36" name="Group 35">
            <a:extLst>
              <a:ext uri="{FF2B5EF4-FFF2-40B4-BE49-F238E27FC236}">
                <a16:creationId xmlns:a16="http://schemas.microsoft.com/office/drawing/2014/main" id="{854FA468-01DF-F659-DF50-51C7F653BB68}"/>
              </a:ext>
            </a:extLst>
          </p:cNvPr>
          <p:cNvGrpSpPr/>
          <p:nvPr/>
        </p:nvGrpSpPr>
        <p:grpSpPr>
          <a:xfrm>
            <a:off x="10307320" y="5281111"/>
            <a:ext cx="952500" cy="952500"/>
            <a:chOff x="10325100" y="5179060"/>
            <a:chExt cx="952500" cy="952500"/>
          </a:xfrm>
        </p:grpSpPr>
        <p:pic>
          <p:nvPicPr>
            <p:cNvPr id="15" name="Image 13" descr="preencoded.png"/>
            <p:cNvPicPr>
              <a:picLocks noChangeAspect="1"/>
            </p:cNvPicPr>
            <p:nvPr/>
          </p:nvPicPr>
          <p:blipFill>
            <a:blip r:embed="rId16"/>
            <a:stretch>
              <a:fillRect/>
            </a:stretch>
          </p:blipFill>
          <p:spPr>
            <a:xfrm>
              <a:off x="10325100" y="5179060"/>
              <a:ext cx="952500" cy="952500"/>
            </a:xfrm>
            <a:prstGeom prst="rect">
              <a:avLst/>
            </a:prstGeom>
          </p:spPr>
        </p:pic>
        <p:pic>
          <p:nvPicPr>
            <p:cNvPr id="16" name="Image 14" descr="preencoded.png"/>
            <p:cNvPicPr>
              <a:picLocks noChangeAspect="1"/>
            </p:cNvPicPr>
            <p:nvPr/>
          </p:nvPicPr>
          <p:blipFill>
            <a:blip r:embed="rId17"/>
            <a:stretch>
              <a:fillRect/>
            </a:stretch>
          </p:blipFill>
          <p:spPr>
            <a:xfrm>
              <a:off x="10701338" y="5388610"/>
              <a:ext cx="200025" cy="304800"/>
            </a:xfrm>
            <a:prstGeom prst="rect">
              <a:avLst/>
            </a:prstGeom>
          </p:spPr>
        </p:pic>
        <p:sp>
          <p:nvSpPr>
            <p:cNvPr id="33" name="Text 11"/>
            <p:cNvSpPr/>
            <p:nvPr/>
          </p:nvSpPr>
          <p:spPr>
            <a:xfrm>
              <a:off x="10348972" y="5731510"/>
              <a:ext cx="904756" cy="190500"/>
            </a:xfrm>
            <a:prstGeom prst="rect">
              <a:avLst/>
            </a:prstGeom>
            <a:noFill/>
            <a:ln/>
          </p:spPr>
          <p:txBody>
            <a:bodyPr vert="horz" wrap="square" lIns="0" tIns="0" rIns="0" bIns="0" rtlCol="0" anchor="t"/>
            <a:lstStyle/>
            <a:p>
              <a:pPr marL="0" indent="0" algn="ctr">
                <a:lnSpc>
                  <a:spcPts val="1500"/>
                </a:lnSpc>
                <a:buNone/>
              </a:pPr>
              <a:r>
                <a:rPr lang="en-US" sz="1400" b="1" dirty="0">
                  <a:solidFill>
                    <a:srgbClr val="FFFFFF"/>
                  </a:solidFill>
                  <a:latin typeface="ui-sans-serif" pitchFamily="34" charset="0"/>
                  <a:ea typeface="ui-sans-serif" pitchFamily="34" charset="-122"/>
                  <a:cs typeface="ui-sans-serif" pitchFamily="34" charset="-120"/>
                </a:rPr>
                <a:t>Consumer</a:t>
              </a:r>
              <a:endParaRPr lang="en-US" sz="1400" dirty="0"/>
            </a:p>
          </p:txBody>
        </p:sp>
      </p:grpSp>
      <p:sp>
        <p:nvSpPr>
          <p:cNvPr id="34" name="Text 12"/>
          <p:cNvSpPr/>
          <p:nvPr/>
        </p:nvSpPr>
        <p:spPr>
          <a:xfrm>
            <a:off x="113718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8 / 16</a:t>
            </a:r>
            <a:endParaRPr lang="en-US" sz="1200" dirty="0"/>
          </a:p>
        </p:txBody>
      </p:sp>
      <p:grpSp>
        <p:nvGrpSpPr>
          <p:cNvPr id="42" name="Group 41">
            <a:extLst>
              <a:ext uri="{FF2B5EF4-FFF2-40B4-BE49-F238E27FC236}">
                <a16:creationId xmlns:a16="http://schemas.microsoft.com/office/drawing/2014/main" id="{2477D43A-E02D-A3B9-085C-786968FD2386}"/>
              </a:ext>
            </a:extLst>
          </p:cNvPr>
          <p:cNvGrpSpPr/>
          <p:nvPr/>
        </p:nvGrpSpPr>
        <p:grpSpPr>
          <a:xfrm>
            <a:off x="5941549" y="5186680"/>
            <a:ext cx="1143000" cy="1143000"/>
            <a:chOff x="7941211" y="4532630"/>
            <a:chExt cx="1143000" cy="1143000"/>
          </a:xfrm>
        </p:grpSpPr>
        <p:pic>
          <p:nvPicPr>
            <p:cNvPr id="38" name="Image 8" descr="preencoded.png">
              <a:extLst>
                <a:ext uri="{FF2B5EF4-FFF2-40B4-BE49-F238E27FC236}">
                  <a16:creationId xmlns:a16="http://schemas.microsoft.com/office/drawing/2014/main" id="{A929E2AA-A9AF-D9D6-B575-67504FA0A129}"/>
                </a:ext>
              </a:extLst>
            </p:cNvPr>
            <p:cNvPicPr>
              <a:picLocks noChangeAspect="1"/>
            </p:cNvPicPr>
            <p:nvPr/>
          </p:nvPicPr>
          <p:blipFill>
            <a:blip r:embed="rId12"/>
            <a:stretch>
              <a:fillRect/>
            </a:stretch>
          </p:blipFill>
          <p:spPr>
            <a:xfrm>
              <a:off x="7941211" y="4532630"/>
              <a:ext cx="1143000" cy="1143000"/>
            </a:xfrm>
            <a:prstGeom prst="rect">
              <a:avLst/>
            </a:prstGeom>
          </p:spPr>
        </p:pic>
        <p:pic>
          <p:nvPicPr>
            <p:cNvPr id="39" name="Image 10" descr="preencoded.png"/>
            <p:cNvPicPr>
              <a:picLocks noChangeAspect="1"/>
            </p:cNvPicPr>
            <p:nvPr/>
          </p:nvPicPr>
          <p:blipFill>
            <a:blip r:embed="rId18"/>
            <a:stretch>
              <a:fillRect/>
            </a:stretch>
          </p:blipFill>
          <p:spPr>
            <a:xfrm>
              <a:off x="8359676" y="4701540"/>
              <a:ext cx="285750" cy="304800"/>
            </a:xfrm>
            <a:prstGeom prst="rect">
              <a:avLst/>
            </a:prstGeom>
          </p:spPr>
        </p:pic>
        <p:sp>
          <p:nvSpPr>
            <p:cNvPr id="40" name="Text 9"/>
            <p:cNvSpPr/>
            <p:nvPr/>
          </p:nvSpPr>
          <p:spPr>
            <a:xfrm>
              <a:off x="8026301" y="5044440"/>
              <a:ext cx="952500" cy="381000"/>
            </a:xfrm>
            <a:prstGeom prst="rect">
              <a:avLst/>
            </a:prstGeom>
            <a:noFill/>
            <a:ln/>
          </p:spPr>
          <p:txBody>
            <a:bodyPr vert="horz" wrap="square" lIns="0" tIns="0" rIns="0" bIns="0" rtlCol="0" anchor="t"/>
            <a:lstStyle/>
            <a:p>
              <a:pPr marL="0" indent="0" algn="ctr">
                <a:lnSpc>
                  <a:spcPts val="1500"/>
                </a:lnSpc>
                <a:buNone/>
              </a:pPr>
              <a:r>
                <a:rPr lang="en-US" sz="1400" b="1" dirty="0">
                  <a:solidFill>
                    <a:srgbClr val="FFFFFF"/>
                  </a:solidFill>
                  <a:latin typeface="ui-sans-serif" pitchFamily="34" charset="0"/>
                  <a:ea typeface="ui-sans-serif" pitchFamily="34" charset="-122"/>
                  <a:cs typeface="ui-sans-serif" pitchFamily="34" charset="-120"/>
                </a:rPr>
                <a:t>Local </a:t>
              </a:r>
            </a:p>
            <a:p>
              <a:pPr marL="0" indent="0" algn="ctr">
                <a:lnSpc>
                  <a:spcPts val="1500"/>
                </a:lnSpc>
                <a:buNone/>
              </a:pPr>
              <a:r>
                <a:rPr lang="en-US" sz="1400" b="1" dirty="0">
                  <a:solidFill>
                    <a:srgbClr val="FFFFFF"/>
                  </a:solidFill>
                  <a:latin typeface="ui-sans-serif" pitchFamily="34" charset="0"/>
                  <a:ea typeface="ui-sans-serif" pitchFamily="34" charset="-122"/>
                  <a:cs typeface="ui-sans-serif" pitchFamily="34" charset="-120"/>
                </a:rPr>
                <a:t>Distributor</a:t>
              </a:r>
              <a:endParaRPr lang="en-US" sz="1400" dirty="0"/>
            </a:p>
          </p:txBody>
        </p:sp>
      </p:grpSp>
      <p:pic>
        <p:nvPicPr>
          <p:cNvPr id="43" name="Picture 42" descr="A blue letters on a black background&#10;&#10;AI-generated content may be incorrect.">
            <a:extLst>
              <a:ext uri="{FF2B5EF4-FFF2-40B4-BE49-F238E27FC236}">
                <a16:creationId xmlns:a16="http://schemas.microsoft.com/office/drawing/2014/main" id="{CB83DE71-A345-7B32-A8F3-7AE3A0D59F1F}"/>
              </a:ext>
            </a:extLst>
          </p:cNvPr>
          <p:cNvPicPr>
            <a:picLocks noChangeAspect="1"/>
          </p:cNvPicPr>
          <p:nvPr/>
        </p:nvPicPr>
        <p:blipFill>
          <a:blip r:embed="rId19"/>
          <a:stretch>
            <a:fillRect/>
          </a:stretch>
        </p:blipFill>
        <p:spPr>
          <a:xfrm>
            <a:off x="10825377" y="233170"/>
            <a:ext cx="1052680" cy="2606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500" fill="hold"/>
                                        <p:tgtEl>
                                          <p:spTgt spid="23"/>
                                        </p:tgtEl>
                                        <p:attrNameLst>
                                          <p:attrName>ppt_x</p:attrName>
                                        </p:attrNameLst>
                                      </p:cBhvr>
                                      <p:tavLst>
                                        <p:tav tm="0">
                                          <p:val>
                                            <p:strVal val="#ppt_x"/>
                                          </p:val>
                                        </p:tav>
                                        <p:tav tm="100000">
                                          <p:val>
                                            <p:strVal val="#ppt_x"/>
                                          </p:val>
                                        </p:tav>
                                      </p:tavLst>
                                    </p:anim>
                                    <p:anim calcmode="lin" valueType="num">
                                      <p:cBhvr additive="base">
                                        <p:cTn id="16" dur="500" fill="hold"/>
                                        <p:tgtEl>
                                          <p:spTgt spid="2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500" fill="hold"/>
                                        <p:tgtEl>
                                          <p:spTgt spid="24"/>
                                        </p:tgtEl>
                                        <p:attrNameLst>
                                          <p:attrName>ppt_x</p:attrName>
                                        </p:attrNameLst>
                                      </p:cBhvr>
                                      <p:tavLst>
                                        <p:tav tm="0">
                                          <p:val>
                                            <p:strVal val="#ppt_x"/>
                                          </p:val>
                                        </p:tav>
                                        <p:tav tm="100000">
                                          <p:val>
                                            <p:strVal val="#ppt_x"/>
                                          </p:val>
                                        </p:tav>
                                      </p:tavLst>
                                    </p:anim>
                                    <p:anim calcmode="lin" valueType="num">
                                      <p:cBhvr additive="base">
                                        <p:cTn id="20" dur="500" fill="hold"/>
                                        <p:tgtEl>
                                          <p:spTgt spid="2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 calcmode="lin" valueType="num">
                                      <p:cBhvr additive="base">
                                        <p:cTn id="23" dur="500" fill="hold"/>
                                        <p:tgtEl>
                                          <p:spTgt spid="25"/>
                                        </p:tgtEl>
                                        <p:attrNameLst>
                                          <p:attrName>ppt_x</p:attrName>
                                        </p:attrNameLst>
                                      </p:cBhvr>
                                      <p:tavLst>
                                        <p:tav tm="0">
                                          <p:val>
                                            <p:strVal val="#ppt_x"/>
                                          </p:val>
                                        </p:tav>
                                        <p:tav tm="100000">
                                          <p:val>
                                            <p:strVal val="#ppt_x"/>
                                          </p:val>
                                        </p:tav>
                                      </p:tavLst>
                                    </p:anim>
                                    <p:anim calcmode="lin" valueType="num">
                                      <p:cBhvr additive="base">
                                        <p:cTn id="24" dur="500" fill="hold"/>
                                        <p:tgtEl>
                                          <p:spTgt spid="2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additive="base">
                                        <p:cTn id="27" dur="500" fill="hold"/>
                                        <p:tgtEl>
                                          <p:spTgt spid="26"/>
                                        </p:tgtEl>
                                        <p:attrNameLst>
                                          <p:attrName>ppt_x</p:attrName>
                                        </p:attrNameLst>
                                      </p:cBhvr>
                                      <p:tavLst>
                                        <p:tav tm="0">
                                          <p:val>
                                            <p:strVal val="#ppt_x"/>
                                          </p:val>
                                        </p:tav>
                                        <p:tav tm="100000">
                                          <p:val>
                                            <p:strVal val="#ppt_x"/>
                                          </p:val>
                                        </p:tav>
                                      </p:tavLst>
                                    </p:anim>
                                    <p:anim calcmode="lin" valueType="num">
                                      <p:cBhvr additive="base">
                                        <p:cTn id="28" dur="500" fill="hold"/>
                                        <p:tgtEl>
                                          <p:spTgt spid="2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additive="base">
                                        <p:cTn id="31" dur="500" fill="hold"/>
                                        <p:tgtEl>
                                          <p:spTgt spid="27"/>
                                        </p:tgtEl>
                                        <p:attrNameLst>
                                          <p:attrName>ppt_x</p:attrName>
                                        </p:attrNameLst>
                                      </p:cBhvr>
                                      <p:tavLst>
                                        <p:tav tm="0">
                                          <p:val>
                                            <p:strVal val="#ppt_x"/>
                                          </p:val>
                                        </p:tav>
                                        <p:tav tm="100000">
                                          <p:val>
                                            <p:strVal val="#ppt_x"/>
                                          </p:val>
                                        </p:tav>
                                      </p:tavLst>
                                    </p:anim>
                                    <p:anim calcmode="lin" valueType="num">
                                      <p:cBhvr additive="base">
                                        <p:cTn id="3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ppt_x"/>
                                          </p:val>
                                        </p:tav>
                                        <p:tav tm="100000">
                                          <p:val>
                                            <p:strVal val="#ppt_x"/>
                                          </p:val>
                                        </p:tav>
                                      </p:tavLst>
                                    </p:anim>
                                    <p:anim calcmode="lin" valueType="num">
                                      <p:cBhvr additive="base">
                                        <p:cTn id="38" dur="500" fill="hold"/>
                                        <p:tgtEl>
                                          <p:spTgt spid="18"/>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anim calcmode="lin" valueType="num">
                                      <p:cBhvr additive="base">
                                        <p:cTn id="41" dur="500" fill="hold"/>
                                        <p:tgtEl>
                                          <p:spTgt spid="28"/>
                                        </p:tgtEl>
                                        <p:attrNameLst>
                                          <p:attrName>ppt_x</p:attrName>
                                        </p:attrNameLst>
                                      </p:cBhvr>
                                      <p:tavLst>
                                        <p:tav tm="0">
                                          <p:val>
                                            <p:strVal val="#ppt_x"/>
                                          </p:val>
                                        </p:tav>
                                        <p:tav tm="100000">
                                          <p:val>
                                            <p:strVal val="#ppt_x"/>
                                          </p:val>
                                        </p:tav>
                                      </p:tavLst>
                                    </p:anim>
                                    <p:anim calcmode="lin" valueType="num">
                                      <p:cBhvr additive="base">
                                        <p:cTn id="4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41"/>
                                        </p:tgtEl>
                                        <p:attrNameLst>
                                          <p:attrName>style.visibility</p:attrName>
                                        </p:attrNameLst>
                                      </p:cBhvr>
                                      <p:to>
                                        <p:strVal val="visible"/>
                                      </p:to>
                                    </p:set>
                                    <p:anim calcmode="lin" valueType="num">
                                      <p:cBhvr additive="base">
                                        <p:cTn id="55" dur="500" fill="hold"/>
                                        <p:tgtEl>
                                          <p:spTgt spid="41"/>
                                        </p:tgtEl>
                                        <p:attrNameLst>
                                          <p:attrName>ppt_x</p:attrName>
                                        </p:attrNameLst>
                                      </p:cBhvr>
                                      <p:tavLst>
                                        <p:tav tm="0">
                                          <p:val>
                                            <p:strVal val="#ppt_x"/>
                                          </p:val>
                                        </p:tav>
                                        <p:tav tm="100000">
                                          <p:val>
                                            <p:strVal val="#ppt_x"/>
                                          </p:val>
                                        </p:tav>
                                      </p:tavLst>
                                    </p:anim>
                                    <p:anim calcmode="lin" valueType="num">
                                      <p:cBhvr additive="base">
                                        <p:cTn id="56"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9"/>
                                        </p:tgtEl>
                                        <p:attrNameLst>
                                          <p:attrName>style.visibility</p:attrName>
                                        </p:attrNameLst>
                                      </p:cBhvr>
                                      <p:to>
                                        <p:strVal val="visible"/>
                                      </p:to>
                                    </p:set>
                                    <p:anim calcmode="lin" valueType="num">
                                      <p:cBhvr additive="base">
                                        <p:cTn id="61" dur="500" fill="hold"/>
                                        <p:tgtEl>
                                          <p:spTgt spid="19"/>
                                        </p:tgtEl>
                                        <p:attrNameLst>
                                          <p:attrName>ppt_x</p:attrName>
                                        </p:attrNameLst>
                                      </p:cBhvr>
                                      <p:tavLst>
                                        <p:tav tm="0">
                                          <p:val>
                                            <p:strVal val="#ppt_x"/>
                                          </p:val>
                                        </p:tav>
                                        <p:tav tm="100000">
                                          <p:val>
                                            <p:strVal val="#ppt_x"/>
                                          </p:val>
                                        </p:tav>
                                      </p:tavLst>
                                    </p:anim>
                                    <p:anim calcmode="lin" valueType="num">
                                      <p:cBhvr additive="base">
                                        <p:cTn id="62" dur="500" fill="hold"/>
                                        <p:tgtEl>
                                          <p:spTgt spid="19"/>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42"/>
                                        </p:tgtEl>
                                        <p:attrNameLst>
                                          <p:attrName>style.visibility</p:attrName>
                                        </p:attrNameLst>
                                      </p:cBhvr>
                                      <p:to>
                                        <p:strVal val="visible"/>
                                      </p:to>
                                    </p:set>
                                    <p:anim calcmode="lin" valueType="num">
                                      <p:cBhvr additive="base">
                                        <p:cTn id="65" dur="500" fill="hold"/>
                                        <p:tgtEl>
                                          <p:spTgt spid="42"/>
                                        </p:tgtEl>
                                        <p:attrNameLst>
                                          <p:attrName>ppt_x</p:attrName>
                                        </p:attrNameLst>
                                      </p:cBhvr>
                                      <p:tavLst>
                                        <p:tav tm="0">
                                          <p:val>
                                            <p:strVal val="#ppt_x"/>
                                          </p:val>
                                        </p:tav>
                                        <p:tav tm="100000">
                                          <p:val>
                                            <p:strVal val="#ppt_x"/>
                                          </p:val>
                                        </p:tav>
                                      </p:tavLst>
                                    </p:anim>
                                    <p:anim calcmode="lin" valueType="num">
                                      <p:cBhvr additive="base">
                                        <p:cTn id="66"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nodeType="click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1000"/>
                                        <p:tgtEl>
                                          <p:spTgt spid="21"/>
                                        </p:tgtEl>
                                      </p:cBhvr>
                                    </p:animEffect>
                                    <p:anim calcmode="lin" valueType="num">
                                      <p:cBhvr>
                                        <p:cTn id="72" dur="1000" fill="hold"/>
                                        <p:tgtEl>
                                          <p:spTgt spid="21"/>
                                        </p:tgtEl>
                                        <p:attrNameLst>
                                          <p:attrName>ppt_x</p:attrName>
                                        </p:attrNameLst>
                                      </p:cBhvr>
                                      <p:tavLst>
                                        <p:tav tm="0">
                                          <p:val>
                                            <p:strVal val="#ppt_x"/>
                                          </p:val>
                                        </p:tav>
                                        <p:tav tm="100000">
                                          <p:val>
                                            <p:strVal val="#ppt_x"/>
                                          </p:val>
                                        </p:tav>
                                      </p:tavLst>
                                    </p:anim>
                                    <p:anim calcmode="lin" valueType="num">
                                      <p:cBhvr>
                                        <p:cTn id="73" dur="1000" fill="hold"/>
                                        <p:tgtEl>
                                          <p:spTgt spid="21"/>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1000"/>
                                        <p:tgtEl>
                                          <p:spTgt spid="37"/>
                                        </p:tgtEl>
                                      </p:cBhvr>
                                    </p:animEffect>
                                    <p:anim calcmode="lin" valueType="num">
                                      <p:cBhvr>
                                        <p:cTn id="77" dur="1000" fill="hold"/>
                                        <p:tgtEl>
                                          <p:spTgt spid="37"/>
                                        </p:tgtEl>
                                        <p:attrNameLst>
                                          <p:attrName>ppt_x</p:attrName>
                                        </p:attrNameLst>
                                      </p:cBhvr>
                                      <p:tavLst>
                                        <p:tav tm="0">
                                          <p:val>
                                            <p:strVal val="#ppt_x"/>
                                          </p:val>
                                        </p:tav>
                                        <p:tav tm="100000">
                                          <p:val>
                                            <p:strVal val="#ppt_x"/>
                                          </p:val>
                                        </p:tav>
                                      </p:tavLst>
                                    </p:anim>
                                    <p:anim calcmode="lin" valueType="num">
                                      <p:cBhvr>
                                        <p:cTn id="78"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nodeType="click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1000"/>
                                        <p:tgtEl>
                                          <p:spTgt spid="20"/>
                                        </p:tgtEl>
                                      </p:cBhvr>
                                    </p:animEffect>
                                    <p:anim calcmode="lin" valueType="num">
                                      <p:cBhvr>
                                        <p:cTn id="84" dur="1000" fill="hold"/>
                                        <p:tgtEl>
                                          <p:spTgt spid="20"/>
                                        </p:tgtEl>
                                        <p:attrNameLst>
                                          <p:attrName>ppt_x</p:attrName>
                                        </p:attrNameLst>
                                      </p:cBhvr>
                                      <p:tavLst>
                                        <p:tav tm="0">
                                          <p:val>
                                            <p:strVal val="#ppt_x"/>
                                          </p:val>
                                        </p:tav>
                                        <p:tav tm="100000">
                                          <p:val>
                                            <p:strVal val="#ppt_x"/>
                                          </p:val>
                                        </p:tav>
                                      </p:tavLst>
                                    </p:anim>
                                    <p:anim calcmode="lin" valueType="num">
                                      <p:cBhvr>
                                        <p:cTn id="85" dur="1000" fill="hold"/>
                                        <p:tgtEl>
                                          <p:spTgt spid="20"/>
                                        </p:tgtEl>
                                        <p:attrNameLst>
                                          <p:attrName>ppt_y</p:attrName>
                                        </p:attrNameLst>
                                      </p:cBhvr>
                                      <p:tavLst>
                                        <p:tav tm="0">
                                          <p:val>
                                            <p:strVal val="#ppt_y+.1"/>
                                          </p:val>
                                        </p:tav>
                                        <p:tav tm="100000">
                                          <p:val>
                                            <p:strVal val="#ppt_y"/>
                                          </p:val>
                                        </p:tav>
                                      </p:tavLst>
                                    </p:anim>
                                  </p:childTnLst>
                                </p:cTn>
                              </p:par>
                              <p:par>
                                <p:cTn id="86" presetID="42" presetClass="entr" presetSubtype="0" fill="hold" nodeType="withEffect">
                                  <p:stCondLst>
                                    <p:cond delay="0"/>
                                  </p:stCondLst>
                                  <p:childTnLst>
                                    <p:set>
                                      <p:cBhvr>
                                        <p:cTn id="87" dur="1" fill="hold">
                                          <p:stCondLst>
                                            <p:cond delay="0"/>
                                          </p:stCondLst>
                                        </p:cTn>
                                        <p:tgtEl>
                                          <p:spTgt spid="36"/>
                                        </p:tgtEl>
                                        <p:attrNameLst>
                                          <p:attrName>style.visibility</p:attrName>
                                        </p:attrNameLst>
                                      </p:cBhvr>
                                      <p:to>
                                        <p:strVal val="visible"/>
                                      </p:to>
                                    </p:set>
                                    <p:animEffect transition="in" filter="fade">
                                      <p:cBhvr>
                                        <p:cTn id="88" dur="1000"/>
                                        <p:tgtEl>
                                          <p:spTgt spid="36"/>
                                        </p:tgtEl>
                                      </p:cBhvr>
                                    </p:animEffect>
                                    <p:anim calcmode="lin" valueType="num">
                                      <p:cBhvr>
                                        <p:cTn id="89" dur="1000" fill="hold"/>
                                        <p:tgtEl>
                                          <p:spTgt spid="36"/>
                                        </p:tgtEl>
                                        <p:attrNameLst>
                                          <p:attrName>ppt_x</p:attrName>
                                        </p:attrNameLst>
                                      </p:cBhvr>
                                      <p:tavLst>
                                        <p:tav tm="0">
                                          <p:val>
                                            <p:strVal val="#ppt_x"/>
                                          </p:val>
                                        </p:tav>
                                        <p:tav tm="100000">
                                          <p:val>
                                            <p:strVal val="#ppt_x"/>
                                          </p:val>
                                        </p:tav>
                                      </p:tavLst>
                                    </p:anim>
                                    <p:anim calcmode="lin" valueType="num">
                                      <p:cBhvr>
                                        <p:cTn id="90"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9334500" y="5429250"/>
            <a:ext cx="1905000" cy="1905000"/>
          </a:xfrm>
          <a:prstGeom prst="rect">
            <a:avLst/>
          </a:prstGeom>
        </p:spPr>
      </p:pic>
      <p:pic>
        <p:nvPicPr>
          <p:cNvPr id="5" name="Image 3" descr="preencoded.png"/>
          <p:cNvPicPr>
            <a:picLocks noChangeAspect="1"/>
          </p:cNvPicPr>
          <p:nvPr/>
        </p:nvPicPr>
        <p:blipFill>
          <a:blip r:embed="rId6"/>
          <a:stretch>
            <a:fillRect/>
          </a:stretch>
        </p:blipFill>
        <p:spPr>
          <a:xfrm>
            <a:off x="0" y="0"/>
            <a:ext cx="12192000" cy="685800"/>
          </a:xfrm>
          <a:prstGeom prst="rect">
            <a:avLst/>
          </a:prstGeom>
        </p:spPr>
      </p:pic>
      <p:pic>
        <p:nvPicPr>
          <p:cNvPr id="6" name="Image 4" descr="preencoded.png"/>
          <p:cNvPicPr>
            <a:picLocks noChangeAspect="1"/>
          </p:cNvPicPr>
          <p:nvPr/>
        </p:nvPicPr>
        <p:blipFill>
          <a:blip r:embed="rId7"/>
          <a:stretch>
            <a:fillRect/>
          </a:stretch>
        </p:blipFill>
        <p:spPr>
          <a:xfrm>
            <a:off x="381000" y="1676400"/>
            <a:ext cx="3606701" cy="4018280"/>
          </a:xfrm>
          <a:prstGeom prst="rect">
            <a:avLst/>
          </a:prstGeom>
        </p:spPr>
      </p:pic>
      <p:pic>
        <p:nvPicPr>
          <p:cNvPr id="9" name="Image 7" descr="preencoded.png"/>
          <p:cNvPicPr>
            <a:picLocks noChangeAspect="1"/>
          </p:cNvPicPr>
          <p:nvPr/>
        </p:nvPicPr>
        <p:blipFill>
          <a:blip r:embed="rId8"/>
          <a:stretch>
            <a:fillRect/>
          </a:stretch>
        </p:blipFill>
        <p:spPr>
          <a:xfrm>
            <a:off x="477520" y="3012440"/>
            <a:ext cx="152400" cy="152400"/>
          </a:xfrm>
          <a:prstGeom prst="rect">
            <a:avLst/>
          </a:prstGeom>
        </p:spPr>
      </p:pic>
      <p:pic>
        <p:nvPicPr>
          <p:cNvPr id="10" name="Image 8" descr="preencoded.png"/>
          <p:cNvPicPr>
            <a:picLocks noChangeAspect="1"/>
          </p:cNvPicPr>
          <p:nvPr/>
        </p:nvPicPr>
        <p:blipFill>
          <a:blip r:embed="rId8"/>
          <a:stretch>
            <a:fillRect/>
          </a:stretch>
        </p:blipFill>
        <p:spPr>
          <a:xfrm>
            <a:off x="477520" y="3545840"/>
            <a:ext cx="152400" cy="152400"/>
          </a:xfrm>
          <a:prstGeom prst="rect">
            <a:avLst/>
          </a:prstGeom>
        </p:spPr>
      </p:pic>
      <p:pic>
        <p:nvPicPr>
          <p:cNvPr id="11" name="Image 9" descr="preencoded.png"/>
          <p:cNvPicPr>
            <a:picLocks noChangeAspect="1"/>
          </p:cNvPicPr>
          <p:nvPr/>
        </p:nvPicPr>
        <p:blipFill>
          <a:blip r:embed="rId8"/>
          <a:stretch>
            <a:fillRect/>
          </a:stretch>
        </p:blipFill>
        <p:spPr>
          <a:xfrm>
            <a:off x="477520" y="4094480"/>
            <a:ext cx="152400" cy="152400"/>
          </a:xfrm>
          <a:prstGeom prst="rect">
            <a:avLst/>
          </a:prstGeom>
        </p:spPr>
      </p:pic>
      <p:pic>
        <p:nvPicPr>
          <p:cNvPr id="12" name="Image 10" descr="preencoded.png"/>
          <p:cNvPicPr>
            <a:picLocks noChangeAspect="1"/>
          </p:cNvPicPr>
          <p:nvPr/>
        </p:nvPicPr>
        <p:blipFill>
          <a:blip r:embed="rId9"/>
          <a:stretch>
            <a:fillRect/>
          </a:stretch>
        </p:blipFill>
        <p:spPr>
          <a:xfrm>
            <a:off x="4292501" y="1676400"/>
            <a:ext cx="3606850" cy="4018280"/>
          </a:xfrm>
          <a:prstGeom prst="rect">
            <a:avLst/>
          </a:prstGeom>
        </p:spPr>
      </p:pic>
      <p:pic>
        <p:nvPicPr>
          <p:cNvPr id="15" name="Image 13" descr="preencoded.png"/>
          <p:cNvPicPr>
            <a:picLocks noChangeAspect="1"/>
          </p:cNvPicPr>
          <p:nvPr/>
        </p:nvPicPr>
        <p:blipFill>
          <a:blip r:embed="rId10"/>
          <a:stretch>
            <a:fillRect/>
          </a:stretch>
        </p:blipFill>
        <p:spPr>
          <a:xfrm>
            <a:off x="4521101" y="3126740"/>
            <a:ext cx="152400" cy="152400"/>
          </a:xfrm>
          <a:prstGeom prst="rect">
            <a:avLst/>
          </a:prstGeom>
        </p:spPr>
      </p:pic>
      <p:pic>
        <p:nvPicPr>
          <p:cNvPr id="16" name="Image 14" descr="preencoded.png"/>
          <p:cNvPicPr>
            <a:picLocks noChangeAspect="1"/>
          </p:cNvPicPr>
          <p:nvPr/>
        </p:nvPicPr>
        <p:blipFill>
          <a:blip r:embed="rId10"/>
          <a:stretch>
            <a:fillRect/>
          </a:stretch>
        </p:blipFill>
        <p:spPr>
          <a:xfrm>
            <a:off x="4521101" y="3695700"/>
            <a:ext cx="152400" cy="152400"/>
          </a:xfrm>
          <a:prstGeom prst="rect">
            <a:avLst/>
          </a:prstGeom>
        </p:spPr>
      </p:pic>
      <p:pic>
        <p:nvPicPr>
          <p:cNvPr id="17" name="Image 15" descr="preencoded.png"/>
          <p:cNvPicPr>
            <a:picLocks noChangeAspect="1"/>
          </p:cNvPicPr>
          <p:nvPr/>
        </p:nvPicPr>
        <p:blipFill>
          <a:blip r:embed="rId11"/>
          <a:stretch>
            <a:fillRect/>
          </a:stretch>
        </p:blipFill>
        <p:spPr>
          <a:xfrm>
            <a:off x="8204150" y="1676400"/>
            <a:ext cx="3606701" cy="4018280"/>
          </a:xfrm>
          <a:prstGeom prst="rect">
            <a:avLst/>
          </a:prstGeom>
        </p:spPr>
      </p:pic>
      <p:pic>
        <p:nvPicPr>
          <p:cNvPr id="21" name="Image 19" descr="preencoded.png"/>
          <p:cNvPicPr>
            <a:picLocks noChangeAspect="1"/>
          </p:cNvPicPr>
          <p:nvPr/>
        </p:nvPicPr>
        <p:blipFill>
          <a:blip r:embed="rId12"/>
          <a:stretch>
            <a:fillRect/>
          </a:stretch>
        </p:blipFill>
        <p:spPr>
          <a:xfrm>
            <a:off x="8432750" y="3103880"/>
            <a:ext cx="152400" cy="152400"/>
          </a:xfrm>
          <a:prstGeom prst="rect">
            <a:avLst/>
          </a:prstGeom>
        </p:spPr>
      </p:pic>
      <p:pic>
        <p:nvPicPr>
          <p:cNvPr id="22" name="Image 20" descr="preencoded.png"/>
          <p:cNvPicPr>
            <a:picLocks noChangeAspect="1"/>
          </p:cNvPicPr>
          <p:nvPr/>
        </p:nvPicPr>
        <p:blipFill>
          <a:blip r:embed="rId12"/>
          <a:stretch>
            <a:fillRect/>
          </a:stretch>
        </p:blipFill>
        <p:spPr>
          <a:xfrm>
            <a:off x="8432750" y="3693160"/>
            <a:ext cx="152400" cy="152400"/>
          </a:xfrm>
          <a:prstGeom prst="rect">
            <a:avLst/>
          </a:prstGeom>
        </p:spPr>
      </p:pic>
      <p:pic>
        <p:nvPicPr>
          <p:cNvPr id="23" name="Image 21" descr="preencoded.png"/>
          <p:cNvPicPr>
            <a:picLocks noChangeAspect="1"/>
          </p:cNvPicPr>
          <p:nvPr/>
        </p:nvPicPr>
        <p:blipFill>
          <a:blip r:embed="rId13"/>
          <a:stretch>
            <a:fillRect/>
          </a:stretch>
        </p:blipFill>
        <p:spPr>
          <a:xfrm>
            <a:off x="381000" y="6076315"/>
            <a:ext cx="152400" cy="152400"/>
          </a:xfrm>
          <a:prstGeom prst="rect">
            <a:avLst/>
          </a:prstGeom>
        </p:spPr>
      </p:pic>
      <p:sp>
        <p:nvSpPr>
          <p:cNvPr id="24" name="Text 0"/>
          <p:cNvSpPr/>
          <p:nvPr/>
        </p:nvSpPr>
        <p:spPr>
          <a:xfrm>
            <a:off x="381000" y="152400"/>
            <a:ext cx="11430000" cy="381000"/>
          </a:xfrm>
          <a:prstGeom prst="rect">
            <a:avLst/>
          </a:prstGeom>
          <a:noFill/>
          <a:ln/>
        </p:spPr>
        <p:txBody>
          <a:bodyPr vert="horz" wrap="square" lIns="0" tIns="0" rIns="0" bIns="0" rtlCol="0" anchor="t"/>
          <a:lstStyle/>
          <a:p>
            <a:pPr marL="0" indent="0">
              <a:lnSpc>
                <a:spcPts val="3000"/>
              </a:lnSpc>
              <a:buNone/>
            </a:pPr>
            <a:r>
              <a:rPr lang="en-US" sz="3600" b="1" dirty="0">
                <a:solidFill>
                  <a:srgbClr val="FFFFFF"/>
                </a:solidFill>
                <a:latin typeface="ui-sans-serif" pitchFamily="34" charset="0"/>
                <a:ea typeface="ui-sans-serif" pitchFamily="34" charset="-122"/>
                <a:cs typeface="ui-sans-serif" pitchFamily="34" charset="-120"/>
              </a:rPr>
              <a:t>Product Adaptation Strategy</a:t>
            </a:r>
            <a:endParaRPr lang="en-US" sz="3600" dirty="0"/>
          </a:p>
        </p:txBody>
      </p:sp>
      <p:sp>
        <p:nvSpPr>
          <p:cNvPr id="25" name="Text 1"/>
          <p:cNvSpPr/>
          <p:nvPr/>
        </p:nvSpPr>
        <p:spPr>
          <a:xfrm>
            <a:off x="381000" y="914400"/>
            <a:ext cx="11430000" cy="533400"/>
          </a:xfrm>
          <a:prstGeom prst="rect">
            <a:avLst/>
          </a:prstGeom>
          <a:noFill/>
          <a:ln/>
        </p:spPr>
        <p:txBody>
          <a:bodyPr vert="horz" wrap="square" lIns="0" tIns="0" rIns="0" bIns="0" rtlCol="0" anchor="t"/>
          <a:lstStyle/>
          <a:p>
            <a:pPr marL="0" indent="0">
              <a:lnSpc>
                <a:spcPts val="2100"/>
              </a:lnSpc>
              <a:buNone/>
            </a:pPr>
            <a:r>
              <a:rPr lang="en-US" dirty="0">
                <a:solidFill>
                  <a:srgbClr val="374151"/>
                </a:solidFill>
                <a:latin typeface="ui-sans-serif" pitchFamily="34" charset="0"/>
                <a:ea typeface="ui-sans-serif" pitchFamily="34" charset="-122"/>
                <a:cs typeface="ui-sans-serif" pitchFamily="34" charset="-120"/>
              </a:rPr>
              <a:t>Our product strategy involves specific adaptations to meet the target market's needs and preferences, ensuring successful market entry and consumer acceptance.</a:t>
            </a:r>
            <a:endParaRPr lang="en-US" dirty="0"/>
          </a:p>
        </p:txBody>
      </p:sp>
      <p:grpSp>
        <p:nvGrpSpPr>
          <p:cNvPr id="39" name="Group 38">
            <a:extLst>
              <a:ext uri="{FF2B5EF4-FFF2-40B4-BE49-F238E27FC236}">
                <a16:creationId xmlns:a16="http://schemas.microsoft.com/office/drawing/2014/main" id="{E981DB84-9798-3926-526F-12E4F27B44D5}"/>
              </a:ext>
            </a:extLst>
          </p:cNvPr>
          <p:cNvGrpSpPr/>
          <p:nvPr/>
        </p:nvGrpSpPr>
        <p:grpSpPr>
          <a:xfrm>
            <a:off x="492760" y="1783080"/>
            <a:ext cx="3377945" cy="1094740"/>
            <a:chOff x="533400" y="1905000"/>
            <a:chExt cx="3377945" cy="1094740"/>
          </a:xfrm>
        </p:grpSpPr>
        <p:pic>
          <p:nvPicPr>
            <p:cNvPr id="7" name="Image 5" descr="preencoded.png"/>
            <p:cNvPicPr>
              <a:picLocks noChangeAspect="1"/>
            </p:cNvPicPr>
            <p:nvPr/>
          </p:nvPicPr>
          <p:blipFill>
            <a:blip r:embed="rId14"/>
            <a:stretch>
              <a:fillRect/>
            </a:stretch>
          </p:blipFill>
          <p:spPr>
            <a:xfrm>
              <a:off x="1898600" y="1905000"/>
              <a:ext cx="571500" cy="571500"/>
            </a:xfrm>
            <a:prstGeom prst="rect">
              <a:avLst/>
            </a:prstGeom>
          </p:spPr>
        </p:pic>
        <p:pic>
          <p:nvPicPr>
            <p:cNvPr id="8" name="Image 6" descr="preencoded.png"/>
            <p:cNvPicPr>
              <a:picLocks noChangeAspect="1"/>
            </p:cNvPicPr>
            <p:nvPr/>
          </p:nvPicPr>
          <p:blipFill>
            <a:blip r:embed="rId15"/>
            <a:stretch>
              <a:fillRect/>
            </a:stretch>
          </p:blipFill>
          <p:spPr>
            <a:xfrm>
              <a:off x="2060525" y="2019300"/>
              <a:ext cx="247650" cy="342900"/>
            </a:xfrm>
            <a:prstGeom prst="rect">
              <a:avLst/>
            </a:prstGeom>
          </p:spPr>
        </p:pic>
        <p:sp>
          <p:nvSpPr>
            <p:cNvPr id="26" name="Text 2"/>
            <p:cNvSpPr/>
            <p:nvPr/>
          </p:nvSpPr>
          <p:spPr>
            <a:xfrm>
              <a:off x="533400" y="2628900"/>
              <a:ext cx="3377945" cy="370840"/>
            </a:xfrm>
            <a:prstGeom prst="rect">
              <a:avLst/>
            </a:prstGeom>
            <a:noFill/>
            <a:ln/>
          </p:spPr>
          <p:txBody>
            <a:bodyPr vert="horz" wrap="square" lIns="0" tIns="0" rIns="0" bIns="0" rtlCol="0" anchor="t"/>
            <a:lstStyle/>
            <a:p>
              <a:pPr marL="0" indent="0" algn="ctr">
                <a:lnSpc>
                  <a:spcPts val="2400"/>
                </a:lnSpc>
                <a:buNone/>
              </a:pPr>
              <a:r>
                <a:rPr lang="en-US" sz="1800" b="1" dirty="0">
                  <a:solidFill>
                    <a:srgbClr val="1F2937"/>
                  </a:solidFill>
                  <a:latin typeface="ui-sans-serif" pitchFamily="34" charset="0"/>
                  <a:ea typeface="ui-sans-serif" pitchFamily="34" charset="-122"/>
                  <a:cs typeface="ui-sans-serif" pitchFamily="34" charset="-120"/>
                </a:rPr>
                <a:t>Packaging Size</a:t>
              </a:r>
              <a:endParaRPr lang="en-US" sz="1800" dirty="0"/>
            </a:p>
          </p:txBody>
        </p:sp>
      </p:grpSp>
      <p:sp>
        <p:nvSpPr>
          <p:cNvPr id="27" name="Text 3"/>
          <p:cNvSpPr/>
          <p:nvPr/>
        </p:nvSpPr>
        <p:spPr>
          <a:xfrm>
            <a:off x="706120" y="2974340"/>
            <a:ext cx="3164585"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Introducing 500g unit in addition to 1kg unit</a:t>
            </a:r>
            <a:endParaRPr lang="en-US" sz="1400" dirty="0"/>
          </a:p>
        </p:txBody>
      </p:sp>
      <p:sp>
        <p:nvSpPr>
          <p:cNvPr id="28" name="Text 4"/>
          <p:cNvSpPr/>
          <p:nvPr/>
        </p:nvSpPr>
        <p:spPr>
          <a:xfrm>
            <a:off x="706120" y="3507740"/>
            <a:ext cx="3164585"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Based on feedback indicating preference for smaller, more affordable trial sizes</a:t>
            </a:r>
            <a:endParaRPr lang="en-US" sz="1400" dirty="0"/>
          </a:p>
        </p:txBody>
      </p:sp>
      <p:sp>
        <p:nvSpPr>
          <p:cNvPr id="29" name="Text 5"/>
          <p:cNvSpPr/>
          <p:nvPr/>
        </p:nvSpPr>
        <p:spPr>
          <a:xfrm>
            <a:off x="706120" y="4056380"/>
            <a:ext cx="3164585"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Reduced initial commitment for potential customers</a:t>
            </a:r>
            <a:endParaRPr lang="en-US" sz="1400" dirty="0"/>
          </a:p>
        </p:txBody>
      </p:sp>
      <p:grpSp>
        <p:nvGrpSpPr>
          <p:cNvPr id="40" name="Group 39">
            <a:extLst>
              <a:ext uri="{FF2B5EF4-FFF2-40B4-BE49-F238E27FC236}">
                <a16:creationId xmlns:a16="http://schemas.microsoft.com/office/drawing/2014/main" id="{80EEA1C6-8986-265F-7B48-67B6B24B7F52}"/>
              </a:ext>
            </a:extLst>
          </p:cNvPr>
          <p:cNvGrpSpPr/>
          <p:nvPr/>
        </p:nvGrpSpPr>
        <p:grpSpPr>
          <a:xfrm>
            <a:off x="4404256" y="1897380"/>
            <a:ext cx="3378105" cy="980440"/>
            <a:chOff x="4444896" y="2019300"/>
            <a:chExt cx="3378105" cy="980440"/>
          </a:xfrm>
        </p:grpSpPr>
        <p:pic>
          <p:nvPicPr>
            <p:cNvPr id="13" name="Image 11" descr="preencoded.png"/>
            <p:cNvPicPr>
              <a:picLocks noChangeAspect="1"/>
            </p:cNvPicPr>
            <p:nvPr/>
          </p:nvPicPr>
          <p:blipFill>
            <a:blip r:embed="rId16"/>
            <a:stretch>
              <a:fillRect/>
            </a:stretch>
          </p:blipFill>
          <p:spPr>
            <a:xfrm>
              <a:off x="5914876" y="2019300"/>
              <a:ext cx="361950" cy="342900"/>
            </a:xfrm>
            <a:prstGeom prst="rect">
              <a:avLst/>
            </a:prstGeom>
          </p:spPr>
        </p:pic>
        <p:sp>
          <p:nvSpPr>
            <p:cNvPr id="30" name="Text 6"/>
            <p:cNvSpPr/>
            <p:nvPr/>
          </p:nvSpPr>
          <p:spPr>
            <a:xfrm>
              <a:off x="4444896" y="2628900"/>
              <a:ext cx="3378105" cy="370840"/>
            </a:xfrm>
            <a:prstGeom prst="rect">
              <a:avLst/>
            </a:prstGeom>
            <a:noFill/>
            <a:ln/>
          </p:spPr>
          <p:txBody>
            <a:bodyPr vert="horz" wrap="square" lIns="0" tIns="0" rIns="0" bIns="0" rtlCol="0" anchor="t"/>
            <a:lstStyle/>
            <a:p>
              <a:pPr marL="0" indent="0" algn="ctr">
                <a:lnSpc>
                  <a:spcPts val="2400"/>
                </a:lnSpc>
                <a:buNone/>
              </a:pPr>
              <a:r>
                <a:rPr lang="en-US" sz="1800" b="1" dirty="0">
                  <a:solidFill>
                    <a:srgbClr val="1F2937"/>
                  </a:solidFill>
                  <a:latin typeface="ui-sans-serif" pitchFamily="34" charset="0"/>
                  <a:ea typeface="ui-sans-serif" pitchFamily="34" charset="-122"/>
                  <a:cs typeface="ui-sans-serif" pitchFamily="34" charset="-120"/>
                </a:rPr>
                <a:t>Label Language</a:t>
              </a:r>
              <a:endParaRPr lang="en-US" sz="1800" dirty="0"/>
            </a:p>
          </p:txBody>
        </p:sp>
      </p:grpSp>
      <p:sp>
        <p:nvSpPr>
          <p:cNvPr id="31" name="Text 7"/>
          <p:cNvSpPr/>
          <p:nvPr/>
        </p:nvSpPr>
        <p:spPr>
          <a:xfrm>
            <a:off x="4749701" y="3088640"/>
            <a:ext cx="3089136"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Compliance with local regulations</a:t>
            </a:r>
            <a:endParaRPr lang="en-US" sz="1400" dirty="0"/>
          </a:p>
        </p:txBody>
      </p:sp>
      <p:sp>
        <p:nvSpPr>
          <p:cNvPr id="32" name="Text 8"/>
          <p:cNvSpPr/>
          <p:nvPr/>
        </p:nvSpPr>
        <p:spPr>
          <a:xfrm>
            <a:off x="4749701" y="3657600"/>
            <a:ext cx="3073300"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Improved consumer understanding of product features</a:t>
            </a:r>
            <a:endParaRPr lang="en-US" sz="1400" dirty="0"/>
          </a:p>
        </p:txBody>
      </p:sp>
      <p:grpSp>
        <p:nvGrpSpPr>
          <p:cNvPr id="41" name="Group 40">
            <a:extLst>
              <a:ext uri="{FF2B5EF4-FFF2-40B4-BE49-F238E27FC236}">
                <a16:creationId xmlns:a16="http://schemas.microsoft.com/office/drawing/2014/main" id="{67AC4C86-56D7-080C-CA89-87D641083582}"/>
              </a:ext>
            </a:extLst>
          </p:cNvPr>
          <p:cNvGrpSpPr/>
          <p:nvPr/>
        </p:nvGrpSpPr>
        <p:grpSpPr>
          <a:xfrm>
            <a:off x="8315910" y="1783080"/>
            <a:ext cx="3377945" cy="1094740"/>
            <a:chOff x="8356550" y="1905000"/>
            <a:chExt cx="3377945" cy="1094740"/>
          </a:xfrm>
        </p:grpSpPr>
        <p:pic>
          <p:nvPicPr>
            <p:cNvPr id="18" name="Image 16" descr="preencoded.png"/>
            <p:cNvPicPr>
              <a:picLocks noChangeAspect="1"/>
            </p:cNvPicPr>
            <p:nvPr/>
          </p:nvPicPr>
          <p:blipFill>
            <a:blip r:embed="rId17"/>
            <a:stretch>
              <a:fillRect/>
            </a:stretch>
          </p:blipFill>
          <p:spPr>
            <a:xfrm>
              <a:off x="9721751" y="1905000"/>
              <a:ext cx="571500" cy="571500"/>
            </a:xfrm>
            <a:prstGeom prst="rect">
              <a:avLst/>
            </a:prstGeom>
          </p:spPr>
        </p:pic>
        <p:pic>
          <p:nvPicPr>
            <p:cNvPr id="19" name="Image 17" descr="preencoded.png"/>
            <p:cNvPicPr>
              <a:picLocks noChangeAspect="1"/>
            </p:cNvPicPr>
            <p:nvPr/>
          </p:nvPicPr>
          <p:blipFill>
            <a:blip r:embed="rId18"/>
            <a:stretch>
              <a:fillRect/>
            </a:stretch>
          </p:blipFill>
          <p:spPr>
            <a:xfrm>
              <a:off x="9864626" y="2019300"/>
              <a:ext cx="285750" cy="342900"/>
            </a:xfrm>
            <a:prstGeom prst="rect">
              <a:avLst/>
            </a:prstGeom>
          </p:spPr>
        </p:pic>
        <p:sp>
          <p:nvSpPr>
            <p:cNvPr id="33" name="Text 9"/>
            <p:cNvSpPr/>
            <p:nvPr/>
          </p:nvSpPr>
          <p:spPr>
            <a:xfrm>
              <a:off x="8356550" y="2628900"/>
              <a:ext cx="3377945" cy="370840"/>
            </a:xfrm>
            <a:prstGeom prst="rect">
              <a:avLst/>
            </a:prstGeom>
            <a:noFill/>
            <a:ln/>
          </p:spPr>
          <p:txBody>
            <a:bodyPr vert="horz" wrap="square" lIns="0" tIns="0" rIns="0" bIns="0" rtlCol="0" anchor="t"/>
            <a:lstStyle/>
            <a:p>
              <a:pPr marL="0" indent="0" algn="ctr">
                <a:lnSpc>
                  <a:spcPts val="2400"/>
                </a:lnSpc>
                <a:buNone/>
              </a:pPr>
              <a:r>
                <a:rPr lang="en-US" sz="1800" b="1" dirty="0">
                  <a:solidFill>
                    <a:srgbClr val="1F2937"/>
                  </a:solidFill>
                  <a:latin typeface="ui-sans-serif" pitchFamily="34" charset="0"/>
                  <a:ea typeface="ui-sans-serif" pitchFamily="34" charset="-122"/>
                  <a:cs typeface="ui-sans-serif" pitchFamily="34" charset="-120"/>
                </a:rPr>
                <a:t>Product Feature</a:t>
              </a:r>
              <a:endParaRPr lang="en-US" sz="1800" dirty="0"/>
            </a:p>
          </p:txBody>
        </p:sp>
      </p:grpSp>
      <p:sp>
        <p:nvSpPr>
          <p:cNvPr id="35" name="Text 11"/>
          <p:cNvSpPr/>
          <p:nvPr/>
        </p:nvSpPr>
        <p:spPr>
          <a:xfrm>
            <a:off x="8661350" y="3065780"/>
            <a:ext cx="2920901" cy="53086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Based on taste tests showing preference for a more robust flavor</a:t>
            </a:r>
            <a:endParaRPr lang="en-US" sz="1400" dirty="0"/>
          </a:p>
        </p:txBody>
      </p:sp>
      <p:sp>
        <p:nvSpPr>
          <p:cNvPr id="36" name="Text 12"/>
          <p:cNvSpPr/>
          <p:nvPr/>
        </p:nvSpPr>
        <p:spPr>
          <a:xfrm>
            <a:off x="8661350" y="3655060"/>
            <a:ext cx="2920901"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Meeting local taste preferences while maintaining product quality</a:t>
            </a:r>
            <a:endParaRPr lang="en-US" sz="1400" dirty="0"/>
          </a:p>
        </p:txBody>
      </p:sp>
      <p:sp>
        <p:nvSpPr>
          <p:cNvPr id="37" name="Text 13"/>
          <p:cNvSpPr/>
          <p:nvPr/>
        </p:nvSpPr>
        <p:spPr>
          <a:xfrm>
            <a:off x="609600" y="6047740"/>
            <a:ext cx="11125200" cy="457200"/>
          </a:xfrm>
          <a:prstGeom prst="rect">
            <a:avLst/>
          </a:prstGeom>
          <a:noFill/>
          <a:ln/>
        </p:spPr>
        <p:txBody>
          <a:bodyPr vert="horz" wrap="square" lIns="0" tIns="0" rIns="0" bIns="0" rtlCol="0" anchor="t"/>
          <a:lstStyle/>
          <a:p>
            <a:pPr marL="0" indent="0">
              <a:lnSpc>
                <a:spcPts val="1800"/>
              </a:lnSpc>
              <a:buNone/>
            </a:pPr>
            <a:r>
              <a:rPr lang="en-US" i="1" dirty="0">
                <a:solidFill>
                  <a:srgbClr val="4B5563"/>
                </a:solidFill>
                <a:latin typeface="ui-sans-serif" pitchFamily="34" charset="0"/>
                <a:ea typeface="ui-sans-serif" pitchFamily="34" charset="-122"/>
                <a:cs typeface="ui-sans-serif" pitchFamily="34" charset="-120"/>
              </a:rPr>
              <a:t> These adaptations are based on market research and consumer feedback to ensure optimal product acceptance in the target market.</a:t>
            </a:r>
            <a:endParaRPr lang="en-US" dirty="0"/>
          </a:p>
        </p:txBody>
      </p:sp>
      <p:sp>
        <p:nvSpPr>
          <p:cNvPr id="38" name="Text 14"/>
          <p:cNvSpPr/>
          <p:nvPr/>
        </p:nvSpPr>
        <p:spPr>
          <a:xfrm>
            <a:off x="113718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9 / 16</a:t>
            </a:r>
            <a:endParaRPr lang="en-US" sz="1200" dirty="0"/>
          </a:p>
        </p:txBody>
      </p:sp>
      <p:pic>
        <p:nvPicPr>
          <p:cNvPr id="42" name="Image 9" descr="preencoded.png">
            <a:extLst>
              <a:ext uri="{FF2B5EF4-FFF2-40B4-BE49-F238E27FC236}">
                <a16:creationId xmlns:a16="http://schemas.microsoft.com/office/drawing/2014/main" id="{D9E91260-E3D9-DC33-7D5A-C785AAE4A32C}"/>
              </a:ext>
            </a:extLst>
          </p:cNvPr>
          <p:cNvPicPr>
            <a:picLocks noChangeAspect="1"/>
          </p:cNvPicPr>
          <p:nvPr/>
        </p:nvPicPr>
        <p:blipFill>
          <a:blip r:embed="rId8"/>
          <a:stretch>
            <a:fillRect/>
          </a:stretch>
        </p:blipFill>
        <p:spPr>
          <a:xfrm>
            <a:off x="447040" y="4663440"/>
            <a:ext cx="152400" cy="152400"/>
          </a:xfrm>
          <a:prstGeom prst="rect">
            <a:avLst/>
          </a:prstGeom>
        </p:spPr>
      </p:pic>
      <p:sp>
        <p:nvSpPr>
          <p:cNvPr id="43" name="Text 5">
            <a:extLst>
              <a:ext uri="{FF2B5EF4-FFF2-40B4-BE49-F238E27FC236}">
                <a16:creationId xmlns:a16="http://schemas.microsoft.com/office/drawing/2014/main" id="{25E8A2C1-2E27-DA60-6317-75753D5ABC6D}"/>
              </a:ext>
            </a:extLst>
          </p:cNvPr>
          <p:cNvSpPr/>
          <p:nvPr/>
        </p:nvSpPr>
        <p:spPr>
          <a:xfrm>
            <a:off x="675640" y="4625340"/>
            <a:ext cx="3164585"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Reduced initial commitment for potential customers</a:t>
            </a:r>
            <a:endParaRPr lang="en-US" sz="1400" dirty="0"/>
          </a:p>
        </p:txBody>
      </p:sp>
      <p:pic>
        <p:nvPicPr>
          <p:cNvPr id="44" name="Image 9" descr="preencoded.png">
            <a:extLst>
              <a:ext uri="{FF2B5EF4-FFF2-40B4-BE49-F238E27FC236}">
                <a16:creationId xmlns:a16="http://schemas.microsoft.com/office/drawing/2014/main" id="{5A8621B6-119F-3C06-E5E2-4F182CF11287}"/>
              </a:ext>
            </a:extLst>
          </p:cNvPr>
          <p:cNvPicPr>
            <a:picLocks noChangeAspect="1"/>
          </p:cNvPicPr>
          <p:nvPr/>
        </p:nvPicPr>
        <p:blipFill>
          <a:blip r:embed="rId8"/>
          <a:stretch>
            <a:fillRect/>
          </a:stretch>
        </p:blipFill>
        <p:spPr>
          <a:xfrm>
            <a:off x="467360" y="5222240"/>
            <a:ext cx="152400" cy="152400"/>
          </a:xfrm>
          <a:prstGeom prst="rect">
            <a:avLst/>
          </a:prstGeom>
        </p:spPr>
      </p:pic>
      <p:sp>
        <p:nvSpPr>
          <p:cNvPr id="45" name="Text 5">
            <a:extLst>
              <a:ext uri="{FF2B5EF4-FFF2-40B4-BE49-F238E27FC236}">
                <a16:creationId xmlns:a16="http://schemas.microsoft.com/office/drawing/2014/main" id="{5C60422E-CE54-8046-2ADC-A709A2F5A2C7}"/>
              </a:ext>
            </a:extLst>
          </p:cNvPr>
          <p:cNvSpPr/>
          <p:nvPr/>
        </p:nvSpPr>
        <p:spPr>
          <a:xfrm>
            <a:off x="695960" y="5184140"/>
            <a:ext cx="3164585"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Reduced initial commitment for potential customers</a:t>
            </a:r>
            <a:endParaRPr lang="en-US" sz="1400" dirty="0"/>
          </a:p>
        </p:txBody>
      </p:sp>
      <p:pic>
        <p:nvPicPr>
          <p:cNvPr id="46" name="Image 13" descr="preencoded.png">
            <a:extLst>
              <a:ext uri="{FF2B5EF4-FFF2-40B4-BE49-F238E27FC236}">
                <a16:creationId xmlns:a16="http://schemas.microsoft.com/office/drawing/2014/main" id="{32835B07-A887-8D3F-2CDB-0165521D8794}"/>
              </a:ext>
            </a:extLst>
          </p:cNvPr>
          <p:cNvPicPr>
            <a:picLocks noChangeAspect="1"/>
          </p:cNvPicPr>
          <p:nvPr/>
        </p:nvPicPr>
        <p:blipFill>
          <a:blip r:embed="rId10"/>
          <a:stretch>
            <a:fillRect/>
          </a:stretch>
        </p:blipFill>
        <p:spPr>
          <a:xfrm>
            <a:off x="4510941" y="4193540"/>
            <a:ext cx="152400" cy="152400"/>
          </a:xfrm>
          <a:prstGeom prst="rect">
            <a:avLst/>
          </a:prstGeom>
        </p:spPr>
      </p:pic>
      <p:pic>
        <p:nvPicPr>
          <p:cNvPr id="47" name="Image 14" descr="preencoded.png">
            <a:extLst>
              <a:ext uri="{FF2B5EF4-FFF2-40B4-BE49-F238E27FC236}">
                <a16:creationId xmlns:a16="http://schemas.microsoft.com/office/drawing/2014/main" id="{D0BD4D42-081E-70EC-8900-B624BD415F27}"/>
              </a:ext>
            </a:extLst>
          </p:cNvPr>
          <p:cNvPicPr>
            <a:picLocks noChangeAspect="1"/>
          </p:cNvPicPr>
          <p:nvPr/>
        </p:nvPicPr>
        <p:blipFill>
          <a:blip r:embed="rId10"/>
          <a:stretch>
            <a:fillRect/>
          </a:stretch>
        </p:blipFill>
        <p:spPr>
          <a:xfrm>
            <a:off x="4510941" y="4762500"/>
            <a:ext cx="152400" cy="152400"/>
          </a:xfrm>
          <a:prstGeom prst="rect">
            <a:avLst/>
          </a:prstGeom>
        </p:spPr>
      </p:pic>
      <p:sp>
        <p:nvSpPr>
          <p:cNvPr id="48" name="Text 7">
            <a:extLst>
              <a:ext uri="{FF2B5EF4-FFF2-40B4-BE49-F238E27FC236}">
                <a16:creationId xmlns:a16="http://schemas.microsoft.com/office/drawing/2014/main" id="{FF474546-B18A-4FAE-5D6C-54AFC71FA4F9}"/>
              </a:ext>
            </a:extLst>
          </p:cNvPr>
          <p:cNvSpPr/>
          <p:nvPr/>
        </p:nvSpPr>
        <p:spPr>
          <a:xfrm>
            <a:off x="4739541" y="4155440"/>
            <a:ext cx="3089136"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Compliance with local regulations</a:t>
            </a:r>
            <a:endParaRPr lang="en-US" sz="1400" dirty="0"/>
          </a:p>
        </p:txBody>
      </p:sp>
      <p:sp>
        <p:nvSpPr>
          <p:cNvPr id="49" name="Text 8">
            <a:extLst>
              <a:ext uri="{FF2B5EF4-FFF2-40B4-BE49-F238E27FC236}">
                <a16:creationId xmlns:a16="http://schemas.microsoft.com/office/drawing/2014/main" id="{91F2EA55-0A65-18BD-9ADC-3640CEC449D0}"/>
              </a:ext>
            </a:extLst>
          </p:cNvPr>
          <p:cNvSpPr/>
          <p:nvPr/>
        </p:nvSpPr>
        <p:spPr>
          <a:xfrm>
            <a:off x="4739541" y="4724400"/>
            <a:ext cx="3073300"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Improved consumer understanding of product features</a:t>
            </a:r>
            <a:endParaRPr lang="en-US" sz="1400" dirty="0"/>
          </a:p>
        </p:txBody>
      </p:sp>
      <p:pic>
        <p:nvPicPr>
          <p:cNvPr id="50" name="Image 19" descr="preencoded.png">
            <a:extLst>
              <a:ext uri="{FF2B5EF4-FFF2-40B4-BE49-F238E27FC236}">
                <a16:creationId xmlns:a16="http://schemas.microsoft.com/office/drawing/2014/main" id="{5403C41D-ED70-A5C9-C7AD-CC453B9598C9}"/>
              </a:ext>
            </a:extLst>
          </p:cNvPr>
          <p:cNvPicPr>
            <a:picLocks noChangeAspect="1"/>
          </p:cNvPicPr>
          <p:nvPr/>
        </p:nvPicPr>
        <p:blipFill>
          <a:blip r:embed="rId12"/>
          <a:stretch>
            <a:fillRect/>
          </a:stretch>
        </p:blipFill>
        <p:spPr>
          <a:xfrm>
            <a:off x="8422590" y="4251960"/>
            <a:ext cx="152400" cy="152400"/>
          </a:xfrm>
          <a:prstGeom prst="rect">
            <a:avLst/>
          </a:prstGeom>
        </p:spPr>
      </p:pic>
      <p:pic>
        <p:nvPicPr>
          <p:cNvPr id="51" name="Image 20" descr="preencoded.png">
            <a:extLst>
              <a:ext uri="{FF2B5EF4-FFF2-40B4-BE49-F238E27FC236}">
                <a16:creationId xmlns:a16="http://schemas.microsoft.com/office/drawing/2014/main" id="{CBF78CE9-E7FA-E424-55E8-E3156EAA172C}"/>
              </a:ext>
            </a:extLst>
          </p:cNvPr>
          <p:cNvPicPr>
            <a:picLocks noChangeAspect="1"/>
          </p:cNvPicPr>
          <p:nvPr/>
        </p:nvPicPr>
        <p:blipFill>
          <a:blip r:embed="rId12"/>
          <a:stretch>
            <a:fillRect/>
          </a:stretch>
        </p:blipFill>
        <p:spPr>
          <a:xfrm>
            <a:off x="8422590" y="4841240"/>
            <a:ext cx="152400" cy="152400"/>
          </a:xfrm>
          <a:prstGeom prst="rect">
            <a:avLst/>
          </a:prstGeom>
        </p:spPr>
      </p:pic>
      <p:sp>
        <p:nvSpPr>
          <p:cNvPr id="52" name="Text 11">
            <a:extLst>
              <a:ext uri="{FF2B5EF4-FFF2-40B4-BE49-F238E27FC236}">
                <a16:creationId xmlns:a16="http://schemas.microsoft.com/office/drawing/2014/main" id="{16375801-A159-8E6F-C3C2-3BF496641E6F}"/>
              </a:ext>
            </a:extLst>
          </p:cNvPr>
          <p:cNvSpPr/>
          <p:nvPr/>
        </p:nvSpPr>
        <p:spPr>
          <a:xfrm>
            <a:off x="8651190" y="4213860"/>
            <a:ext cx="2920901" cy="53086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Based on taste tests showing preference for a more robust flavor</a:t>
            </a:r>
            <a:endParaRPr lang="en-US" sz="1400" dirty="0"/>
          </a:p>
        </p:txBody>
      </p:sp>
      <p:sp>
        <p:nvSpPr>
          <p:cNvPr id="53" name="Text 12">
            <a:extLst>
              <a:ext uri="{FF2B5EF4-FFF2-40B4-BE49-F238E27FC236}">
                <a16:creationId xmlns:a16="http://schemas.microsoft.com/office/drawing/2014/main" id="{C590A926-9EC2-DD9D-5BB2-83B679F61308}"/>
              </a:ext>
            </a:extLst>
          </p:cNvPr>
          <p:cNvSpPr/>
          <p:nvPr/>
        </p:nvSpPr>
        <p:spPr>
          <a:xfrm>
            <a:off x="8651190" y="4803140"/>
            <a:ext cx="2920901"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Meeting local taste preferences while maintaining product quality</a:t>
            </a:r>
            <a:endParaRPr lang="en-US" sz="1400" dirty="0"/>
          </a:p>
        </p:txBody>
      </p:sp>
      <p:pic>
        <p:nvPicPr>
          <p:cNvPr id="54" name="Picture 53" descr="A blue letters on a black background&#10;&#10;AI-generated content may be incorrect.">
            <a:extLst>
              <a:ext uri="{FF2B5EF4-FFF2-40B4-BE49-F238E27FC236}">
                <a16:creationId xmlns:a16="http://schemas.microsoft.com/office/drawing/2014/main" id="{FFC56684-EFFC-E8CE-A804-79063F1FBDFF}"/>
              </a:ext>
            </a:extLst>
          </p:cNvPr>
          <p:cNvPicPr>
            <a:picLocks noChangeAspect="1"/>
          </p:cNvPicPr>
          <p:nvPr/>
        </p:nvPicPr>
        <p:blipFill>
          <a:blip r:embed="rId19"/>
          <a:stretch>
            <a:fillRect/>
          </a:stretch>
        </p:blipFill>
        <p:spPr>
          <a:xfrm>
            <a:off x="10825377" y="233170"/>
            <a:ext cx="1052680" cy="2606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9"/>
                                        </p:tgtEl>
                                        <p:attrNameLst>
                                          <p:attrName>style.visibility</p:attrName>
                                        </p:attrNameLst>
                                      </p:cBhvr>
                                      <p:to>
                                        <p:strVal val="visible"/>
                                      </p:to>
                                    </p:set>
                                    <p:anim calcmode="lin" valueType="num">
                                      <p:cBhvr additive="base">
                                        <p:cTn id="23" dur="500" fill="hold"/>
                                        <p:tgtEl>
                                          <p:spTgt spid="39"/>
                                        </p:tgtEl>
                                        <p:attrNameLst>
                                          <p:attrName>ppt_x</p:attrName>
                                        </p:attrNameLst>
                                      </p:cBhvr>
                                      <p:tavLst>
                                        <p:tav tm="0">
                                          <p:val>
                                            <p:strVal val="#ppt_x"/>
                                          </p:val>
                                        </p:tav>
                                        <p:tav tm="100000">
                                          <p:val>
                                            <p:strVal val="#ppt_x"/>
                                          </p:val>
                                        </p:tav>
                                      </p:tavLst>
                                    </p:anim>
                                    <p:anim calcmode="lin" valueType="num">
                                      <p:cBhvr additive="base">
                                        <p:cTn id="24" dur="500" fill="hold"/>
                                        <p:tgtEl>
                                          <p:spTgt spid="3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 calcmode="lin" valueType="num">
                                      <p:cBhvr additive="base">
                                        <p:cTn id="27" dur="500" fill="hold"/>
                                        <p:tgtEl>
                                          <p:spTgt spid="27"/>
                                        </p:tgtEl>
                                        <p:attrNameLst>
                                          <p:attrName>ppt_x</p:attrName>
                                        </p:attrNameLst>
                                      </p:cBhvr>
                                      <p:tavLst>
                                        <p:tav tm="0">
                                          <p:val>
                                            <p:strVal val="#ppt_x"/>
                                          </p:val>
                                        </p:tav>
                                        <p:tav tm="100000">
                                          <p:val>
                                            <p:strVal val="#ppt_x"/>
                                          </p:val>
                                        </p:tav>
                                      </p:tavLst>
                                    </p:anim>
                                    <p:anim calcmode="lin" valueType="num">
                                      <p:cBhvr additive="base">
                                        <p:cTn id="28" dur="500" fill="hold"/>
                                        <p:tgtEl>
                                          <p:spTgt spid="2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anim calcmode="lin" valueType="num">
                                      <p:cBhvr additive="base">
                                        <p:cTn id="31" dur="500" fill="hold"/>
                                        <p:tgtEl>
                                          <p:spTgt spid="28"/>
                                        </p:tgtEl>
                                        <p:attrNameLst>
                                          <p:attrName>ppt_x</p:attrName>
                                        </p:attrNameLst>
                                      </p:cBhvr>
                                      <p:tavLst>
                                        <p:tav tm="0">
                                          <p:val>
                                            <p:strVal val="#ppt_x"/>
                                          </p:val>
                                        </p:tav>
                                        <p:tav tm="100000">
                                          <p:val>
                                            <p:strVal val="#ppt_x"/>
                                          </p:val>
                                        </p:tav>
                                      </p:tavLst>
                                    </p:anim>
                                    <p:anim calcmode="lin" valueType="num">
                                      <p:cBhvr additive="base">
                                        <p:cTn id="32" dur="500" fill="hold"/>
                                        <p:tgtEl>
                                          <p:spTgt spid="28"/>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 calcmode="lin" valueType="num">
                                      <p:cBhvr additive="base">
                                        <p:cTn id="35" dur="500" fill="hold"/>
                                        <p:tgtEl>
                                          <p:spTgt spid="29"/>
                                        </p:tgtEl>
                                        <p:attrNameLst>
                                          <p:attrName>ppt_x</p:attrName>
                                        </p:attrNameLst>
                                      </p:cBhvr>
                                      <p:tavLst>
                                        <p:tav tm="0">
                                          <p:val>
                                            <p:strVal val="#ppt_x"/>
                                          </p:val>
                                        </p:tav>
                                        <p:tav tm="100000">
                                          <p:val>
                                            <p:strVal val="#ppt_x"/>
                                          </p:val>
                                        </p:tav>
                                      </p:tavLst>
                                    </p:anim>
                                    <p:anim calcmode="lin" valueType="num">
                                      <p:cBhvr additive="base">
                                        <p:cTn id="36" dur="500" fill="hold"/>
                                        <p:tgtEl>
                                          <p:spTgt spid="29"/>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2"/>
                                        </p:tgtEl>
                                        <p:attrNameLst>
                                          <p:attrName>style.visibility</p:attrName>
                                        </p:attrNameLst>
                                      </p:cBhvr>
                                      <p:to>
                                        <p:strVal val="visible"/>
                                      </p:to>
                                    </p:set>
                                    <p:anim calcmode="lin" valueType="num">
                                      <p:cBhvr additive="base">
                                        <p:cTn id="39" dur="500" fill="hold"/>
                                        <p:tgtEl>
                                          <p:spTgt spid="42"/>
                                        </p:tgtEl>
                                        <p:attrNameLst>
                                          <p:attrName>ppt_x</p:attrName>
                                        </p:attrNameLst>
                                      </p:cBhvr>
                                      <p:tavLst>
                                        <p:tav tm="0">
                                          <p:val>
                                            <p:strVal val="#ppt_x"/>
                                          </p:val>
                                        </p:tav>
                                        <p:tav tm="100000">
                                          <p:val>
                                            <p:strVal val="#ppt_x"/>
                                          </p:val>
                                        </p:tav>
                                      </p:tavLst>
                                    </p:anim>
                                    <p:anim calcmode="lin" valueType="num">
                                      <p:cBhvr additive="base">
                                        <p:cTn id="40" dur="500" fill="hold"/>
                                        <p:tgtEl>
                                          <p:spTgt spid="42"/>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anim calcmode="lin" valueType="num">
                                      <p:cBhvr additive="base">
                                        <p:cTn id="43" dur="500" fill="hold"/>
                                        <p:tgtEl>
                                          <p:spTgt spid="43"/>
                                        </p:tgtEl>
                                        <p:attrNameLst>
                                          <p:attrName>ppt_x</p:attrName>
                                        </p:attrNameLst>
                                      </p:cBhvr>
                                      <p:tavLst>
                                        <p:tav tm="0">
                                          <p:val>
                                            <p:strVal val="#ppt_x"/>
                                          </p:val>
                                        </p:tav>
                                        <p:tav tm="100000">
                                          <p:val>
                                            <p:strVal val="#ppt_x"/>
                                          </p:val>
                                        </p:tav>
                                      </p:tavLst>
                                    </p:anim>
                                    <p:anim calcmode="lin" valueType="num">
                                      <p:cBhvr additive="base">
                                        <p:cTn id="44" dur="500" fill="hold"/>
                                        <p:tgtEl>
                                          <p:spTgt spid="43"/>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44"/>
                                        </p:tgtEl>
                                        <p:attrNameLst>
                                          <p:attrName>style.visibility</p:attrName>
                                        </p:attrNameLst>
                                      </p:cBhvr>
                                      <p:to>
                                        <p:strVal val="visible"/>
                                      </p:to>
                                    </p:set>
                                    <p:anim calcmode="lin" valueType="num">
                                      <p:cBhvr additive="base">
                                        <p:cTn id="47" dur="500" fill="hold"/>
                                        <p:tgtEl>
                                          <p:spTgt spid="44"/>
                                        </p:tgtEl>
                                        <p:attrNameLst>
                                          <p:attrName>ppt_x</p:attrName>
                                        </p:attrNameLst>
                                      </p:cBhvr>
                                      <p:tavLst>
                                        <p:tav tm="0">
                                          <p:val>
                                            <p:strVal val="#ppt_x"/>
                                          </p:val>
                                        </p:tav>
                                        <p:tav tm="100000">
                                          <p:val>
                                            <p:strVal val="#ppt_x"/>
                                          </p:val>
                                        </p:tav>
                                      </p:tavLst>
                                    </p:anim>
                                    <p:anim calcmode="lin" valueType="num">
                                      <p:cBhvr additive="base">
                                        <p:cTn id="48" dur="500" fill="hold"/>
                                        <p:tgtEl>
                                          <p:spTgt spid="44"/>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anim calcmode="lin" valueType="num">
                                      <p:cBhvr additive="base">
                                        <p:cTn id="51" dur="500" fill="hold"/>
                                        <p:tgtEl>
                                          <p:spTgt spid="45"/>
                                        </p:tgtEl>
                                        <p:attrNameLst>
                                          <p:attrName>ppt_x</p:attrName>
                                        </p:attrNameLst>
                                      </p:cBhvr>
                                      <p:tavLst>
                                        <p:tav tm="0">
                                          <p:val>
                                            <p:strVal val="#ppt_x"/>
                                          </p:val>
                                        </p:tav>
                                        <p:tav tm="100000">
                                          <p:val>
                                            <p:strVal val="#ppt_x"/>
                                          </p:val>
                                        </p:tav>
                                      </p:tavLst>
                                    </p:anim>
                                    <p:anim calcmode="lin" valueType="num">
                                      <p:cBhvr additive="base">
                                        <p:cTn id="52"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500" fill="hold"/>
                                        <p:tgtEl>
                                          <p:spTgt spid="12"/>
                                        </p:tgtEl>
                                        <p:attrNameLst>
                                          <p:attrName>ppt_x</p:attrName>
                                        </p:attrNameLst>
                                      </p:cBhvr>
                                      <p:tavLst>
                                        <p:tav tm="0">
                                          <p:val>
                                            <p:strVal val="#ppt_x"/>
                                          </p:val>
                                        </p:tav>
                                        <p:tav tm="100000">
                                          <p:val>
                                            <p:strVal val="#ppt_x"/>
                                          </p:val>
                                        </p:tav>
                                      </p:tavLst>
                                    </p:anim>
                                    <p:anim calcmode="lin" valueType="num">
                                      <p:cBhvr additive="base">
                                        <p:cTn id="58" dur="500" fill="hold"/>
                                        <p:tgtEl>
                                          <p:spTgt spid="12"/>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500" fill="hold"/>
                                        <p:tgtEl>
                                          <p:spTgt spid="15"/>
                                        </p:tgtEl>
                                        <p:attrNameLst>
                                          <p:attrName>ppt_x</p:attrName>
                                        </p:attrNameLst>
                                      </p:cBhvr>
                                      <p:tavLst>
                                        <p:tav tm="0">
                                          <p:val>
                                            <p:strVal val="#ppt_x"/>
                                          </p:val>
                                        </p:tav>
                                        <p:tav tm="100000">
                                          <p:val>
                                            <p:strVal val="#ppt_x"/>
                                          </p:val>
                                        </p:tav>
                                      </p:tavLst>
                                    </p:anim>
                                    <p:anim calcmode="lin" valueType="num">
                                      <p:cBhvr additive="base">
                                        <p:cTn id="62" dur="500" fill="hold"/>
                                        <p:tgtEl>
                                          <p:spTgt spid="15"/>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16"/>
                                        </p:tgtEl>
                                        <p:attrNameLst>
                                          <p:attrName>style.visibility</p:attrName>
                                        </p:attrNameLst>
                                      </p:cBhvr>
                                      <p:to>
                                        <p:strVal val="visible"/>
                                      </p:to>
                                    </p:set>
                                    <p:anim calcmode="lin" valueType="num">
                                      <p:cBhvr additive="base">
                                        <p:cTn id="65" dur="500" fill="hold"/>
                                        <p:tgtEl>
                                          <p:spTgt spid="16"/>
                                        </p:tgtEl>
                                        <p:attrNameLst>
                                          <p:attrName>ppt_x</p:attrName>
                                        </p:attrNameLst>
                                      </p:cBhvr>
                                      <p:tavLst>
                                        <p:tav tm="0">
                                          <p:val>
                                            <p:strVal val="#ppt_x"/>
                                          </p:val>
                                        </p:tav>
                                        <p:tav tm="100000">
                                          <p:val>
                                            <p:strVal val="#ppt_x"/>
                                          </p:val>
                                        </p:tav>
                                      </p:tavLst>
                                    </p:anim>
                                    <p:anim calcmode="lin" valueType="num">
                                      <p:cBhvr additive="base">
                                        <p:cTn id="66" dur="500" fill="hold"/>
                                        <p:tgtEl>
                                          <p:spTgt spid="16"/>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40"/>
                                        </p:tgtEl>
                                        <p:attrNameLst>
                                          <p:attrName>style.visibility</p:attrName>
                                        </p:attrNameLst>
                                      </p:cBhvr>
                                      <p:to>
                                        <p:strVal val="visible"/>
                                      </p:to>
                                    </p:set>
                                    <p:anim calcmode="lin" valueType="num">
                                      <p:cBhvr additive="base">
                                        <p:cTn id="69" dur="500" fill="hold"/>
                                        <p:tgtEl>
                                          <p:spTgt spid="40"/>
                                        </p:tgtEl>
                                        <p:attrNameLst>
                                          <p:attrName>ppt_x</p:attrName>
                                        </p:attrNameLst>
                                      </p:cBhvr>
                                      <p:tavLst>
                                        <p:tav tm="0">
                                          <p:val>
                                            <p:strVal val="#ppt_x"/>
                                          </p:val>
                                        </p:tav>
                                        <p:tav tm="100000">
                                          <p:val>
                                            <p:strVal val="#ppt_x"/>
                                          </p:val>
                                        </p:tav>
                                      </p:tavLst>
                                    </p:anim>
                                    <p:anim calcmode="lin" valueType="num">
                                      <p:cBhvr additive="base">
                                        <p:cTn id="70" dur="500" fill="hold"/>
                                        <p:tgtEl>
                                          <p:spTgt spid="40"/>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 calcmode="lin" valueType="num">
                                      <p:cBhvr additive="base">
                                        <p:cTn id="73" dur="500" fill="hold"/>
                                        <p:tgtEl>
                                          <p:spTgt spid="31"/>
                                        </p:tgtEl>
                                        <p:attrNameLst>
                                          <p:attrName>ppt_x</p:attrName>
                                        </p:attrNameLst>
                                      </p:cBhvr>
                                      <p:tavLst>
                                        <p:tav tm="0">
                                          <p:val>
                                            <p:strVal val="#ppt_x"/>
                                          </p:val>
                                        </p:tav>
                                        <p:tav tm="100000">
                                          <p:val>
                                            <p:strVal val="#ppt_x"/>
                                          </p:val>
                                        </p:tav>
                                      </p:tavLst>
                                    </p:anim>
                                    <p:anim calcmode="lin" valueType="num">
                                      <p:cBhvr additive="base">
                                        <p:cTn id="74" dur="500" fill="hold"/>
                                        <p:tgtEl>
                                          <p:spTgt spid="31"/>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32"/>
                                        </p:tgtEl>
                                        <p:attrNameLst>
                                          <p:attrName>style.visibility</p:attrName>
                                        </p:attrNameLst>
                                      </p:cBhvr>
                                      <p:to>
                                        <p:strVal val="visible"/>
                                      </p:to>
                                    </p:set>
                                    <p:anim calcmode="lin" valueType="num">
                                      <p:cBhvr additive="base">
                                        <p:cTn id="77" dur="500" fill="hold"/>
                                        <p:tgtEl>
                                          <p:spTgt spid="32"/>
                                        </p:tgtEl>
                                        <p:attrNameLst>
                                          <p:attrName>ppt_x</p:attrName>
                                        </p:attrNameLst>
                                      </p:cBhvr>
                                      <p:tavLst>
                                        <p:tav tm="0">
                                          <p:val>
                                            <p:strVal val="#ppt_x"/>
                                          </p:val>
                                        </p:tav>
                                        <p:tav tm="100000">
                                          <p:val>
                                            <p:strVal val="#ppt_x"/>
                                          </p:val>
                                        </p:tav>
                                      </p:tavLst>
                                    </p:anim>
                                    <p:anim calcmode="lin" valueType="num">
                                      <p:cBhvr additive="base">
                                        <p:cTn id="78" dur="500" fill="hold"/>
                                        <p:tgtEl>
                                          <p:spTgt spid="32"/>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46"/>
                                        </p:tgtEl>
                                        <p:attrNameLst>
                                          <p:attrName>style.visibility</p:attrName>
                                        </p:attrNameLst>
                                      </p:cBhvr>
                                      <p:to>
                                        <p:strVal val="visible"/>
                                      </p:to>
                                    </p:set>
                                    <p:anim calcmode="lin" valueType="num">
                                      <p:cBhvr additive="base">
                                        <p:cTn id="81" dur="500" fill="hold"/>
                                        <p:tgtEl>
                                          <p:spTgt spid="46"/>
                                        </p:tgtEl>
                                        <p:attrNameLst>
                                          <p:attrName>ppt_x</p:attrName>
                                        </p:attrNameLst>
                                      </p:cBhvr>
                                      <p:tavLst>
                                        <p:tav tm="0">
                                          <p:val>
                                            <p:strVal val="#ppt_x"/>
                                          </p:val>
                                        </p:tav>
                                        <p:tav tm="100000">
                                          <p:val>
                                            <p:strVal val="#ppt_x"/>
                                          </p:val>
                                        </p:tav>
                                      </p:tavLst>
                                    </p:anim>
                                    <p:anim calcmode="lin" valueType="num">
                                      <p:cBhvr additive="base">
                                        <p:cTn id="82" dur="500" fill="hold"/>
                                        <p:tgtEl>
                                          <p:spTgt spid="46"/>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47"/>
                                        </p:tgtEl>
                                        <p:attrNameLst>
                                          <p:attrName>style.visibility</p:attrName>
                                        </p:attrNameLst>
                                      </p:cBhvr>
                                      <p:to>
                                        <p:strVal val="visible"/>
                                      </p:to>
                                    </p:set>
                                    <p:anim calcmode="lin" valueType="num">
                                      <p:cBhvr additive="base">
                                        <p:cTn id="85" dur="500" fill="hold"/>
                                        <p:tgtEl>
                                          <p:spTgt spid="47"/>
                                        </p:tgtEl>
                                        <p:attrNameLst>
                                          <p:attrName>ppt_x</p:attrName>
                                        </p:attrNameLst>
                                      </p:cBhvr>
                                      <p:tavLst>
                                        <p:tav tm="0">
                                          <p:val>
                                            <p:strVal val="#ppt_x"/>
                                          </p:val>
                                        </p:tav>
                                        <p:tav tm="100000">
                                          <p:val>
                                            <p:strVal val="#ppt_x"/>
                                          </p:val>
                                        </p:tav>
                                      </p:tavLst>
                                    </p:anim>
                                    <p:anim calcmode="lin" valueType="num">
                                      <p:cBhvr additive="base">
                                        <p:cTn id="86" dur="500" fill="hold"/>
                                        <p:tgtEl>
                                          <p:spTgt spid="47"/>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48"/>
                                        </p:tgtEl>
                                        <p:attrNameLst>
                                          <p:attrName>style.visibility</p:attrName>
                                        </p:attrNameLst>
                                      </p:cBhvr>
                                      <p:to>
                                        <p:strVal val="visible"/>
                                      </p:to>
                                    </p:set>
                                    <p:anim calcmode="lin" valueType="num">
                                      <p:cBhvr additive="base">
                                        <p:cTn id="89" dur="500" fill="hold"/>
                                        <p:tgtEl>
                                          <p:spTgt spid="48"/>
                                        </p:tgtEl>
                                        <p:attrNameLst>
                                          <p:attrName>ppt_x</p:attrName>
                                        </p:attrNameLst>
                                      </p:cBhvr>
                                      <p:tavLst>
                                        <p:tav tm="0">
                                          <p:val>
                                            <p:strVal val="#ppt_x"/>
                                          </p:val>
                                        </p:tav>
                                        <p:tav tm="100000">
                                          <p:val>
                                            <p:strVal val="#ppt_x"/>
                                          </p:val>
                                        </p:tav>
                                      </p:tavLst>
                                    </p:anim>
                                    <p:anim calcmode="lin" valueType="num">
                                      <p:cBhvr additive="base">
                                        <p:cTn id="90" dur="500" fill="hold"/>
                                        <p:tgtEl>
                                          <p:spTgt spid="48"/>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49"/>
                                        </p:tgtEl>
                                        <p:attrNameLst>
                                          <p:attrName>style.visibility</p:attrName>
                                        </p:attrNameLst>
                                      </p:cBhvr>
                                      <p:to>
                                        <p:strVal val="visible"/>
                                      </p:to>
                                    </p:set>
                                    <p:anim calcmode="lin" valueType="num">
                                      <p:cBhvr additive="base">
                                        <p:cTn id="93" dur="500" fill="hold"/>
                                        <p:tgtEl>
                                          <p:spTgt spid="49"/>
                                        </p:tgtEl>
                                        <p:attrNameLst>
                                          <p:attrName>ppt_x</p:attrName>
                                        </p:attrNameLst>
                                      </p:cBhvr>
                                      <p:tavLst>
                                        <p:tav tm="0">
                                          <p:val>
                                            <p:strVal val="#ppt_x"/>
                                          </p:val>
                                        </p:tav>
                                        <p:tav tm="100000">
                                          <p:val>
                                            <p:strVal val="#ppt_x"/>
                                          </p:val>
                                        </p:tav>
                                      </p:tavLst>
                                    </p:anim>
                                    <p:anim calcmode="lin" valueType="num">
                                      <p:cBhvr additive="base">
                                        <p:cTn id="94"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nodeType="clickEffect">
                                  <p:stCondLst>
                                    <p:cond delay="0"/>
                                  </p:stCondLst>
                                  <p:childTnLst>
                                    <p:set>
                                      <p:cBhvr>
                                        <p:cTn id="98" dur="1" fill="hold">
                                          <p:stCondLst>
                                            <p:cond delay="0"/>
                                          </p:stCondLst>
                                        </p:cTn>
                                        <p:tgtEl>
                                          <p:spTgt spid="17"/>
                                        </p:tgtEl>
                                        <p:attrNameLst>
                                          <p:attrName>style.visibility</p:attrName>
                                        </p:attrNameLst>
                                      </p:cBhvr>
                                      <p:to>
                                        <p:strVal val="visible"/>
                                      </p:to>
                                    </p:set>
                                    <p:anim calcmode="lin" valueType="num">
                                      <p:cBhvr additive="base">
                                        <p:cTn id="99" dur="500" fill="hold"/>
                                        <p:tgtEl>
                                          <p:spTgt spid="17"/>
                                        </p:tgtEl>
                                        <p:attrNameLst>
                                          <p:attrName>ppt_x</p:attrName>
                                        </p:attrNameLst>
                                      </p:cBhvr>
                                      <p:tavLst>
                                        <p:tav tm="0">
                                          <p:val>
                                            <p:strVal val="#ppt_x"/>
                                          </p:val>
                                        </p:tav>
                                        <p:tav tm="100000">
                                          <p:val>
                                            <p:strVal val="#ppt_x"/>
                                          </p:val>
                                        </p:tav>
                                      </p:tavLst>
                                    </p:anim>
                                    <p:anim calcmode="lin" valueType="num">
                                      <p:cBhvr additive="base">
                                        <p:cTn id="100" dur="500" fill="hold"/>
                                        <p:tgtEl>
                                          <p:spTgt spid="17"/>
                                        </p:tgtEl>
                                        <p:attrNameLst>
                                          <p:attrName>ppt_y</p:attrName>
                                        </p:attrNameLst>
                                      </p:cBhvr>
                                      <p:tavLst>
                                        <p:tav tm="0">
                                          <p:val>
                                            <p:strVal val="1+#ppt_h/2"/>
                                          </p:val>
                                        </p:tav>
                                        <p:tav tm="100000">
                                          <p:val>
                                            <p:strVal val="#ppt_y"/>
                                          </p:val>
                                        </p:tav>
                                      </p:tavLst>
                                    </p:anim>
                                  </p:childTnLst>
                                </p:cTn>
                              </p:par>
                              <p:par>
                                <p:cTn id="101" presetID="2" presetClass="entr" presetSubtype="4" fill="hold" nodeType="withEffect">
                                  <p:stCondLst>
                                    <p:cond delay="0"/>
                                  </p:stCondLst>
                                  <p:childTnLst>
                                    <p:set>
                                      <p:cBhvr>
                                        <p:cTn id="102" dur="1" fill="hold">
                                          <p:stCondLst>
                                            <p:cond delay="0"/>
                                          </p:stCondLst>
                                        </p:cTn>
                                        <p:tgtEl>
                                          <p:spTgt spid="21"/>
                                        </p:tgtEl>
                                        <p:attrNameLst>
                                          <p:attrName>style.visibility</p:attrName>
                                        </p:attrNameLst>
                                      </p:cBhvr>
                                      <p:to>
                                        <p:strVal val="visible"/>
                                      </p:to>
                                    </p:set>
                                    <p:anim calcmode="lin" valueType="num">
                                      <p:cBhvr additive="base">
                                        <p:cTn id="103" dur="500" fill="hold"/>
                                        <p:tgtEl>
                                          <p:spTgt spid="21"/>
                                        </p:tgtEl>
                                        <p:attrNameLst>
                                          <p:attrName>ppt_x</p:attrName>
                                        </p:attrNameLst>
                                      </p:cBhvr>
                                      <p:tavLst>
                                        <p:tav tm="0">
                                          <p:val>
                                            <p:strVal val="#ppt_x"/>
                                          </p:val>
                                        </p:tav>
                                        <p:tav tm="100000">
                                          <p:val>
                                            <p:strVal val="#ppt_x"/>
                                          </p:val>
                                        </p:tav>
                                      </p:tavLst>
                                    </p:anim>
                                    <p:anim calcmode="lin" valueType="num">
                                      <p:cBhvr additive="base">
                                        <p:cTn id="104" dur="500" fill="hold"/>
                                        <p:tgtEl>
                                          <p:spTgt spid="21"/>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500" fill="hold"/>
                                        <p:tgtEl>
                                          <p:spTgt spid="22"/>
                                        </p:tgtEl>
                                        <p:attrNameLst>
                                          <p:attrName>ppt_x</p:attrName>
                                        </p:attrNameLst>
                                      </p:cBhvr>
                                      <p:tavLst>
                                        <p:tav tm="0">
                                          <p:val>
                                            <p:strVal val="#ppt_x"/>
                                          </p:val>
                                        </p:tav>
                                        <p:tav tm="100000">
                                          <p:val>
                                            <p:strVal val="#ppt_x"/>
                                          </p:val>
                                        </p:tav>
                                      </p:tavLst>
                                    </p:anim>
                                    <p:anim calcmode="lin" valueType="num">
                                      <p:cBhvr additive="base">
                                        <p:cTn id="108" dur="500" fill="hold"/>
                                        <p:tgtEl>
                                          <p:spTgt spid="22"/>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41"/>
                                        </p:tgtEl>
                                        <p:attrNameLst>
                                          <p:attrName>style.visibility</p:attrName>
                                        </p:attrNameLst>
                                      </p:cBhvr>
                                      <p:to>
                                        <p:strVal val="visible"/>
                                      </p:to>
                                    </p:set>
                                    <p:anim calcmode="lin" valueType="num">
                                      <p:cBhvr additive="base">
                                        <p:cTn id="111" dur="500" fill="hold"/>
                                        <p:tgtEl>
                                          <p:spTgt spid="41"/>
                                        </p:tgtEl>
                                        <p:attrNameLst>
                                          <p:attrName>ppt_x</p:attrName>
                                        </p:attrNameLst>
                                      </p:cBhvr>
                                      <p:tavLst>
                                        <p:tav tm="0">
                                          <p:val>
                                            <p:strVal val="#ppt_x"/>
                                          </p:val>
                                        </p:tav>
                                        <p:tav tm="100000">
                                          <p:val>
                                            <p:strVal val="#ppt_x"/>
                                          </p:val>
                                        </p:tav>
                                      </p:tavLst>
                                    </p:anim>
                                    <p:anim calcmode="lin" valueType="num">
                                      <p:cBhvr additive="base">
                                        <p:cTn id="112" dur="500" fill="hold"/>
                                        <p:tgtEl>
                                          <p:spTgt spid="41"/>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35"/>
                                        </p:tgtEl>
                                        <p:attrNameLst>
                                          <p:attrName>style.visibility</p:attrName>
                                        </p:attrNameLst>
                                      </p:cBhvr>
                                      <p:to>
                                        <p:strVal val="visible"/>
                                      </p:to>
                                    </p:set>
                                    <p:anim calcmode="lin" valueType="num">
                                      <p:cBhvr additive="base">
                                        <p:cTn id="115" dur="500" fill="hold"/>
                                        <p:tgtEl>
                                          <p:spTgt spid="35"/>
                                        </p:tgtEl>
                                        <p:attrNameLst>
                                          <p:attrName>ppt_x</p:attrName>
                                        </p:attrNameLst>
                                      </p:cBhvr>
                                      <p:tavLst>
                                        <p:tav tm="0">
                                          <p:val>
                                            <p:strVal val="#ppt_x"/>
                                          </p:val>
                                        </p:tav>
                                        <p:tav tm="100000">
                                          <p:val>
                                            <p:strVal val="#ppt_x"/>
                                          </p:val>
                                        </p:tav>
                                      </p:tavLst>
                                    </p:anim>
                                    <p:anim calcmode="lin" valueType="num">
                                      <p:cBhvr additive="base">
                                        <p:cTn id="116" dur="500" fill="hold"/>
                                        <p:tgtEl>
                                          <p:spTgt spid="35"/>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36"/>
                                        </p:tgtEl>
                                        <p:attrNameLst>
                                          <p:attrName>style.visibility</p:attrName>
                                        </p:attrNameLst>
                                      </p:cBhvr>
                                      <p:to>
                                        <p:strVal val="visible"/>
                                      </p:to>
                                    </p:set>
                                    <p:anim calcmode="lin" valueType="num">
                                      <p:cBhvr additive="base">
                                        <p:cTn id="119" dur="500" fill="hold"/>
                                        <p:tgtEl>
                                          <p:spTgt spid="36"/>
                                        </p:tgtEl>
                                        <p:attrNameLst>
                                          <p:attrName>ppt_x</p:attrName>
                                        </p:attrNameLst>
                                      </p:cBhvr>
                                      <p:tavLst>
                                        <p:tav tm="0">
                                          <p:val>
                                            <p:strVal val="#ppt_x"/>
                                          </p:val>
                                        </p:tav>
                                        <p:tav tm="100000">
                                          <p:val>
                                            <p:strVal val="#ppt_x"/>
                                          </p:val>
                                        </p:tav>
                                      </p:tavLst>
                                    </p:anim>
                                    <p:anim calcmode="lin" valueType="num">
                                      <p:cBhvr additive="base">
                                        <p:cTn id="120" dur="500" fill="hold"/>
                                        <p:tgtEl>
                                          <p:spTgt spid="36"/>
                                        </p:tgtEl>
                                        <p:attrNameLst>
                                          <p:attrName>ppt_y</p:attrName>
                                        </p:attrNameLst>
                                      </p:cBhvr>
                                      <p:tavLst>
                                        <p:tav tm="0">
                                          <p:val>
                                            <p:strVal val="1+#ppt_h/2"/>
                                          </p:val>
                                        </p:tav>
                                        <p:tav tm="100000">
                                          <p:val>
                                            <p:strVal val="#ppt_y"/>
                                          </p:val>
                                        </p:tav>
                                      </p:tavLst>
                                    </p:anim>
                                  </p:childTnLst>
                                </p:cTn>
                              </p:par>
                              <p:par>
                                <p:cTn id="121" presetID="2" presetClass="entr" presetSubtype="4" fill="hold" nodeType="withEffect">
                                  <p:stCondLst>
                                    <p:cond delay="0"/>
                                  </p:stCondLst>
                                  <p:childTnLst>
                                    <p:set>
                                      <p:cBhvr>
                                        <p:cTn id="122" dur="1" fill="hold">
                                          <p:stCondLst>
                                            <p:cond delay="0"/>
                                          </p:stCondLst>
                                        </p:cTn>
                                        <p:tgtEl>
                                          <p:spTgt spid="50"/>
                                        </p:tgtEl>
                                        <p:attrNameLst>
                                          <p:attrName>style.visibility</p:attrName>
                                        </p:attrNameLst>
                                      </p:cBhvr>
                                      <p:to>
                                        <p:strVal val="visible"/>
                                      </p:to>
                                    </p:set>
                                    <p:anim calcmode="lin" valueType="num">
                                      <p:cBhvr additive="base">
                                        <p:cTn id="123" dur="500" fill="hold"/>
                                        <p:tgtEl>
                                          <p:spTgt spid="50"/>
                                        </p:tgtEl>
                                        <p:attrNameLst>
                                          <p:attrName>ppt_x</p:attrName>
                                        </p:attrNameLst>
                                      </p:cBhvr>
                                      <p:tavLst>
                                        <p:tav tm="0">
                                          <p:val>
                                            <p:strVal val="#ppt_x"/>
                                          </p:val>
                                        </p:tav>
                                        <p:tav tm="100000">
                                          <p:val>
                                            <p:strVal val="#ppt_x"/>
                                          </p:val>
                                        </p:tav>
                                      </p:tavLst>
                                    </p:anim>
                                    <p:anim calcmode="lin" valueType="num">
                                      <p:cBhvr additive="base">
                                        <p:cTn id="124" dur="500" fill="hold"/>
                                        <p:tgtEl>
                                          <p:spTgt spid="50"/>
                                        </p:tgtEl>
                                        <p:attrNameLst>
                                          <p:attrName>ppt_y</p:attrName>
                                        </p:attrNameLst>
                                      </p:cBhvr>
                                      <p:tavLst>
                                        <p:tav tm="0">
                                          <p:val>
                                            <p:strVal val="1+#ppt_h/2"/>
                                          </p:val>
                                        </p:tav>
                                        <p:tav tm="100000">
                                          <p:val>
                                            <p:strVal val="#ppt_y"/>
                                          </p:val>
                                        </p:tav>
                                      </p:tavLst>
                                    </p:anim>
                                  </p:childTnLst>
                                </p:cTn>
                              </p:par>
                              <p:par>
                                <p:cTn id="125" presetID="2" presetClass="entr" presetSubtype="4" fill="hold" nodeType="withEffect">
                                  <p:stCondLst>
                                    <p:cond delay="0"/>
                                  </p:stCondLst>
                                  <p:childTnLst>
                                    <p:set>
                                      <p:cBhvr>
                                        <p:cTn id="126" dur="1" fill="hold">
                                          <p:stCondLst>
                                            <p:cond delay="0"/>
                                          </p:stCondLst>
                                        </p:cTn>
                                        <p:tgtEl>
                                          <p:spTgt spid="51"/>
                                        </p:tgtEl>
                                        <p:attrNameLst>
                                          <p:attrName>style.visibility</p:attrName>
                                        </p:attrNameLst>
                                      </p:cBhvr>
                                      <p:to>
                                        <p:strVal val="visible"/>
                                      </p:to>
                                    </p:set>
                                    <p:anim calcmode="lin" valueType="num">
                                      <p:cBhvr additive="base">
                                        <p:cTn id="127" dur="500" fill="hold"/>
                                        <p:tgtEl>
                                          <p:spTgt spid="51"/>
                                        </p:tgtEl>
                                        <p:attrNameLst>
                                          <p:attrName>ppt_x</p:attrName>
                                        </p:attrNameLst>
                                      </p:cBhvr>
                                      <p:tavLst>
                                        <p:tav tm="0">
                                          <p:val>
                                            <p:strVal val="#ppt_x"/>
                                          </p:val>
                                        </p:tav>
                                        <p:tav tm="100000">
                                          <p:val>
                                            <p:strVal val="#ppt_x"/>
                                          </p:val>
                                        </p:tav>
                                      </p:tavLst>
                                    </p:anim>
                                    <p:anim calcmode="lin" valueType="num">
                                      <p:cBhvr additive="base">
                                        <p:cTn id="128" dur="500" fill="hold"/>
                                        <p:tgtEl>
                                          <p:spTgt spid="51"/>
                                        </p:tgtEl>
                                        <p:attrNameLst>
                                          <p:attrName>ppt_y</p:attrName>
                                        </p:attrNameLst>
                                      </p:cBhvr>
                                      <p:tavLst>
                                        <p:tav tm="0">
                                          <p:val>
                                            <p:strVal val="1+#ppt_h/2"/>
                                          </p:val>
                                        </p:tav>
                                        <p:tav tm="100000">
                                          <p:val>
                                            <p:strVal val="#ppt_y"/>
                                          </p:val>
                                        </p:tav>
                                      </p:tavLst>
                                    </p:anim>
                                  </p:childTnLst>
                                </p:cTn>
                              </p:par>
                              <p:par>
                                <p:cTn id="129" presetID="2" presetClass="entr" presetSubtype="4" fill="hold" grpId="0" nodeType="withEffect">
                                  <p:stCondLst>
                                    <p:cond delay="0"/>
                                  </p:stCondLst>
                                  <p:childTnLst>
                                    <p:set>
                                      <p:cBhvr>
                                        <p:cTn id="130" dur="1" fill="hold">
                                          <p:stCondLst>
                                            <p:cond delay="0"/>
                                          </p:stCondLst>
                                        </p:cTn>
                                        <p:tgtEl>
                                          <p:spTgt spid="52"/>
                                        </p:tgtEl>
                                        <p:attrNameLst>
                                          <p:attrName>style.visibility</p:attrName>
                                        </p:attrNameLst>
                                      </p:cBhvr>
                                      <p:to>
                                        <p:strVal val="visible"/>
                                      </p:to>
                                    </p:set>
                                    <p:anim calcmode="lin" valueType="num">
                                      <p:cBhvr additive="base">
                                        <p:cTn id="131" dur="500" fill="hold"/>
                                        <p:tgtEl>
                                          <p:spTgt spid="52"/>
                                        </p:tgtEl>
                                        <p:attrNameLst>
                                          <p:attrName>ppt_x</p:attrName>
                                        </p:attrNameLst>
                                      </p:cBhvr>
                                      <p:tavLst>
                                        <p:tav tm="0">
                                          <p:val>
                                            <p:strVal val="#ppt_x"/>
                                          </p:val>
                                        </p:tav>
                                        <p:tav tm="100000">
                                          <p:val>
                                            <p:strVal val="#ppt_x"/>
                                          </p:val>
                                        </p:tav>
                                      </p:tavLst>
                                    </p:anim>
                                    <p:anim calcmode="lin" valueType="num">
                                      <p:cBhvr additive="base">
                                        <p:cTn id="132" dur="500" fill="hold"/>
                                        <p:tgtEl>
                                          <p:spTgt spid="52"/>
                                        </p:tgtEl>
                                        <p:attrNameLst>
                                          <p:attrName>ppt_y</p:attrName>
                                        </p:attrNameLst>
                                      </p:cBhvr>
                                      <p:tavLst>
                                        <p:tav tm="0">
                                          <p:val>
                                            <p:strVal val="1+#ppt_h/2"/>
                                          </p:val>
                                        </p:tav>
                                        <p:tav tm="100000">
                                          <p:val>
                                            <p:strVal val="#ppt_y"/>
                                          </p:val>
                                        </p:tav>
                                      </p:tavLst>
                                    </p:anim>
                                  </p:childTnLst>
                                </p:cTn>
                              </p:par>
                              <p:par>
                                <p:cTn id="133" presetID="2" presetClass="entr" presetSubtype="4" fill="hold" grpId="0" nodeType="withEffect">
                                  <p:stCondLst>
                                    <p:cond delay="0"/>
                                  </p:stCondLst>
                                  <p:childTnLst>
                                    <p:set>
                                      <p:cBhvr>
                                        <p:cTn id="134" dur="1" fill="hold">
                                          <p:stCondLst>
                                            <p:cond delay="0"/>
                                          </p:stCondLst>
                                        </p:cTn>
                                        <p:tgtEl>
                                          <p:spTgt spid="53"/>
                                        </p:tgtEl>
                                        <p:attrNameLst>
                                          <p:attrName>style.visibility</p:attrName>
                                        </p:attrNameLst>
                                      </p:cBhvr>
                                      <p:to>
                                        <p:strVal val="visible"/>
                                      </p:to>
                                    </p:set>
                                    <p:anim calcmode="lin" valueType="num">
                                      <p:cBhvr additive="base">
                                        <p:cTn id="135" dur="500" fill="hold"/>
                                        <p:tgtEl>
                                          <p:spTgt spid="53"/>
                                        </p:tgtEl>
                                        <p:attrNameLst>
                                          <p:attrName>ppt_x</p:attrName>
                                        </p:attrNameLst>
                                      </p:cBhvr>
                                      <p:tavLst>
                                        <p:tav tm="0">
                                          <p:val>
                                            <p:strVal val="#ppt_x"/>
                                          </p:val>
                                        </p:tav>
                                        <p:tav tm="100000">
                                          <p:val>
                                            <p:strVal val="#ppt_x"/>
                                          </p:val>
                                        </p:tav>
                                      </p:tavLst>
                                    </p:anim>
                                    <p:anim calcmode="lin" valueType="num">
                                      <p:cBhvr additive="base">
                                        <p:cTn id="136"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2" presetClass="entr" presetSubtype="4" fill="hold" nodeType="clickEffect">
                                  <p:stCondLst>
                                    <p:cond delay="0"/>
                                  </p:stCondLst>
                                  <p:childTnLst>
                                    <p:set>
                                      <p:cBhvr>
                                        <p:cTn id="140" dur="1" fill="hold">
                                          <p:stCondLst>
                                            <p:cond delay="0"/>
                                          </p:stCondLst>
                                        </p:cTn>
                                        <p:tgtEl>
                                          <p:spTgt spid="23"/>
                                        </p:tgtEl>
                                        <p:attrNameLst>
                                          <p:attrName>style.visibility</p:attrName>
                                        </p:attrNameLst>
                                      </p:cBhvr>
                                      <p:to>
                                        <p:strVal val="visible"/>
                                      </p:to>
                                    </p:set>
                                    <p:anim calcmode="lin" valueType="num">
                                      <p:cBhvr additive="base">
                                        <p:cTn id="141" dur="500" fill="hold"/>
                                        <p:tgtEl>
                                          <p:spTgt spid="23"/>
                                        </p:tgtEl>
                                        <p:attrNameLst>
                                          <p:attrName>ppt_x</p:attrName>
                                        </p:attrNameLst>
                                      </p:cBhvr>
                                      <p:tavLst>
                                        <p:tav tm="0">
                                          <p:val>
                                            <p:strVal val="#ppt_x"/>
                                          </p:val>
                                        </p:tav>
                                        <p:tav tm="100000">
                                          <p:val>
                                            <p:strVal val="#ppt_x"/>
                                          </p:val>
                                        </p:tav>
                                      </p:tavLst>
                                    </p:anim>
                                    <p:anim calcmode="lin" valueType="num">
                                      <p:cBhvr additive="base">
                                        <p:cTn id="142" dur="500" fill="hold"/>
                                        <p:tgtEl>
                                          <p:spTgt spid="23"/>
                                        </p:tgtEl>
                                        <p:attrNameLst>
                                          <p:attrName>ppt_y</p:attrName>
                                        </p:attrNameLst>
                                      </p:cBhvr>
                                      <p:tavLst>
                                        <p:tav tm="0">
                                          <p:val>
                                            <p:strVal val="1+#ppt_h/2"/>
                                          </p:val>
                                        </p:tav>
                                        <p:tav tm="100000">
                                          <p:val>
                                            <p:strVal val="#ppt_y"/>
                                          </p:val>
                                        </p:tav>
                                      </p:tavLst>
                                    </p:anim>
                                  </p:childTnLst>
                                </p:cTn>
                              </p:par>
                              <p:par>
                                <p:cTn id="143" presetID="2" presetClass="entr" presetSubtype="4" fill="hold" grpId="0" nodeType="withEffect">
                                  <p:stCondLst>
                                    <p:cond delay="0"/>
                                  </p:stCondLst>
                                  <p:childTnLst>
                                    <p:set>
                                      <p:cBhvr>
                                        <p:cTn id="144" dur="1" fill="hold">
                                          <p:stCondLst>
                                            <p:cond delay="0"/>
                                          </p:stCondLst>
                                        </p:cTn>
                                        <p:tgtEl>
                                          <p:spTgt spid="37"/>
                                        </p:tgtEl>
                                        <p:attrNameLst>
                                          <p:attrName>style.visibility</p:attrName>
                                        </p:attrNameLst>
                                      </p:cBhvr>
                                      <p:to>
                                        <p:strVal val="visible"/>
                                      </p:to>
                                    </p:set>
                                    <p:anim calcmode="lin" valueType="num">
                                      <p:cBhvr additive="base">
                                        <p:cTn id="145" dur="500" fill="hold"/>
                                        <p:tgtEl>
                                          <p:spTgt spid="37"/>
                                        </p:tgtEl>
                                        <p:attrNameLst>
                                          <p:attrName>ppt_x</p:attrName>
                                        </p:attrNameLst>
                                      </p:cBhvr>
                                      <p:tavLst>
                                        <p:tav tm="0">
                                          <p:val>
                                            <p:strVal val="#ppt_x"/>
                                          </p:val>
                                        </p:tav>
                                        <p:tav tm="100000">
                                          <p:val>
                                            <p:strVal val="#ppt_x"/>
                                          </p:val>
                                        </p:tav>
                                      </p:tavLst>
                                    </p:anim>
                                    <p:anim calcmode="lin" valueType="num">
                                      <p:cBhvr additive="base">
                                        <p:cTn id="14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1" grpId="0" animBg="1"/>
      <p:bldP spid="32" grpId="0" animBg="1"/>
      <p:bldP spid="35" grpId="0" animBg="1"/>
      <p:bldP spid="36" grpId="0" animBg="1"/>
      <p:bldP spid="37" grpId="0" animBg="1"/>
      <p:bldP spid="43" grpId="0" animBg="1"/>
      <p:bldP spid="45" grpId="0" animBg="1"/>
      <p:bldP spid="48" grpId="0" animBg="1"/>
      <p:bldP spid="49" grpId="0" animBg="1"/>
      <p:bldP spid="52" grpId="0" animBg="1"/>
      <p:bldP spid="5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10287000" y="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952500" y="5429250"/>
            <a:ext cx="1905000" cy="1905000"/>
          </a:xfrm>
          <a:prstGeom prst="rect">
            <a:avLst/>
          </a:prstGeom>
        </p:spPr>
      </p:pic>
      <p:pic>
        <p:nvPicPr>
          <p:cNvPr id="5" name="Image 3" descr="preencoded.png"/>
          <p:cNvPicPr>
            <a:picLocks noChangeAspect="1"/>
          </p:cNvPicPr>
          <p:nvPr/>
        </p:nvPicPr>
        <p:blipFill>
          <a:blip r:embed="rId6"/>
          <a:stretch>
            <a:fillRect/>
          </a:stretch>
        </p:blipFill>
        <p:spPr>
          <a:xfrm>
            <a:off x="0" y="0"/>
            <a:ext cx="12192000" cy="685800"/>
          </a:xfrm>
          <a:prstGeom prst="rect">
            <a:avLst/>
          </a:prstGeom>
        </p:spPr>
      </p:pic>
      <p:pic>
        <p:nvPicPr>
          <p:cNvPr id="6" name="Image 4" descr="preencoded.png"/>
          <p:cNvPicPr>
            <a:picLocks noChangeAspect="1"/>
          </p:cNvPicPr>
          <p:nvPr/>
        </p:nvPicPr>
        <p:blipFill>
          <a:blip r:embed="rId7"/>
          <a:stretch>
            <a:fillRect/>
          </a:stretch>
        </p:blipFill>
        <p:spPr>
          <a:xfrm>
            <a:off x="381000" y="1066800"/>
            <a:ext cx="4584650" cy="5410200"/>
          </a:xfrm>
          <a:prstGeom prst="rect">
            <a:avLst/>
          </a:prstGeom>
        </p:spPr>
      </p:pic>
      <p:pic>
        <p:nvPicPr>
          <p:cNvPr id="10" name="Image 8" descr="preencoded.png"/>
          <p:cNvPicPr>
            <a:picLocks noChangeAspect="1"/>
          </p:cNvPicPr>
          <p:nvPr/>
        </p:nvPicPr>
        <p:blipFill>
          <a:blip r:embed="rId8"/>
          <a:stretch>
            <a:fillRect/>
          </a:stretch>
        </p:blipFill>
        <p:spPr>
          <a:xfrm>
            <a:off x="8557102" y="1066800"/>
            <a:ext cx="3253750" cy="5283200"/>
          </a:xfrm>
          <a:prstGeom prst="rect">
            <a:avLst/>
          </a:prstGeom>
        </p:spPr>
      </p:pic>
      <p:sp>
        <p:nvSpPr>
          <p:cNvPr id="12" name="Text 0"/>
          <p:cNvSpPr/>
          <p:nvPr/>
        </p:nvSpPr>
        <p:spPr>
          <a:xfrm>
            <a:off x="381000" y="152400"/>
            <a:ext cx="11430000" cy="381000"/>
          </a:xfrm>
          <a:prstGeom prst="rect">
            <a:avLst/>
          </a:prstGeom>
          <a:noFill/>
          <a:ln/>
        </p:spPr>
        <p:txBody>
          <a:bodyPr vert="horz" wrap="square" lIns="0" tIns="0" rIns="0" bIns="0" rtlCol="0" anchor="t"/>
          <a:lstStyle/>
          <a:p>
            <a:pPr marL="0" indent="0">
              <a:lnSpc>
                <a:spcPts val="3000"/>
              </a:lnSpc>
              <a:buNone/>
            </a:pPr>
            <a:r>
              <a:rPr lang="en-US" sz="3600" b="1" dirty="0">
                <a:solidFill>
                  <a:srgbClr val="FFFFFF"/>
                </a:solidFill>
                <a:latin typeface="ui-sans-serif" pitchFamily="34" charset="0"/>
                <a:ea typeface="ui-sans-serif" pitchFamily="34" charset="-122"/>
                <a:cs typeface="ui-sans-serif" pitchFamily="34" charset="-120"/>
              </a:rPr>
              <a:t>Pricing Strategy</a:t>
            </a:r>
            <a:endParaRPr lang="en-US" sz="3600" dirty="0"/>
          </a:p>
        </p:txBody>
      </p:sp>
      <p:grpSp>
        <p:nvGrpSpPr>
          <p:cNvPr id="31" name="Group 30">
            <a:extLst>
              <a:ext uri="{FF2B5EF4-FFF2-40B4-BE49-F238E27FC236}">
                <a16:creationId xmlns:a16="http://schemas.microsoft.com/office/drawing/2014/main" id="{3E2C3A20-2C3B-A773-3879-B15D1A053571}"/>
              </a:ext>
            </a:extLst>
          </p:cNvPr>
          <p:cNvGrpSpPr/>
          <p:nvPr/>
        </p:nvGrpSpPr>
        <p:grpSpPr>
          <a:xfrm>
            <a:off x="609600" y="1295400"/>
            <a:ext cx="3074730" cy="342900"/>
            <a:chOff x="609600" y="1295400"/>
            <a:chExt cx="3074730" cy="342900"/>
          </a:xfrm>
        </p:grpSpPr>
        <p:pic>
          <p:nvPicPr>
            <p:cNvPr id="7" name="Image 5" descr="preencoded.png"/>
            <p:cNvPicPr>
              <a:picLocks noChangeAspect="1"/>
            </p:cNvPicPr>
            <p:nvPr/>
          </p:nvPicPr>
          <p:blipFill>
            <a:blip r:embed="rId9"/>
            <a:stretch>
              <a:fillRect/>
            </a:stretch>
          </p:blipFill>
          <p:spPr>
            <a:xfrm>
              <a:off x="609600" y="1295400"/>
              <a:ext cx="285750" cy="342900"/>
            </a:xfrm>
            <a:prstGeom prst="rect">
              <a:avLst/>
            </a:prstGeom>
          </p:spPr>
        </p:pic>
        <p:sp>
          <p:nvSpPr>
            <p:cNvPr id="13" name="Text 1"/>
            <p:cNvSpPr/>
            <p:nvPr/>
          </p:nvSpPr>
          <p:spPr>
            <a:xfrm>
              <a:off x="1047750" y="1314450"/>
              <a:ext cx="2636580" cy="304800"/>
            </a:xfrm>
            <a:prstGeom prst="rect">
              <a:avLst/>
            </a:prstGeom>
            <a:noFill/>
            <a:ln/>
          </p:spPr>
          <p:txBody>
            <a:bodyPr vert="horz" wrap="square" lIns="0" tIns="0" rIns="0" bIns="0" rtlCol="0" anchor="t"/>
            <a:lstStyle/>
            <a:p>
              <a:pPr marL="0" indent="0">
                <a:lnSpc>
                  <a:spcPts val="2400"/>
                </a:lnSpc>
                <a:buNone/>
              </a:pPr>
              <a:r>
                <a:rPr lang="en-US" sz="2400" b="1" dirty="0">
                  <a:solidFill>
                    <a:srgbClr val="1F2937"/>
                  </a:solidFill>
                  <a:latin typeface="ui-sans-serif" pitchFamily="34" charset="0"/>
                  <a:ea typeface="ui-sans-serif" pitchFamily="34" charset="-122"/>
                  <a:cs typeface="ui-sans-serif" pitchFamily="34" charset="-120"/>
                </a:rPr>
                <a:t>Pricing Objective</a:t>
              </a:r>
              <a:endParaRPr lang="en-US" sz="2400" dirty="0"/>
            </a:p>
          </p:txBody>
        </p:sp>
      </p:grpSp>
      <p:sp>
        <p:nvSpPr>
          <p:cNvPr id="14" name="Text 2"/>
          <p:cNvSpPr/>
          <p:nvPr/>
        </p:nvSpPr>
        <p:spPr>
          <a:xfrm>
            <a:off x="609600" y="1866900"/>
            <a:ext cx="4127450" cy="266700"/>
          </a:xfrm>
          <a:prstGeom prst="rect">
            <a:avLst/>
          </a:prstGeom>
          <a:noFill/>
          <a:ln/>
        </p:spPr>
        <p:txBody>
          <a:bodyPr vert="horz" wrap="square" lIns="0" tIns="0" rIns="0" bIns="0" rtlCol="0" anchor="t"/>
          <a:lstStyle/>
          <a:p>
            <a:pPr marL="0" indent="0">
              <a:lnSpc>
                <a:spcPts val="2100"/>
              </a:lnSpc>
              <a:buNone/>
            </a:pPr>
            <a:r>
              <a:rPr lang="en-US" b="1" dirty="0">
                <a:solidFill>
                  <a:srgbClr val="0F766E"/>
                </a:solidFill>
                <a:latin typeface="ui-sans-serif" pitchFamily="34" charset="0"/>
                <a:ea typeface="ui-sans-serif" pitchFamily="34" charset="-122"/>
                <a:cs typeface="ui-sans-serif" pitchFamily="34" charset="-120"/>
              </a:rPr>
              <a:t>Primary Focus</a:t>
            </a:r>
            <a:endParaRPr lang="en-US" dirty="0"/>
          </a:p>
        </p:txBody>
      </p:sp>
      <p:sp>
        <p:nvSpPr>
          <p:cNvPr id="15" name="Text 3"/>
          <p:cNvSpPr/>
          <p:nvPr/>
        </p:nvSpPr>
        <p:spPr>
          <a:xfrm>
            <a:off x="609600" y="2247900"/>
            <a:ext cx="4127450" cy="800100"/>
          </a:xfrm>
          <a:prstGeom prst="rect">
            <a:avLst/>
          </a:prstGeom>
          <a:noFill/>
          <a:ln/>
        </p:spPr>
        <p:txBody>
          <a:bodyPr vert="horz" wrap="square" lIns="0" tIns="0" rIns="0" bIns="0" rtlCol="0" anchor="t"/>
          <a:lstStyle/>
          <a:p>
            <a:pPr marL="0" indent="0">
              <a:lnSpc>
                <a:spcPts val="2100"/>
              </a:lnSpc>
              <a:buNone/>
            </a:pPr>
            <a:r>
              <a:rPr lang="en-US" sz="1400" dirty="0">
                <a:solidFill>
                  <a:srgbClr val="374151"/>
                </a:solidFill>
                <a:latin typeface="ui-sans-serif" pitchFamily="34" charset="0"/>
                <a:ea typeface="ui-sans-serif" pitchFamily="34" charset="-122"/>
                <a:cs typeface="ui-sans-serif" pitchFamily="34" charset="-120"/>
              </a:rPr>
              <a:t>Our primary pricing objective is </a:t>
            </a:r>
            <a:r>
              <a:rPr lang="en-US" sz="1400" b="1" dirty="0">
                <a:solidFill>
                  <a:srgbClr val="374151"/>
                </a:solidFill>
                <a:latin typeface="ui-sans-serif" pitchFamily="34" charset="0"/>
                <a:ea typeface="ui-sans-serif" pitchFamily="34" charset="-122"/>
                <a:cs typeface="ui-sans-serif" pitchFamily="34" charset="-120"/>
              </a:rPr>
              <a:t>market penetration</a:t>
            </a:r>
            <a:r>
              <a:rPr lang="en-US" sz="1400" dirty="0">
                <a:solidFill>
                  <a:srgbClr val="374151"/>
                </a:solidFill>
                <a:latin typeface="ui-sans-serif" pitchFamily="34" charset="0"/>
                <a:ea typeface="ui-sans-serif" pitchFamily="34" charset="-122"/>
                <a:cs typeface="ui-sans-serif" pitchFamily="34" charset="-120"/>
              </a:rPr>
              <a:t> to gain initial market share in [Target Market Country].</a:t>
            </a:r>
            <a:endParaRPr lang="en-US" sz="1400" dirty="0"/>
          </a:p>
        </p:txBody>
      </p:sp>
      <p:sp>
        <p:nvSpPr>
          <p:cNvPr id="16" name="Text 4"/>
          <p:cNvSpPr/>
          <p:nvPr/>
        </p:nvSpPr>
        <p:spPr>
          <a:xfrm>
            <a:off x="609600" y="3352800"/>
            <a:ext cx="4127450" cy="266700"/>
          </a:xfrm>
          <a:prstGeom prst="rect">
            <a:avLst/>
          </a:prstGeom>
          <a:noFill/>
          <a:ln/>
        </p:spPr>
        <p:txBody>
          <a:bodyPr vert="horz" wrap="square" lIns="0" tIns="0" rIns="0" bIns="0" rtlCol="0" anchor="t"/>
          <a:lstStyle/>
          <a:p>
            <a:pPr marL="0" indent="0">
              <a:lnSpc>
                <a:spcPts val="2100"/>
              </a:lnSpc>
              <a:buNone/>
            </a:pPr>
            <a:r>
              <a:rPr lang="en-US" b="1" dirty="0">
                <a:solidFill>
                  <a:srgbClr val="0F766E"/>
                </a:solidFill>
                <a:latin typeface="ui-sans-serif" pitchFamily="34" charset="0"/>
                <a:ea typeface="ui-sans-serif" pitchFamily="34" charset="-122"/>
                <a:cs typeface="ui-sans-serif" pitchFamily="34" charset="-120"/>
              </a:rPr>
              <a:t>Strategy Highlights</a:t>
            </a:r>
            <a:endParaRPr lang="en-US" dirty="0"/>
          </a:p>
        </p:txBody>
      </p:sp>
      <p:sp>
        <p:nvSpPr>
          <p:cNvPr id="17" name="Text 5"/>
          <p:cNvSpPr/>
          <p:nvPr/>
        </p:nvSpPr>
        <p:spPr>
          <a:xfrm>
            <a:off x="647700" y="3733800"/>
            <a:ext cx="4089350" cy="533400"/>
          </a:xfrm>
          <a:prstGeom prst="rect">
            <a:avLst/>
          </a:prstGeom>
          <a:noFill/>
          <a:ln/>
        </p:spPr>
        <p:txBody>
          <a:bodyPr vert="horz" wrap="square" lIns="0" tIns="0" rIns="0" bIns="0" rtlCol="0" anchor="t"/>
          <a:lstStyle/>
          <a:p>
            <a:pPr marL="342900" indent="-342900" algn="l">
              <a:lnSpc>
                <a:spcPts val="2100"/>
              </a:lnSpc>
              <a:buSzPct val="100000"/>
              <a:buChar char="•"/>
            </a:pPr>
            <a:r>
              <a:rPr lang="en-US" sz="1400" dirty="0">
                <a:solidFill>
                  <a:srgbClr val="374151"/>
                </a:solidFill>
                <a:latin typeface="ui-sans-serif" pitchFamily="34" charset="0"/>
                <a:ea typeface="ui-sans-serif" pitchFamily="34" charset="-122"/>
                <a:cs typeface="ui-sans-serif" pitchFamily="34" charset="-120"/>
              </a:rPr>
              <a:t>Competitive pricing to attract initial customers</a:t>
            </a:r>
            <a:endParaRPr lang="en-US" sz="1400" dirty="0"/>
          </a:p>
        </p:txBody>
      </p:sp>
      <p:sp>
        <p:nvSpPr>
          <p:cNvPr id="18" name="Text 6"/>
          <p:cNvSpPr/>
          <p:nvPr/>
        </p:nvSpPr>
        <p:spPr>
          <a:xfrm>
            <a:off x="647700" y="4343400"/>
            <a:ext cx="4089350" cy="533400"/>
          </a:xfrm>
          <a:prstGeom prst="rect">
            <a:avLst/>
          </a:prstGeom>
          <a:noFill/>
          <a:ln/>
        </p:spPr>
        <p:txBody>
          <a:bodyPr vert="horz" wrap="square" lIns="0" tIns="0" rIns="0" bIns="0" rtlCol="0" anchor="t"/>
          <a:lstStyle/>
          <a:p>
            <a:pPr marL="342900" indent="-342900" algn="l">
              <a:lnSpc>
                <a:spcPts val="2100"/>
              </a:lnSpc>
              <a:buSzPct val="100000"/>
              <a:buChar char="•"/>
            </a:pPr>
            <a:r>
              <a:rPr lang="en-US" sz="1400" dirty="0">
                <a:solidFill>
                  <a:srgbClr val="374151"/>
                </a:solidFill>
                <a:latin typeface="ui-sans-serif" pitchFamily="34" charset="0"/>
                <a:ea typeface="ui-sans-serif" pitchFamily="34" charset="-122"/>
                <a:cs typeface="ui-sans-serif" pitchFamily="34" charset="-120"/>
              </a:rPr>
              <a:t>Value-focused approach to justify premium positioning</a:t>
            </a:r>
            <a:endParaRPr lang="en-US" sz="1400" dirty="0"/>
          </a:p>
        </p:txBody>
      </p:sp>
      <p:sp>
        <p:nvSpPr>
          <p:cNvPr id="19" name="Text 7"/>
          <p:cNvSpPr/>
          <p:nvPr/>
        </p:nvSpPr>
        <p:spPr>
          <a:xfrm>
            <a:off x="647700" y="4953000"/>
            <a:ext cx="4089350" cy="304800"/>
          </a:xfrm>
          <a:prstGeom prst="rect">
            <a:avLst/>
          </a:prstGeom>
          <a:noFill/>
          <a:ln/>
        </p:spPr>
        <p:txBody>
          <a:bodyPr vert="horz" wrap="square" lIns="0" tIns="0" rIns="0" bIns="0" rtlCol="0" anchor="t"/>
          <a:lstStyle/>
          <a:p>
            <a:pPr marL="342900" indent="-342900" algn="l">
              <a:lnSpc>
                <a:spcPts val="2100"/>
              </a:lnSpc>
              <a:buSzPct val="100000"/>
              <a:buChar char="•"/>
            </a:pPr>
            <a:r>
              <a:rPr lang="en-US" sz="1400" dirty="0">
                <a:solidFill>
                  <a:srgbClr val="374151"/>
                </a:solidFill>
                <a:latin typeface="ui-sans-serif" pitchFamily="34" charset="0"/>
                <a:ea typeface="ui-sans-serif" pitchFamily="34" charset="-122"/>
                <a:cs typeface="ui-sans-serif" pitchFamily="34" charset="-120"/>
              </a:rPr>
              <a:t>Strategic pricing to build market presence</a:t>
            </a:r>
            <a:endParaRPr lang="en-US" sz="1400" dirty="0"/>
          </a:p>
        </p:txBody>
      </p:sp>
      <p:grpSp>
        <p:nvGrpSpPr>
          <p:cNvPr id="41" name="Group 40">
            <a:extLst>
              <a:ext uri="{FF2B5EF4-FFF2-40B4-BE49-F238E27FC236}">
                <a16:creationId xmlns:a16="http://schemas.microsoft.com/office/drawing/2014/main" id="{97EBE5BA-A2EF-D6C5-D635-22B2AC27364D}"/>
              </a:ext>
            </a:extLst>
          </p:cNvPr>
          <p:cNvGrpSpPr/>
          <p:nvPr/>
        </p:nvGrpSpPr>
        <p:grpSpPr>
          <a:xfrm>
            <a:off x="5260290" y="3957320"/>
            <a:ext cx="3089811" cy="2392680"/>
            <a:chOff x="5260290" y="3957320"/>
            <a:chExt cx="3089811" cy="2392680"/>
          </a:xfrm>
        </p:grpSpPr>
        <p:pic>
          <p:nvPicPr>
            <p:cNvPr id="8" name="Image 6" descr="preencoded.png"/>
            <p:cNvPicPr>
              <a:picLocks noChangeAspect="1"/>
            </p:cNvPicPr>
            <p:nvPr/>
          </p:nvPicPr>
          <p:blipFill>
            <a:blip r:embed="rId10"/>
            <a:stretch>
              <a:fillRect/>
            </a:stretch>
          </p:blipFill>
          <p:spPr>
            <a:xfrm>
              <a:off x="5260290" y="3957320"/>
              <a:ext cx="3089811" cy="2392680"/>
            </a:xfrm>
            <a:prstGeom prst="rect">
              <a:avLst/>
            </a:prstGeom>
          </p:spPr>
        </p:pic>
        <p:pic>
          <p:nvPicPr>
            <p:cNvPr id="9" name="Image 7" descr="preencoded.png"/>
            <p:cNvPicPr>
              <a:picLocks noChangeAspect="1"/>
            </p:cNvPicPr>
            <p:nvPr/>
          </p:nvPicPr>
          <p:blipFill>
            <a:blip r:embed="rId11"/>
            <a:stretch>
              <a:fillRect/>
            </a:stretch>
          </p:blipFill>
          <p:spPr>
            <a:xfrm>
              <a:off x="6606441" y="4140200"/>
              <a:ext cx="304800" cy="381000"/>
            </a:xfrm>
            <a:prstGeom prst="rect">
              <a:avLst/>
            </a:prstGeom>
          </p:spPr>
        </p:pic>
        <p:sp>
          <p:nvSpPr>
            <p:cNvPr id="20" name="Text 8"/>
            <p:cNvSpPr/>
            <p:nvPr/>
          </p:nvSpPr>
          <p:spPr>
            <a:xfrm>
              <a:off x="5366971" y="4673600"/>
              <a:ext cx="2870100" cy="322580"/>
            </a:xfrm>
            <a:prstGeom prst="rect">
              <a:avLst/>
            </a:prstGeom>
            <a:noFill/>
            <a:ln/>
          </p:spPr>
          <p:txBody>
            <a:bodyPr vert="horz" wrap="square" lIns="0" tIns="0" rIns="0" bIns="0" rtlCol="0" anchor="t"/>
            <a:lstStyle/>
            <a:p>
              <a:pPr marL="0" indent="0" algn="ctr">
                <a:lnSpc>
                  <a:spcPts val="2100"/>
                </a:lnSpc>
                <a:buNone/>
              </a:pPr>
              <a:r>
                <a:rPr lang="en-US" sz="1500" b="1" dirty="0">
                  <a:solidFill>
                    <a:srgbClr val="FFFFFF"/>
                  </a:solidFill>
                  <a:latin typeface="ui-sans-serif" pitchFamily="34" charset="0"/>
                  <a:ea typeface="ui-sans-serif" pitchFamily="34" charset="-122"/>
                  <a:cs typeface="ui-sans-serif" pitchFamily="34" charset="-120"/>
                </a:rPr>
                <a:t>Final Quoted Price</a:t>
              </a:r>
              <a:endParaRPr lang="en-US" sz="1500" dirty="0"/>
            </a:p>
          </p:txBody>
        </p:sp>
        <p:sp>
          <p:nvSpPr>
            <p:cNvPr id="21" name="Text 9"/>
            <p:cNvSpPr/>
            <p:nvPr/>
          </p:nvSpPr>
          <p:spPr>
            <a:xfrm>
              <a:off x="5366971" y="5097780"/>
              <a:ext cx="2890420" cy="474980"/>
            </a:xfrm>
            <a:prstGeom prst="rect">
              <a:avLst/>
            </a:prstGeom>
            <a:noFill/>
            <a:ln/>
          </p:spPr>
          <p:txBody>
            <a:bodyPr vert="horz" wrap="square" lIns="0" tIns="0" rIns="0" bIns="0" rtlCol="0" anchor="t"/>
            <a:lstStyle/>
            <a:p>
              <a:pPr marL="0" indent="0" algn="ctr">
                <a:lnSpc>
                  <a:spcPts val="3600"/>
                </a:lnSpc>
                <a:buNone/>
              </a:pPr>
              <a:r>
                <a:rPr lang="en-US" sz="3600" b="1" dirty="0">
                  <a:solidFill>
                    <a:srgbClr val="FFFFFF"/>
                  </a:solidFill>
                  <a:latin typeface="ui-sans-serif" pitchFamily="34" charset="0"/>
                  <a:ea typeface="ui-sans-serif" pitchFamily="34" charset="-122"/>
                  <a:cs typeface="ui-sans-serif" pitchFamily="34" charset="-120"/>
                </a:rPr>
                <a:t>USD 100/unit</a:t>
              </a:r>
              <a:endParaRPr lang="en-US" sz="3600" dirty="0"/>
            </a:p>
          </p:txBody>
        </p:sp>
        <p:sp>
          <p:nvSpPr>
            <p:cNvPr id="22" name="Text 10"/>
            <p:cNvSpPr/>
            <p:nvPr/>
          </p:nvSpPr>
          <p:spPr>
            <a:xfrm>
              <a:off x="5346651" y="5748020"/>
              <a:ext cx="2890420" cy="302260"/>
            </a:xfrm>
            <a:prstGeom prst="rect">
              <a:avLst/>
            </a:prstGeom>
            <a:noFill/>
            <a:ln/>
          </p:spPr>
          <p:txBody>
            <a:bodyPr vert="horz" wrap="square" lIns="0" tIns="0" rIns="0" bIns="0" rtlCol="0" anchor="t"/>
            <a:lstStyle/>
            <a:p>
              <a:pPr algn="ctr">
                <a:lnSpc>
                  <a:spcPts val="2100"/>
                </a:lnSpc>
              </a:pPr>
              <a:r>
                <a:rPr lang="en-US" sz="1600" b="1" dirty="0">
                  <a:solidFill>
                    <a:srgbClr val="FFFFFF"/>
                  </a:solidFill>
                  <a:latin typeface="ui-sans-serif" pitchFamily="34" charset="0"/>
                  <a:ea typeface="ui-sans-serif" pitchFamily="34" charset="-122"/>
                  <a:cs typeface="ui-sans-serif" pitchFamily="34" charset="-120"/>
                </a:rPr>
                <a:t>FCA - Free Carrier:</a:t>
              </a:r>
              <a:r>
                <a:rPr lang="en-US" sz="1500" dirty="0">
                  <a:solidFill>
                    <a:srgbClr val="FFFFFF"/>
                  </a:solidFill>
                  <a:latin typeface="ui-sans-serif" pitchFamily="34" charset="0"/>
                  <a:ea typeface="ui-sans-serif" pitchFamily="34" charset="-122"/>
                  <a:cs typeface="ui-sans-serif" pitchFamily="34" charset="-120"/>
                </a:rPr>
                <a:t> Address</a:t>
              </a:r>
              <a:endParaRPr lang="en-US" sz="1500" dirty="0"/>
            </a:p>
          </p:txBody>
        </p:sp>
        <p:sp>
          <p:nvSpPr>
            <p:cNvPr id="23" name="Text 11"/>
            <p:cNvSpPr/>
            <p:nvPr/>
          </p:nvSpPr>
          <p:spPr>
            <a:xfrm>
              <a:off x="5366971" y="6050280"/>
              <a:ext cx="2890420" cy="198120"/>
            </a:xfrm>
            <a:prstGeom prst="rect">
              <a:avLst/>
            </a:prstGeom>
            <a:noFill/>
            <a:ln/>
          </p:spPr>
          <p:txBody>
            <a:bodyPr vert="horz" wrap="square" lIns="0" tIns="0" rIns="0" bIns="0" rtlCol="0" anchor="t"/>
            <a:lstStyle/>
            <a:p>
              <a:pPr marL="0" indent="0" algn="ctr">
                <a:lnSpc>
                  <a:spcPts val="1500"/>
                </a:lnSpc>
                <a:buNone/>
              </a:pPr>
              <a:r>
                <a:rPr lang="en-US" sz="1050" dirty="0">
                  <a:solidFill>
                    <a:srgbClr val="FFFFFF"/>
                  </a:solidFill>
                  <a:latin typeface="ui-sans-serif" pitchFamily="34" charset="0"/>
                  <a:ea typeface="ui-sans-serif" pitchFamily="34" charset="-122"/>
                  <a:cs typeface="ui-sans-serif" pitchFamily="34" charset="-120"/>
                </a:rPr>
                <a:t>Incoterms® 2020</a:t>
              </a:r>
              <a:endParaRPr lang="en-US" sz="1050" dirty="0"/>
            </a:p>
          </p:txBody>
        </p:sp>
      </p:grpSp>
      <p:sp>
        <p:nvSpPr>
          <p:cNvPr id="24" name="Text 12"/>
          <p:cNvSpPr/>
          <p:nvPr/>
        </p:nvSpPr>
        <p:spPr>
          <a:xfrm>
            <a:off x="9640421" y="1314450"/>
            <a:ext cx="1860233" cy="304800"/>
          </a:xfrm>
          <a:prstGeom prst="rect">
            <a:avLst/>
          </a:prstGeom>
          <a:noFill/>
          <a:ln/>
        </p:spPr>
        <p:txBody>
          <a:bodyPr vert="horz" wrap="square" lIns="0" tIns="0" rIns="0" bIns="0" rtlCol="0" anchor="t"/>
          <a:lstStyle/>
          <a:p>
            <a:pPr marL="0" indent="0">
              <a:lnSpc>
                <a:spcPts val="2400"/>
              </a:lnSpc>
              <a:buNone/>
            </a:pPr>
            <a:r>
              <a:rPr lang="en-US" b="1" dirty="0">
                <a:solidFill>
                  <a:srgbClr val="1F2937"/>
                </a:solidFill>
                <a:latin typeface="ui-sans-serif" pitchFamily="34" charset="0"/>
                <a:ea typeface="ui-sans-serif" pitchFamily="34" charset="-122"/>
              </a:rPr>
              <a:t>Free Carrier</a:t>
            </a:r>
            <a:endParaRPr lang="en-US" sz="1800" dirty="0"/>
          </a:p>
        </p:txBody>
      </p:sp>
      <p:sp>
        <p:nvSpPr>
          <p:cNvPr id="25" name="Text 13"/>
          <p:cNvSpPr/>
          <p:nvPr/>
        </p:nvSpPr>
        <p:spPr>
          <a:xfrm>
            <a:off x="8719670" y="1866900"/>
            <a:ext cx="2964329" cy="342900"/>
          </a:xfrm>
          <a:prstGeom prst="rect">
            <a:avLst/>
          </a:prstGeom>
          <a:noFill/>
          <a:ln/>
        </p:spPr>
        <p:txBody>
          <a:bodyPr vert="horz" wrap="square" lIns="0" tIns="0" rIns="0" bIns="0" rtlCol="0" anchor="t"/>
          <a:lstStyle/>
          <a:p>
            <a:pPr marL="0" indent="0">
              <a:lnSpc>
                <a:spcPts val="2100"/>
              </a:lnSpc>
              <a:buNone/>
            </a:pPr>
            <a:r>
              <a:rPr lang="en-US" sz="1500" b="1" dirty="0">
                <a:solidFill>
                  <a:srgbClr val="0F766E"/>
                </a:solidFill>
                <a:latin typeface="ui-sans-serif" pitchFamily="34" charset="0"/>
                <a:ea typeface="ui-sans-serif" pitchFamily="34" charset="-122"/>
                <a:cs typeface="ui-sans-serif" pitchFamily="34" charset="-120"/>
              </a:rPr>
              <a:t>What is FCA?</a:t>
            </a:r>
            <a:endParaRPr lang="en-US" sz="1500" dirty="0"/>
          </a:p>
        </p:txBody>
      </p:sp>
      <p:sp>
        <p:nvSpPr>
          <p:cNvPr id="26" name="Text 14"/>
          <p:cNvSpPr/>
          <p:nvPr/>
        </p:nvSpPr>
        <p:spPr>
          <a:xfrm>
            <a:off x="8719671" y="2209800"/>
            <a:ext cx="2964328" cy="1143000"/>
          </a:xfrm>
          <a:prstGeom prst="rect">
            <a:avLst/>
          </a:prstGeom>
          <a:noFill/>
          <a:ln/>
        </p:spPr>
        <p:txBody>
          <a:bodyPr vert="horz" wrap="square" lIns="0" tIns="0" rIns="0" bIns="0" rtlCol="0" anchor="t"/>
          <a:lstStyle/>
          <a:p>
            <a:pPr marL="0" indent="0">
              <a:lnSpc>
                <a:spcPts val="2100"/>
              </a:lnSpc>
              <a:buNone/>
            </a:pPr>
            <a:r>
              <a:rPr lang="en-US" sz="1400" dirty="0">
                <a:solidFill>
                  <a:srgbClr val="374151"/>
                </a:solidFill>
                <a:latin typeface="ui-sans-serif" pitchFamily="34" charset="0"/>
                <a:ea typeface="ui-sans-serif" pitchFamily="34" charset="-122"/>
                <a:cs typeface="ui-sans-serif" pitchFamily="34" charset="-120"/>
              </a:rPr>
              <a:t>Free Carrier designation indicating delivery to the port of Durban/terminal/warehouse.</a:t>
            </a:r>
            <a:endParaRPr lang="en-US" sz="1400" dirty="0"/>
          </a:p>
        </p:txBody>
      </p:sp>
      <p:sp>
        <p:nvSpPr>
          <p:cNvPr id="27" name="Text 15"/>
          <p:cNvSpPr/>
          <p:nvPr/>
        </p:nvSpPr>
        <p:spPr>
          <a:xfrm>
            <a:off x="8719670" y="3591560"/>
            <a:ext cx="2964329" cy="342900"/>
          </a:xfrm>
          <a:prstGeom prst="rect">
            <a:avLst/>
          </a:prstGeom>
          <a:noFill/>
          <a:ln/>
        </p:spPr>
        <p:txBody>
          <a:bodyPr vert="horz" wrap="square" lIns="0" tIns="0" rIns="0" bIns="0" rtlCol="0" anchor="t"/>
          <a:lstStyle/>
          <a:p>
            <a:pPr marL="0" indent="0">
              <a:lnSpc>
                <a:spcPts val="2100"/>
              </a:lnSpc>
              <a:buNone/>
            </a:pPr>
            <a:r>
              <a:rPr lang="en-US" sz="1500" b="1" dirty="0">
                <a:solidFill>
                  <a:srgbClr val="0F766E"/>
                </a:solidFill>
                <a:latin typeface="ui-sans-serif" pitchFamily="34" charset="0"/>
                <a:ea typeface="ui-sans-serif" pitchFamily="34" charset="-122"/>
                <a:cs typeface="ui-sans-serif" pitchFamily="34" charset="-120"/>
              </a:rPr>
              <a:t>Key Implications</a:t>
            </a:r>
            <a:endParaRPr lang="en-US" sz="1500" dirty="0"/>
          </a:p>
        </p:txBody>
      </p:sp>
      <p:sp>
        <p:nvSpPr>
          <p:cNvPr id="28" name="Text 16"/>
          <p:cNvSpPr/>
          <p:nvPr/>
        </p:nvSpPr>
        <p:spPr>
          <a:xfrm>
            <a:off x="8757771" y="3934460"/>
            <a:ext cx="2964328" cy="6858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374151"/>
                </a:solidFill>
                <a:latin typeface="ui-sans-serif" pitchFamily="34" charset="0"/>
                <a:ea typeface="ui-sans-serif" pitchFamily="34" charset="-122"/>
                <a:cs typeface="ui-sans-serif" pitchFamily="34" charset="-120"/>
              </a:rPr>
              <a:t>Seller covers costs until goods reach port</a:t>
            </a:r>
            <a:endParaRPr lang="en-US" sz="1350" dirty="0"/>
          </a:p>
        </p:txBody>
      </p:sp>
      <p:sp>
        <p:nvSpPr>
          <p:cNvPr id="29" name="Text 17"/>
          <p:cNvSpPr/>
          <p:nvPr/>
        </p:nvSpPr>
        <p:spPr>
          <a:xfrm>
            <a:off x="8757770" y="4544060"/>
            <a:ext cx="3002429" cy="6858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374151"/>
                </a:solidFill>
                <a:latin typeface="ui-sans-serif" pitchFamily="34" charset="0"/>
                <a:ea typeface="ui-sans-serif" pitchFamily="34" charset="-122"/>
                <a:cs typeface="ui-sans-serif" pitchFamily="34" charset="-120"/>
              </a:rPr>
              <a:t>Buyer responsible for shipping and insurance</a:t>
            </a:r>
            <a:endParaRPr lang="en-US" sz="1350" dirty="0"/>
          </a:p>
        </p:txBody>
      </p:sp>
      <p:sp>
        <p:nvSpPr>
          <p:cNvPr id="30" name="Text 18"/>
          <p:cNvSpPr/>
          <p:nvPr/>
        </p:nvSpPr>
        <p:spPr>
          <a:xfrm>
            <a:off x="11274921" y="6477000"/>
            <a:ext cx="643295"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10 / 16</a:t>
            </a:r>
            <a:endParaRPr lang="en-US" sz="1200" dirty="0"/>
          </a:p>
        </p:txBody>
      </p:sp>
      <p:grpSp>
        <p:nvGrpSpPr>
          <p:cNvPr id="40" name="Group 39">
            <a:extLst>
              <a:ext uri="{FF2B5EF4-FFF2-40B4-BE49-F238E27FC236}">
                <a16:creationId xmlns:a16="http://schemas.microsoft.com/office/drawing/2014/main" id="{160EAAE3-74C8-323C-C9EC-A0EDA4C36C5C}"/>
              </a:ext>
            </a:extLst>
          </p:cNvPr>
          <p:cNvGrpSpPr/>
          <p:nvPr/>
        </p:nvGrpSpPr>
        <p:grpSpPr>
          <a:xfrm>
            <a:off x="5239970" y="1061720"/>
            <a:ext cx="3089811" cy="2392680"/>
            <a:chOff x="5239970" y="1061720"/>
            <a:chExt cx="3089811" cy="2392680"/>
          </a:xfrm>
        </p:grpSpPr>
        <p:pic>
          <p:nvPicPr>
            <p:cNvPr id="32" name="Image 6" descr="preencoded.png">
              <a:extLst>
                <a:ext uri="{FF2B5EF4-FFF2-40B4-BE49-F238E27FC236}">
                  <a16:creationId xmlns:a16="http://schemas.microsoft.com/office/drawing/2014/main" id="{B1EC5F10-7E3F-8BDF-CAFD-206287D9E6FA}"/>
                </a:ext>
              </a:extLst>
            </p:cNvPr>
            <p:cNvPicPr>
              <a:picLocks noChangeAspect="1"/>
            </p:cNvPicPr>
            <p:nvPr/>
          </p:nvPicPr>
          <p:blipFill>
            <a:blip r:embed="rId10"/>
            <a:stretch>
              <a:fillRect/>
            </a:stretch>
          </p:blipFill>
          <p:spPr>
            <a:xfrm>
              <a:off x="5239970" y="1061720"/>
              <a:ext cx="3089811" cy="2392680"/>
            </a:xfrm>
            <a:prstGeom prst="rect">
              <a:avLst/>
            </a:prstGeom>
          </p:spPr>
        </p:pic>
        <p:pic>
          <p:nvPicPr>
            <p:cNvPr id="33" name="Image 7" descr="preencoded.png">
              <a:extLst>
                <a:ext uri="{FF2B5EF4-FFF2-40B4-BE49-F238E27FC236}">
                  <a16:creationId xmlns:a16="http://schemas.microsoft.com/office/drawing/2014/main" id="{B616C386-DFBB-DF9F-FC53-9B55DA6350E6}"/>
                </a:ext>
              </a:extLst>
            </p:cNvPr>
            <p:cNvPicPr>
              <a:picLocks noChangeAspect="1"/>
            </p:cNvPicPr>
            <p:nvPr/>
          </p:nvPicPr>
          <p:blipFill>
            <a:blip r:embed="rId11"/>
            <a:stretch>
              <a:fillRect/>
            </a:stretch>
          </p:blipFill>
          <p:spPr>
            <a:xfrm>
              <a:off x="6586121" y="1244600"/>
              <a:ext cx="304800" cy="381000"/>
            </a:xfrm>
            <a:prstGeom prst="rect">
              <a:avLst/>
            </a:prstGeom>
          </p:spPr>
        </p:pic>
        <p:sp>
          <p:nvSpPr>
            <p:cNvPr id="34" name="Text 8">
              <a:extLst>
                <a:ext uri="{FF2B5EF4-FFF2-40B4-BE49-F238E27FC236}">
                  <a16:creationId xmlns:a16="http://schemas.microsoft.com/office/drawing/2014/main" id="{CFD6DB1B-F479-BE7F-64C1-F6AE27251D8C}"/>
                </a:ext>
              </a:extLst>
            </p:cNvPr>
            <p:cNvSpPr/>
            <p:nvPr/>
          </p:nvSpPr>
          <p:spPr>
            <a:xfrm>
              <a:off x="5446971" y="1778000"/>
              <a:ext cx="2728984" cy="264160"/>
            </a:xfrm>
            <a:prstGeom prst="rect">
              <a:avLst/>
            </a:prstGeom>
            <a:noFill/>
            <a:ln/>
          </p:spPr>
          <p:txBody>
            <a:bodyPr vert="horz" wrap="square" lIns="0" tIns="0" rIns="0" bIns="0" rtlCol="0" anchor="t"/>
            <a:lstStyle/>
            <a:p>
              <a:pPr marL="0" indent="0" algn="ctr">
                <a:lnSpc>
                  <a:spcPts val="2100"/>
                </a:lnSpc>
                <a:buNone/>
              </a:pPr>
              <a:r>
                <a:rPr lang="en-US" sz="1500" b="1" dirty="0">
                  <a:solidFill>
                    <a:srgbClr val="FFFFFF"/>
                  </a:solidFill>
                  <a:latin typeface="ui-sans-serif" pitchFamily="34" charset="0"/>
                  <a:ea typeface="ui-sans-serif" pitchFamily="34" charset="-122"/>
                  <a:cs typeface="ui-sans-serif" pitchFamily="34" charset="-120"/>
                </a:rPr>
                <a:t>Ex Works - Price</a:t>
              </a:r>
              <a:endParaRPr lang="en-US" sz="1500" dirty="0"/>
            </a:p>
          </p:txBody>
        </p:sp>
        <p:sp>
          <p:nvSpPr>
            <p:cNvPr id="35" name="Text 9">
              <a:extLst>
                <a:ext uri="{FF2B5EF4-FFF2-40B4-BE49-F238E27FC236}">
                  <a16:creationId xmlns:a16="http://schemas.microsoft.com/office/drawing/2014/main" id="{1D635C25-1CB6-3A35-A72C-04776A6E61A8}"/>
                </a:ext>
              </a:extLst>
            </p:cNvPr>
            <p:cNvSpPr/>
            <p:nvPr/>
          </p:nvSpPr>
          <p:spPr>
            <a:xfrm>
              <a:off x="5239970" y="2171700"/>
              <a:ext cx="2997101" cy="685800"/>
            </a:xfrm>
            <a:prstGeom prst="rect">
              <a:avLst/>
            </a:prstGeom>
            <a:noFill/>
            <a:ln/>
          </p:spPr>
          <p:txBody>
            <a:bodyPr vert="horz" wrap="square" lIns="0" tIns="0" rIns="0" bIns="0" rtlCol="0" anchor="t"/>
            <a:lstStyle/>
            <a:p>
              <a:pPr marL="0" indent="0" algn="ctr">
                <a:lnSpc>
                  <a:spcPts val="3600"/>
                </a:lnSpc>
                <a:buNone/>
              </a:pPr>
              <a:r>
                <a:rPr lang="en-US" sz="3600" b="1" dirty="0">
                  <a:solidFill>
                    <a:srgbClr val="FFFFFF"/>
                  </a:solidFill>
                  <a:latin typeface="ui-sans-serif" pitchFamily="34" charset="0"/>
                  <a:ea typeface="ui-sans-serif" pitchFamily="34" charset="-122"/>
                  <a:cs typeface="ui-sans-serif" pitchFamily="34" charset="-120"/>
                </a:rPr>
                <a:t>USD 80/unit</a:t>
              </a:r>
              <a:endParaRPr lang="en-US" sz="3600" dirty="0"/>
            </a:p>
          </p:txBody>
        </p:sp>
        <p:sp>
          <p:nvSpPr>
            <p:cNvPr id="36" name="Text 10">
              <a:extLst>
                <a:ext uri="{FF2B5EF4-FFF2-40B4-BE49-F238E27FC236}">
                  <a16:creationId xmlns:a16="http://schemas.microsoft.com/office/drawing/2014/main" id="{C0E1C188-CCB2-56E1-B8AE-813EDD83B196}"/>
                </a:ext>
              </a:extLst>
            </p:cNvPr>
            <p:cNvSpPr/>
            <p:nvPr/>
          </p:nvSpPr>
          <p:spPr>
            <a:xfrm>
              <a:off x="5346651" y="2852420"/>
              <a:ext cx="2829304" cy="284480"/>
            </a:xfrm>
            <a:prstGeom prst="rect">
              <a:avLst/>
            </a:prstGeom>
            <a:noFill/>
            <a:ln/>
          </p:spPr>
          <p:txBody>
            <a:bodyPr vert="horz" wrap="square" lIns="0" tIns="0" rIns="0" bIns="0" rtlCol="0" anchor="t"/>
            <a:lstStyle/>
            <a:p>
              <a:pPr algn="ctr">
                <a:lnSpc>
                  <a:spcPts val="2100"/>
                </a:lnSpc>
              </a:pPr>
              <a:r>
                <a:rPr lang="en-US" sz="1600" b="1" dirty="0">
                  <a:solidFill>
                    <a:srgbClr val="FFFFFF"/>
                  </a:solidFill>
                  <a:latin typeface="ui-sans-serif" pitchFamily="34" charset="0"/>
                  <a:ea typeface="ui-sans-serif" pitchFamily="34" charset="-122"/>
                  <a:cs typeface="ui-sans-serif" pitchFamily="34" charset="-120"/>
                </a:rPr>
                <a:t>EXW:</a:t>
              </a:r>
              <a:r>
                <a:rPr lang="en-US" sz="1500" dirty="0">
                  <a:solidFill>
                    <a:srgbClr val="FFFFFF"/>
                  </a:solidFill>
                  <a:latin typeface="ui-sans-serif" pitchFamily="34" charset="0"/>
                  <a:ea typeface="ui-sans-serif" pitchFamily="34" charset="-122"/>
                  <a:cs typeface="ui-sans-serif" pitchFamily="34" charset="-120"/>
                </a:rPr>
                <a:t> Address</a:t>
              </a:r>
              <a:endParaRPr lang="en-US" sz="1500" dirty="0"/>
            </a:p>
          </p:txBody>
        </p:sp>
        <p:sp>
          <p:nvSpPr>
            <p:cNvPr id="37" name="Text 11">
              <a:extLst>
                <a:ext uri="{FF2B5EF4-FFF2-40B4-BE49-F238E27FC236}">
                  <a16:creationId xmlns:a16="http://schemas.microsoft.com/office/drawing/2014/main" id="{A365627B-42B3-82F4-B68A-DF8295737EC6}"/>
                </a:ext>
              </a:extLst>
            </p:cNvPr>
            <p:cNvSpPr/>
            <p:nvPr/>
          </p:nvSpPr>
          <p:spPr>
            <a:xfrm>
              <a:off x="5239970" y="3154680"/>
              <a:ext cx="2997101"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FFFFFF"/>
                  </a:solidFill>
                  <a:latin typeface="ui-sans-serif" pitchFamily="34" charset="0"/>
                  <a:ea typeface="ui-sans-serif" pitchFamily="34" charset="-122"/>
                  <a:cs typeface="ui-sans-serif" pitchFamily="34" charset="-120"/>
                </a:rPr>
                <a:t>Incoterms® 2020</a:t>
              </a:r>
              <a:endParaRPr lang="en-US" sz="1050" dirty="0"/>
            </a:p>
          </p:txBody>
        </p:sp>
      </p:grpSp>
      <p:pic>
        <p:nvPicPr>
          <p:cNvPr id="38" name="Image 16" descr="preencoded.png">
            <a:extLst>
              <a:ext uri="{FF2B5EF4-FFF2-40B4-BE49-F238E27FC236}">
                <a16:creationId xmlns:a16="http://schemas.microsoft.com/office/drawing/2014/main" id="{EFE7F6D9-13DD-ED45-A391-CE1C477BA187}"/>
              </a:ext>
            </a:extLst>
          </p:cNvPr>
          <p:cNvPicPr>
            <a:picLocks noChangeAspect="1"/>
          </p:cNvPicPr>
          <p:nvPr/>
        </p:nvPicPr>
        <p:blipFill>
          <a:blip r:embed="rId12">
            <a:duotone>
              <a:prstClr val="black"/>
              <a:schemeClr val="accent2">
                <a:tint val="45000"/>
                <a:satMod val="400000"/>
              </a:schemeClr>
            </a:duotone>
          </a:blip>
          <a:stretch>
            <a:fillRect/>
          </a:stretch>
        </p:blipFill>
        <p:spPr>
          <a:xfrm>
            <a:off x="8898497" y="1244599"/>
            <a:ext cx="418634" cy="446543"/>
          </a:xfrm>
          <a:prstGeom prst="rect">
            <a:avLst/>
          </a:prstGeom>
        </p:spPr>
      </p:pic>
      <p:pic>
        <p:nvPicPr>
          <p:cNvPr id="39" name="Picture 38" descr="A blue letters on a black background&#10;&#10;AI-generated content may be incorrect.">
            <a:extLst>
              <a:ext uri="{FF2B5EF4-FFF2-40B4-BE49-F238E27FC236}">
                <a16:creationId xmlns:a16="http://schemas.microsoft.com/office/drawing/2014/main" id="{90053B65-223F-BC40-B41D-F0727E9517FC}"/>
              </a:ext>
            </a:extLst>
          </p:cNvPr>
          <p:cNvPicPr>
            <a:picLocks noChangeAspect="1"/>
          </p:cNvPicPr>
          <p:nvPr/>
        </p:nvPicPr>
        <p:blipFill>
          <a:blip r:embed="rId13"/>
          <a:stretch>
            <a:fillRect/>
          </a:stretch>
        </p:blipFill>
        <p:spPr>
          <a:xfrm>
            <a:off x="10825377" y="233170"/>
            <a:ext cx="1052680" cy="2606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ppt_x"/>
                                          </p:val>
                                        </p:tav>
                                        <p:tav tm="100000">
                                          <p:val>
                                            <p:strVal val="#ppt_x"/>
                                          </p:val>
                                        </p:tav>
                                      </p:tavLst>
                                    </p:anim>
                                    <p:anim calcmode="lin" valueType="num">
                                      <p:cBhvr additive="base">
                                        <p:cTn id="12" dur="500" fill="hold"/>
                                        <p:tgtEl>
                                          <p:spTgt spid="3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ppt_x"/>
                                          </p:val>
                                        </p:tav>
                                        <p:tav tm="100000">
                                          <p:val>
                                            <p:strVal val="#ppt_x"/>
                                          </p:val>
                                        </p:tav>
                                      </p:tavLst>
                                    </p:anim>
                                    <p:anim calcmode="lin" valueType="num">
                                      <p:cBhvr additive="base">
                                        <p:cTn id="26" dur="500" fill="hold"/>
                                        <p:tgtEl>
                                          <p:spTgt spid="16"/>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ppt_x"/>
                                          </p:val>
                                        </p:tav>
                                        <p:tav tm="100000">
                                          <p:val>
                                            <p:strVal val="#ppt_x"/>
                                          </p:val>
                                        </p:tav>
                                      </p:tavLst>
                                    </p:anim>
                                    <p:anim calcmode="lin" valueType="num">
                                      <p:cBhvr additive="base">
                                        <p:cTn id="30" dur="500" fill="hold"/>
                                        <p:tgtEl>
                                          <p:spTgt spid="17"/>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additive="base">
                                        <p:cTn id="33" dur="500" fill="hold"/>
                                        <p:tgtEl>
                                          <p:spTgt spid="18"/>
                                        </p:tgtEl>
                                        <p:attrNameLst>
                                          <p:attrName>ppt_x</p:attrName>
                                        </p:attrNameLst>
                                      </p:cBhvr>
                                      <p:tavLst>
                                        <p:tav tm="0">
                                          <p:val>
                                            <p:strVal val="#ppt_x"/>
                                          </p:val>
                                        </p:tav>
                                        <p:tav tm="100000">
                                          <p:val>
                                            <p:strVal val="#ppt_x"/>
                                          </p:val>
                                        </p:tav>
                                      </p:tavLst>
                                    </p:anim>
                                    <p:anim calcmode="lin" valueType="num">
                                      <p:cBhvr additive="base">
                                        <p:cTn id="34" dur="500" fill="hold"/>
                                        <p:tgtEl>
                                          <p:spTgt spid="18"/>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500" fill="hold"/>
                                        <p:tgtEl>
                                          <p:spTgt spid="19"/>
                                        </p:tgtEl>
                                        <p:attrNameLst>
                                          <p:attrName>ppt_x</p:attrName>
                                        </p:attrNameLst>
                                      </p:cBhvr>
                                      <p:tavLst>
                                        <p:tav tm="0">
                                          <p:val>
                                            <p:strVal val="#ppt_x"/>
                                          </p:val>
                                        </p:tav>
                                        <p:tav tm="100000">
                                          <p:val>
                                            <p:strVal val="#ppt_x"/>
                                          </p:val>
                                        </p:tav>
                                      </p:tavLst>
                                    </p:anim>
                                    <p:anim calcmode="lin" valueType="num">
                                      <p:cBhvr additive="base">
                                        <p:cTn id="3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fade">
                                      <p:cBhvr>
                                        <p:cTn id="43" dur="500"/>
                                        <p:tgtEl>
                                          <p:spTgt spid="40"/>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41"/>
                                        </p:tgtEl>
                                        <p:attrNameLst>
                                          <p:attrName>style.visibility</p:attrName>
                                        </p:attrNameLst>
                                      </p:cBhvr>
                                      <p:to>
                                        <p:strVal val="visible"/>
                                      </p:to>
                                    </p:set>
                                    <p:anim calcmode="lin" valueType="num">
                                      <p:cBhvr additive="base">
                                        <p:cTn id="48" dur="500" fill="hold"/>
                                        <p:tgtEl>
                                          <p:spTgt spid="41"/>
                                        </p:tgtEl>
                                        <p:attrNameLst>
                                          <p:attrName>ppt_x</p:attrName>
                                        </p:attrNameLst>
                                      </p:cBhvr>
                                      <p:tavLst>
                                        <p:tav tm="0">
                                          <p:val>
                                            <p:strVal val="#ppt_x"/>
                                          </p:val>
                                        </p:tav>
                                        <p:tav tm="100000">
                                          <p:val>
                                            <p:strVal val="#ppt_x"/>
                                          </p:val>
                                        </p:tav>
                                      </p:tavLst>
                                    </p:anim>
                                    <p:anim calcmode="lin" valueType="num">
                                      <p:cBhvr additive="base">
                                        <p:cTn id="49"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10"/>
                                        </p:tgtEl>
                                        <p:attrNameLst>
                                          <p:attrName>style.visibility</p:attrName>
                                        </p:attrNameLst>
                                      </p:cBhvr>
                                      <p:to>
                                        <p:strVal val="visible"/>
                                      </p:to>
                                    </p:set>
                                    <p:anim calcmode="lin" valueType="num">
                                      <p:cBhvr additive="base">
                                        <p:cTn id="54" dur="500" fill="hold"/>
                                        <p:tgtEl>
                                          <p:spTgt spid="10"/>
                                        </p:tgtEl>
                                        <p:attrNameLst>
                                          <p:attrName>ppt_x</p:attrName>
                                        </p:attrNameLst>
                                      </p:cBhvr>
                                      <p:tavLst>
                                        <p:tav tm="0">
                                          <p:val>
                                            <p:strVal val="#ppt_x"/>
                                          </p:val>
                                        </p:tav>
                                        <p:tav tm="100000">
                                          <p:val>
                                            <p:strVal val="#ppt_x"/>
                                          </p:val>
                                        </p:tav>
                                      </p:tavLst>
                                    </p:anim>
                                    <p:anim calcmode="lin" valueType="num">
                                      <p:cBhvr additive="base">
                                        <p:cTn id="55" dur="500" fill="hold"/>
                                        <p:tgtEl>
                                          <p:spTgt spid="10"/>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 calcmode="lin" valueType="num">
                                      <p:cBhvr additive="base">
                                        <p:cTn id="58" dur="500" fill="hold"/>
                                        <p:tgtEl>
                                          <p:spTgt spid="24"/>
                                        </p:tgtEl>
                                        <p:attrNameLst>
                                          <p:attrName>ppt_x</p:attrName>
                                        </p:attrNameLst>
                                      </p:cBhvr>
                                      <p:tavLst>
                                        <p:tav tm="0">
                                          <p:val>
                                            <p:strVal val="#ppt_x"/>
                                          </p:val>
                                        </p:tav>
                                        <p:tav tm="100000">
                                          <p:val>
                                            <p:strVal val="#ppt_x"/>
                                          </p:val>
                                        </p:tav>
                                      </p:tavLst>
                                    </p:anim>
                                    <p:anim calcmode="lin" valueType="num">
                                      <p:cBhvr additive="base">
                                        <p:cTn id="59" dur="500" fill="hold"/>
                                        <p:tgtEl>
                                          <p:spTgt spid="24"/>
                                        </p:tgtEl>
                                        <p:attrNameLst>
                                          <p:attrName>ppt_y</p:attrName>
                                        </p:attrNameLst>
                                      </p:cBhvr>
                                      <p:tavLst>
                                        <p:tav tm="0">
                                          <p:val>
                                            <p:strVal val="1+#ppt_h/2"/>
                                          </p:val>
                                        </p:tav>
                                        <p:tav tm="100000">
                                          <p:val>
                                            <p:strVal val="#ppt_y"/>
                                          </p:val>
                                        </p:tav>
                                      </p:tavLst>
                                    </p:anim>
                                  </p:childTnLst>
                                </p:cTn>
                              </p:par>
                              <p:par>
                                <p:cTn id="60" presetID="2" presetClass="entr" presetSubtype="4" fill="hold" nodeType="withEffect">
                                  <p:stCondLst>
                                    <p:cond delay="0"/>
                                  </p:stCondLst>
                                  <p:childTnLst>
                                    <p:set>
                                      <p:cBhvr>
                                        <p:cTn id="61" dur="1" fill="hold">
                                          <p:stCondLst>
                                            <p:cond delay="0"/>
                                          </p:stCondLst>
                                        </p:cTn>
                                        <p:tgtEl>
                                          <p:spTgt spid="38"/>
                                        </p:tgtEl>
                                        <p:attrNameLst>
                                          <p:attrName>style.visibility</p:attrName>
                                        </p:attrNameLst>
                                      </p:cBhvr>
                                      <p:to>
                                        <p:strVal val="visible"/>
                                      </p:to>
                                    </p:set>
                                    <p:anim calcmode="lin" valueType="num">
                                      <p:cBhvr additive="base">
                                        <p:cTn id="62" dur="500" fill="hold"/>
                                        <p:tgtEl>
                                          <p:spTgt spid="38"/>
                                        </p:tgtEl>
                                        <p:attrNameLst>
                                          <p:attrName>ppt_x</p:attrName>
                                        </p:attrNameLst>
                                      </p:cBhvr>
                                      <p:tavLst>
                                        <p:tav tm="0">
                                          <p:val>
                                            <p:strVal val="#ppt_x"/>
                                          </p:val>
                                        </p:tav>
                                        <p:tav tm="100000">
                                          <p:val>
                                            <p:strVal val="#ppt_x"/>
                                          </p:val>
                                        </p:tav>
                                      </p:tavLst>
                                    </p:anim>
                                    <p:anim calcmode="lin" valueType="num">
                                      <p:cBhvr additive="base">
                                        <p:cTn id="63" dur="500" fill="hold"/>
                                        <p:tgtEl>
                                          <p:spTgt spid="38"/>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 calcmode="lin" valueType="num">
                                      <p:cBhvr additive="base">
                                        <p:cTn id="66" dur="500" fill="hold"/>
                                        <p:tgtEl>
                                          <p:spTgt spid="25"/>
                                        </p:tgtEl>
                                        <p:attrNameLst>
                                          <p:attrName>ppt_x</p:attrName>
                                        </p:attrNameLst>
                                      </p:cBhvr>
                                      <p:tavLst>
                                        <p:tav tm="0">
                                          <p:val>
                                            <p:strVal val="#ppt_x"/>
                                          </p:val>
                                        </p:tav>
                                        <p:tav tm="100000">
                                          <p:val>
                                            <p:strVal val="#ppt_x"/>
                                          </p:val>
                                        </p:tav>
                                      </p:tavLst>
                                    </p:anim>
                                    <p:anim calcmode="lin" valueType="num">
                                      <p:cBhvr additive="base">
                                        <p:cTn id="67" dur="500" fill="hold"/>
                                        <p:tgtEl>
                                          <p:spTgt spid="25"/>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 calcmode="lin" valueType="num">
                                      <p:cBhvr additive="base">
                                        <p:cTn id="70" dur="500" fill="hold"/>
                                        <p:tgtEl>
                                          <p:spTgt spid="26"/>
                                        </p:tgtEl>
                                        <p:attrNameLst>
                                          <p:attrName>ppt_x</p:attrName>
                                        </p:attrNameLst>
                                      </p:cBhvr>
                                      <p:tavLst>
                                        <p:tav tm="0">
                                          <p:val>
                                            <p:strVal val="#ppt_x"/>
                                          </p:val>
                                        </p:tav>
                                        <p:tav tm="100000">
                                          <p:val>
                                            <p:strVal val="#ppt_x"/>
                                          </p:val>
                                        </p:tav>
                                      </p:tavLst>
                                    </p:anim>
                                    <p:anim calcmode="lin" valueType="num">
                                      <p:cBhvr additive="base">
                                        <p:cTn id="71"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27"/>
                                        </p:tgtEl>
                                        <p:attrNameLst>
                                          <p:attrName>style.visibility</p:attrName>
                                        </p:attrNameLst>
                                      </p:cBhvr>
                                      <p:to>
                                        <p:strVal val="visible"/>
                                      </p:to>
                                    </p:set>
                                    <p:anim calcmode="lin" valueType="num">
                                      <p:cBhvr additive="base">
                                        <p:cTn id="76" dur="500" fill="hold"/>
                                        <p:tgtEl>
                                          <p:spTgt spid="27"/>
                                        </p:tgtEl>
                                        <p:attrNameLst>
                                          <p:attrName>ppt_x</p:attrName>
                                        </p:attrNameLst>
                                      </p:cBhvr>
                                      <p:tavLst>
                                        <p:tav tm="0">
                                          <p:val>
                                            <p:strVal val="#ppt_x"/>
                                          </p:val>
                                        </p:tav>
                                        <p:tav tm="100000">
                                          <p:val>
                                            <p:strVal val="#ppt_x"/>
                                          </p:val>
                                        </p:tav>
                                      </p:tavLst>
                                    </p:anim>
                                    <p:anim calcmode="lin" valueType="num">
                                      <p:cBhvr additive="base">
                                        <p:cTn id="77" dur="500" fill="hold"/>
                                        <p:tgtEl>
                                          <p:spTgt spid="27"/>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 calcmode="lin" valueType="num">
                                      <p:cBhvr additive="base">
                                        <p:cTn id="80" dur="500" fill="hold"/>
                                        <p:tgtEl>
                                          <p:spTgt spid="28"/>
                                        </p:tgtEl>
                                        <p:attrNameLst>
                                          <p:attrName>ppt_x</p:attrName>
                                        </p:attrNameLst>
                                      </p:cBhvr>
                                      <p:tavLst>
                                        <p:tav tm="0">
                                          <p:val>
                                            <p:strVal val="#ppt_x"/>
                                          </p:val>
                                        </p:tav>
                                        <p:tav tm="100000">
                                          <p:val>
                                            <p:strVal val="#ppt_x"/>
                                          </p:val>
                                        </p:tav>
                                      </p:tavLst>
                                    </p:anim>
                                    <p:anim calcmode="lin" valueType="num">
                                      <p:cBhvr additive="base">
                                        <p:cTn id="81" dur="500" fill="hold"/>
                                        <p:tgtEl>
                                          <p:spTgt spid="28"/>
                                        </p:tgtEl>
                                        <p:attrNameLst>
                                          <p:attrName>ppt_y</p:attrName>
                                        </p:attrNameLst>
                                      </p:cBhvr>
                                      <p:tavLst>
                                        <p:tav tm="0">
                                          <p:val>
                                            <p:strVal val="1+#ppt_h/2"/>
                                          </p:val>
                                        </p:tav>
                                        <p:tav tm="100000">
                                          <p:val>
                                            <p:strVal val="#ppt_y"/>
                                          </p:val>
                                        </p:tav>
                                      </p:tavLst>
                                    </p:anim>
                                  </p:childTnLst>
                                </p:cTn>
                              </p:par>
                              <p:par>
                                <p:cTn id="82" presetID="2" presetClass="entr" presetSubtype="4"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 calcmode="lin" valueType="num">
                                      <p:cBhvr additive="base">
                                        <p:cTn id="84" dur="500" fill="hold"/>
                                        <p:tgtEl>
                                          <p:spTgt spid="29"/>
                                        </p:tgtEl>
                                        <p:attrNameLst>
                                          <p:attrName>ppt_x</p:attrName>
                                        </p:attrNameLst>
                                      </p:cBhvr>
                                      <p:tavLst>
                                        <p:tav tm="0">
                                          <p:val>
                                            <p:strVal val="#ppt_x"/>
                                          </p:val>
                                        </p:tav>
                                        <p:tav tm="100000">
                                          <p:val>
                                            <p:strVal val="#ppt_x"/>
                                          </p:val>
                                        </p:tav>
                                      </p:tavLst>
                                    </p:anim>
                                    <p:anim calcmode="lin" valueType="num">
                                      <p:cBhvr additive="base">
                                        <p:cTn id="85"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4" grpId="0" animBg="1"/>
      <p:bldP spid="25" grpId="0" animBg="1"/>
      <p:bldP spid="26" grpId="0" animBg="1"/>
      <p:bldP spid="27" grpId="0" animBg="1"/>
      <p:bldP spid="28" grpId="0" animBg="1"/>
      <p:bldP spid="2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9334500" y="5429250"/>
            <a:ext cx="1905000" cy="1905000"/>
          </a:xfrm>
          <a:prstGeom prst="rect">
            <a:avLst/>
          </a:prstGeom>
        </p:spPr>
      </p:pic>
      <p:pic>
        <p:nvPicPr>
          <p:cNvPr id="5" name="Image 3" descr="preencoded.png"/>
          <p:cNvPicPr>
            <a:picLocks noChangeAspect="1"/>
          </p:cNvPicPr>
          <p:nvPr/>
        </p:nvPicPr>
        <p:blipFill>
          <a:blip r:embed="rId6"/>
          <a:stretch>
            <a:fillRect/>
          </a:stretch>
        </p:blipFill>
        <p:spPr>
          <a:xfrm>
            <a:off x="0" y="0"/>
            <a:ext cx="12192000" cy="685800"/>
          </a:xfrm>
          <a:prstGeom prst="rect">
            <a:avLst/>
          </a:prstGeom>
        </p:spPr>
      </p:pic>
      <p:pic>
        <p:nvPicPr>
          <p:cNvPr id="6" name="Image 4" descr="preencoded.png"/>
          <p:cNvPicPr>
            <a:picLocks noChangeAspect="1"/>
          </p:cNvPicPr>
          <p:nvPr/>
        </p:nvPicPr>
        <p:blipFill>
          <a:blip r:embed="rId7"/>
          <a:stretch>
            <a:fillRect/>
          </a:stretch>
        </p:blipFill>
        <p:spPr>
          <a:xfrm>
            <a:off x="381000" y="1409700"/>
            <a:ext cx="3606701" cy="3467100"/>
          </a:xfrm>
          <a:prstGeom prst="rect">
            <a:avLst/>
          </a:prstGeom>
        </p:spPr>
      </p:pic>
      <p:pic>
        <p:nvPicPr>
          <p:cNvPr id="8" name="Image 6" descr="preencoded.png"/>
          <p:cNvPicPr>
            <a:picLocks noChangeAspect="1"/>
          </p:cNvPicPr>
          <p:nvPr/>
        </p:nvPicPr>
        <p:blipFill>
          <a:blip r:embed="rId8"/>
          <a:stretch>
            <a:fillRect/>
          </a:stretch>
        </p:blipFill>
        <p:spPr>
          <a:xfrm>
            <a:off x="609600" y="2623820"/>
            <a:ext cx="152400" cy="152400"/>
          </a:xfrm>
          <a:prstGeom prst="rect">
            <a:avLst/>
          </a:prstGeom>
        </p:spPr>
      </p:pic>
      <p:pic>
        <p:nvPicPr>
          <p:cNvPr id="9" name="Image 7" descr="preencoded.png"/>
          <p:cNvPicPr>
            <a:picLocks noChangeAspect="1"/>
          </p:cNvPicPr>
          <p:nvPr/>
        </p:nvPicPr>
        <p:blipFill>
          <a:blip r:embed="rId8"/>
          <a:stretch>
            <a:fillRect/>
          </a:stretch>
        </p:blipFill>
        <p:spPr>
          <a:xfrm>
            <a:off x="609600" y="3157220"/>
            <a:ext cx="152400" cy="152400"/>
          </a:xfrm>
          <a:prstGeom prst="rect">
            <a:avLst/>
          </a:prstGeom>
        </p:spPr>
      </p:pic>
      <p:pic>
        <p:nvPicPr>
          <p:cNvPr id="10" name="Image 8" descr="preencoded.png"/>
          <p:cNvPicPr>
            <a:picLocks noChangeAspect="1"/>
          </p:cNvPicPr>
          <p:nvPr/>
        </p:nvPicPr>
        <p:blipFill>
          <a:blip r:embed="rId8"/>
          <a:stretch>
            <a:fillRect/>
          </a:stretch>
        </p:blipFill>
        <p:spPr>
          <a:xfrm>
            <a:off x="609600" y="3690620"/>
            <a:ext cx="152400" cy="152400"/>
          </a:xfrm>
          <a:prstGeom prst="rect">
            <a:avLst/>
          </a:prstGeom>
        </p:spPr>
      </p:pic>
      <p:pic>
        <p:nvPicPr>
          <p:cNvPr id="11" name="Image 9" descr="preencoded.png"/>
          <p:cNvPicPr>
            <a:picLocks noChangeAspect="1"/>
          </p:cNvPicPr>
          <p:nvPr/>
        </p:nvPicPr>
        <p:blipFill>
          <a:blip r:embed="rId9"/>
          <a:stretch>
            <a:fillRect/>
          </a:stretch>
        </p:blipFill>
        <p:spPr>
          <a:xfrm>
            <a:off x="4292501" y="1409700"/>
            <a:ext cx="3606850" cy="3467100"/>
          </a:xfrm>
          <a:prstGeom prst="rect">
            <a:avLst/>
          </a:prstGeom>
        </p:spPr>
      </p:pic>
      <p:pic>
        <p:nvPicPr>
          <p:cNvPr id="13" name="Image 11" descr="preencoded.png"/>
          <p:cNvPicPr>
            <a:picLocks noChangeAspect="1"/>
          </p:cNvPicPr>
          <p:nvPr/>
        </p:nvPicPr>
        <p:blipFill>
          <a:blip r:embed="rId10"/>
          <a:stretch>
            <a:fillRect/>
          </a:stretch>
        </p:blipFill>
        <p:spPr>
          <a:xfrm>
            <a:off x="4521101" y="2623820"/>
            <a:ext cx="152400" cy="152400"/>
          </a:xfrm>
          <a:prstGeom prst="rect">
            <a:avLst/>
          </a:prstGeom>
        </p:spPr>
      </p:pic>
      <p:pic>
        <p:nvPicPr>
          <p:cNvPr id="14" name="Image 12" descr="preencoded.png"/>
          <p:cNvPicPr>
            <a:picLocks noChangeAspect="1"/>
          </p:cNvPicPr>
          <p:nvPr/>
        </p:nvPicPr>
        <p:blipFill>
          <a:blip r:embed="rId10"/>
          <a:stretch>
            <a:fillRect/>
          </a:stretch>
        </p:blipFill>
        <p:spPr>
          <a:xfrm>
            <a:off x="4521101" y="2928620"/>
            <a:ext cx="152400" cy="152400"/>
          </a:xfrm>
          <a:prstGeom prst="rect">
            <a:avLst/>
          </a:prstGeom>
        </p:spPr>
      </p:pic>
      <p:pic>
        <p:nvPicPr>
          <p:cNvPr id="15" name="Image 13" descr="preencoded.png"/>
          <p:cNvPicPr>
            <a:picLocks noChangeAspect="1"/>
          </p:cNvPicPr>
          <p:nvPr/>
        </p:nvPicPr>
        <p:blipFill>
          <a:blip r:embed="rId10"/>
          <a:stretch>
            <a:fillRect/>
          </a:stretch>
        </p:blipFill>
        <p:spPr>
          <a:xfrm>
            <a:off x="4521101" y="3462020"/>
            <a:ext cx="152400" cy="152400"/>
          </a:xfrm>
          <a:prstGeom prst="rect">
            <a:avLst/>
          </a:prstGeom>
        </p:spPr>
      </p:pic>
      <p:pic>
        <p:nvPicPr>
          <p:cNvPr id="16" name="Image 14" descr="preencoded.png"/>
          <p:cNvPicPr>
            <a:picLocks noChangeAspect="1"/>
          </p:cNvPicPr>
          <p:nvPr/>
        </p:nvPicPr>
        <p:blipFill>
          <a:blip r:embed="rId11"/>
          <a:stretch>
            <a:fillRect/>
          </a:stretch>
        </p:blipFill>
        <p:spPr>
          <a:xfrm>
            <a:off x="8204150" y="1409700"/>
            <a:ext cx="3606701" cy="3467100"/>
          </a:xfrm>
          <a:prstGeom prst="rect">
            <a:avLst/>
          </a:prstGeom>
        </p:spPr>
      </p:pic>
      <p:pic>
        <p:nvPicPr>
          <p:cNvPr id="19" name="Image 17" descr="preencoded.png"/>
          <p:cNvPicPr>
            <a:picLocks noChangeAspect="1"/>
          </p:cNvPicPr>
          <p:nvPr/>
        </p:nvPicPr>
        <p:blipFill>
          <a:blip r:embed="rId12"/>
          <a:stretch>
            <a:fillRect/>
          </a:stretch>
        </p:blipFill>
        <p:spPr>
          <a:xfrm>
            <a:off x="8432750" y="2603500"/>
            <a:ext cx="152400" cy="152400"/>
          </a:xfrm>
          <a:prstGeom prst="rect">
            <a:avLst/>
          </a:prstGeom>
        </p:spPr>
      </p:pic>
      <p:pic>
        <p:nvPicPr>
          <p:cNvPr id="20" name="Image 18" descr="preencoded.png"/>
          <p:cNvPicPr>
            <a:picLocks noChangeAspect="1"/>
          </p:cNvPicPr>
          <p:nvPr/>
        </p:nvPicPr>
        <p:blipFill>
          <a:blip r:embed="rId12"/>
          <a:stretch>
            <a:fillRect/>
          </a:stretch>
        </p:blipFill>
        <p:spPr>
          <a:xfrm>
            <a:off x="8432750" y="3136900"/>
            <a:ext cx="152400" cy="152400"/>
          </a:xfrm>
          <a:prstGeom prst="rect">
            <a:avLst/>
          </a:prstGeom>
        </p:spPr>
      </p:pic>
      <p:pic>
        <p:nvPicPr>
          <p:cNvPr id="21" name="Image 19" descr="preencoded.png"/>
          <p:cNvPicPr>
            <a:picLocks noChangeAspect="1"/>
          </p:cNvPicPr>
          <p:nvPr/>
        </p:nvPicPr>
        <p:blipFill>
          <a:blip r:embed="rId12"/>
          <a:stretch>
            <a:fillRect/>
          </a:stretch>
        </p:blipFill>
        <p:spPr>
          <a:xfrm>
            <a:off x="8432750" y="3670300"/>
            <a:ext cx="152400" cy="152400"/>
          </a:xfrm>
          <a:prstGeom prst="rect">
            <a:avLst/>
          </a:prstGeom>
        </p:spPr>
      </p:pic>
      <p:pic>
        <p:nvPicPr>
          <p:cNvPr id="22" name="Image 20" descr="preencoded.png"/>
          <p:cNvPicPr>
            <a:picLocks noChangeAspect="1"/>
          </p:cNvPicPr>
          <p:nvPr/>
        </p:nvPicPr>
        <p:blipFill>
          <a:blip r:embed="rId13"/>
          <a:stretch>
            <a:fillRect/>
          </a:stretch>
        </p:blipFill>
        <p:spPr>
          <a:xfrm>
            <a:off x="381000" y="5064760"/>
            <a:ext cx="11430000" cy="1325880"/>
          </a:xfrm>
          <a:prstGeom prst="rect">
            <a:avLst/>
          </a:prstGeom>
        </p:spPr>
      </p:pic>
      <p:sp>
        <p:nvSpPr>
          <p:cNvPr id="23" name="Text 0"/>
          <p:cNvSpPr/>
          <p:nvPr/>
        </p:nvSpPr>
        <p:spPr>
          <a:xfrm>
            <a:off x="381000" y="152400"/>
            <a:ext cx="11430000" cy="381000"/>
          </a:xfrm>
          <a:prstGeom prst="rect">
            <a:avLst/>
          </a:prstGeom>
          <a:noFill/>
          <a:ln/>
        </p:spPr>
        <p:txBody>
          <a:bodyPr vert="horz" wrap="square" lIns="0" tIns="0" rIns="0" bIns="0" rtlCol="0" anchor="t"/>
          <a:lstStyle/>
          <a:p>
            <a:pPr marL="0" indent="0">
              <a:lnSpc>
                <a:spcPts val="3000"/>
              </a:lnSpc>
              <a:buNone/>
            </a:pPr>
            <a:r>
              <a:rPr lang="en-US" sz="3600" b="1" dirty="0">
                <a:solidFill>
                  <a:srgbClr val="FFFFFF"/>
                </a:solidFill>
                <a:latin typeface="ui-sans-serif" pitchFamily="34" charset="0"/>
                <a:ea typeface="ui-sans-serif" pitchFamily="34" charset="-122"/>
                <a:cs typeface="ui-sans-serif" pitchFamily="34" charset="-120"/>
              </a:rPr>
              <a:t>Promotional Activities</a:t>
            </a:r>
            <a:endParaRPr lang="en-US" sz="3600" dirty="0"/>
          </a:p>
        </p:txBody>
      </p:sp>
      <p:sp>
        <p:nvSpPr>
          <p:cNvPr id="24" name="Text 1"/>
          <p:cNvSpPr/>
          <p:nvPr/>
        </p:nvSpPr>
        <p:spPr>
          <a:xfrm>
            <a:off x="381000" y="914400"/>
            <a:ext cx="11429851" cy="304800"/>
          </a:xfrm>
          <a:prstGeom prst="rect">
            <a:avLst/>
          </a:prstGeom>
          <a:noFill/>
          <a:ln/>
        </p:spPr>
        <p:txBody>
          <a:bodyPr vert="horz" wrap="square" lIns="0" tIns="0" rIns="0" bIns="0" rtlCol="0" anchor="t"/>
          <a:lstStyle/>
          <a:p>
            <a:pPr marL="0" indent="0">
              <a:lnSpc>
                <a:spcPts val="2100"/>
              </a:lnSpc>
              <a:buNone/>
            </a:pPr>
            <a:r>
              <a:rPr lang="en-US" dirty="0">
                <a:solidFill>
                  <a:srgbClr val="374151"/>
                </a:solidFill>
                <a:latin typeface="ui-sans-serif" pitchFamily="34" charset="0"/>
                <a:ea typeface="ui-sans-serif" pitchFamily="34" charset="-122"/>
                <a:cs typeface="ui-sans-serif" pitchFamily="34" charset="-120"/>
              </a:rPr>
              <a:t>To create awareness and generate leads in the first year, we will undertake the following key promotional activities:</a:t>
            </a:r>
            <a:endParaRPr lang="en-US" dirty="0"/>
          </a:p>
        </p:txBody>
      </p:sp>
      <p:grpSp>
        <p:nvGrpSpPr>
          <p:cNvPr id="40" name="Group 39">
            <a:extLst>
              <a:ext uri="{FF2B5EF4-FFF2-40B4-BE49-F238E27FC236}">
                <a16:creationId xmlns:a16="http://schemas.microsoft.com/office/drawing/2014/main" id="{FAC297FD-FFF0-2073-B5DE-3A807DBA9189}"/>
              </a:ext>
            </a:extLst>
          </p:cNvPr>
          <p:cNvGrpSpPr/>
          <p:nvPr/>
        </p:nvGrpSpPr>
        <p:grpSpPr>
          <a:xfrm>
            <a:off x="609600" y="1536700"/>
            <a:ext cx="3149501" cy="966470"/>
            <a:chOff x="609600" y="1638300"/>
            <a:chExt cx="3149501" cy="966470"/>
          </a:xfrm>
        </p:grpSpPr>
        <p:pic>
          <p:nvPicPr>
            <p:cNvPr id="7" name="Image 5" descr="preencoded.png"/>
            <p:cNvPicPr>
              <a:picLocks noChangeAspect="1"/>
            </p:cNvPicPr>
            <p:nvPr/>
          </p:nvPicPr>
          <p:blipFill>
            <a:blip r:embed="rId14"/>
            <a:stretch>
              <a:fillRect/>
            </a:stretch>
          </p:blipFill>
          <p:spPr>
            <a:xfrm>
              <a:off x="1898600" y="1638300"/>
              <a:ext cx="571500" cy="571500"/>
            </a:xfrm>
            <a:prstGeom prst="rect">
              <a:avLst/>
            </a:prstGeom>
          </p:spPr>
        </p:pic>
        <p:sp>
          <p:nvSpPr>
            <p:cNvPr id="25" name="Text 2"/>
            <p:cNvSpPr/>
            <p:nvPr/>
          </p:nvSpPr>
          <p:spPr>
            <a:xfrm>
              <a:off x="609600" y="2280920"/>
              <a:ext cx="3149501" cy="323850"/>
            </a:xfrm>
            <a:prstGeom prst="rect">
              <a:avLst/>
            </a:prstGeom>
            <a:noFill/>
            <a:ln/>
          </p:spPr>
          <p:txBody>
            <a:bodyPr vert="horz" wrap="square" lIns="0" tIns="0" rIns="0" bIns="0" rtlCol="0" anchor="t"/>
            <a:lstStyle/>
            <a:p>
              <a:pPr marL="0" indent="0" algn="ctr">
                <a:lnSpc>
                  <a:spcPts val="2400"/>
                </a:lnSpc>
                <a:buNone/>
              </a:pPr>
              <a:r>
                <a:rPr lang="en-US" sz="1800" b="1" dirty="0">
                  <a:solidFill>
                    <a:srgbClr val="1F2937"/>
                  </a:solidFill>
                  <a:latin typeface="ui-sans-serif" pitchFamily="34" charset="0"/>
                  <a:ea typeface="ui-sans-serif" pitchFamily="34" charset="-122"/>
                  <a:cs typeface="ui-sans-serif" pitchFamily="34" charset="-120"/>
                </a:rPr>
                <a:t>Targeted Digital Advertising</a:t>
              </a:r>
              <a:endParaRPr lang="en-US" sz="1800" dirty="0"/>
            </a:p>
          </p:txBody>
        </p:sp>
      </p:grpSp>
      <p:sp>
        <p:nvSpPr>
          <p:cNvPr id="26" name="Text 3"/>
          <p:cNvSpPr/>
          <p:nvPr/>
        </p:nvSpPr>
        <p:spPr>
          <a:xfrm>
            <a:off x="838200" y="2585720"/>
            <a:ext cx="2920901"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Running targeted ads on a local industry website</a:t>
            </a:r>
            <a:endParaRPr lang="en-US" sz="1400" dirty="0"/>
          </a:p>
        </p:txBody>
      </p:sp>
      <p:sp>
        <p:nvSpPr>
          <p:cNvPr id="27" name="Text 4"/>
          <p:cNvSpPr/>
          <p:nvPr/>
        </p:nvSpPr>
        <p:spPr>
          <a:xfrm>
            <a:off x="838200" y="3119120"/>
            <a:ext cx="2920901"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Social media campaign aimed at importers and end-consumers</a:t>
            </a:r>
            <a:endParaRPr lang="en-US" sz="1400" dirty="0"/>
          </a:p>
        </p:txBody>
      </p:sp>
      <p:sp>
        <p:nvSpPr>
          <p:cNvPr id="28" name="Text 5"/>
          <p:cNvSpPr/>
          <p:nvPr/>
        </p:nvSpPr>
        <p:spPr>
          <a:xfrm>
            <a:off x="838200" y="3652520"/>
            <a:ext cx="2920901"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Creating digital content to build brand awareness</a:t>
            </a:r>
            <a:endParaRPr lang="en-US" sz="1400" dirty="0"/>
          </a:p>
        </p:txBody>
      </p:sp>
      <p:grpSp>
        <p:nvGrpSpPr>
          <p:cNvPr id="41" name="Group 40">
            <a:extLst>
              <a:ext uri="{FF2B5EF4-FFF2-40B4-BE49-F238E27FC236}">
                <a16:creationId xmlns:a16="http://schemas.microsoft.com/office/drawing/2014/main" id="{55E20B7B-ED09-0534-DCF0-E534F60FAFF8}"/>
              </a:ext>
            </a:extLst>
          </p:cNvPr>
          <p:cNvGrpSpPr/>
          <p:nvPr/>
        </p:nvGrpSpPr>
        <p:grpSpPr>
          <a:xfrm>
            <a:off x="4521101" y="1529080"/>
            <a:ext cx="3149650" cy="833120"/>
            <a:chOff x="4521101" y="1752600"/>
            <a:chExt cx="3149650" cy="833120"/>
          </a:xfrm>
        </p:grpSpPr>
        <p:pic>
          <p:nvPicPr>
            <p:cNvPr id="12" name="Image 10" descr="preencoded.png"/>
            <p:cNvPicPr>
              <a:picLocks noChangeAspect="1"/>
            </p:cNvPicPr>
            <p:nvPr/>
          </p:nvPicPr>
          <p:blipFill>
            <a:blip r:embed="rId15"/>
            <a:stretch>
              <a:fillRect/>
            </a:stretch>
          </p:blipFill>
          <p:spPr>
            <a:xfrm>
              <a:off x="5914876" y="1752600"/>
              <a:ext cx="361950" cy="342900"/>
            </a:xfrm>
            <a:prstGeom prst="rect">
              <a:avLst/>
            </a:prstGeom>
          </p:spPr>
        </p:pic>
        <p:sp>
          <p:nvSpPr>
            <p:cNvPr id="29" name="Text 6"/>
            <p:cNvSpPr/>
            <p:nvPr/>
          </p:nvSpPr>
          <p:spPr>
            <a:xfrm>
              <a:off x="4521101" y="2280920"/>
              <a:ext cx="3149650" cy="304800"/>
            </a:xfrm>
            <a:prstGeom prst="rect">
              <a:avLst/>
            </a:prstGeom>
            <a:noFill/>
            <a:ln/>
          </p:spPr>
          <p:txBody>
            <a:bodyPr vert="horz" wrap="square" lIns="0" tIns="0" rIns="0" bIns="0" rtlCol="0" anchor="t"/>
            <a:lstStyle/>
            <a:p>
              <a:pPr marL="0" indent="0" algn="ctr">
                <a:lnSpc>
                  <a:spcPts val="2400"/>
                </a:lnSpc>
                <a:buNone/>
              </a:pPr>
              <a:r>
                <a:rPr lang="en-US" sz="1800" b="1" dirty="0">
                  <a:solidFill>
                    <a:srgbClr val="1F2937"/>
                  </a:solidFill>
                  <a:latin typeface="ui-sans-serif" pitchFamily="34" charset="0"/>
                  <a:ea typeface="ui-sans-serif" pitchFamily="34" charset="-122"/>
                  <a:cs typeface="ui-sans-serif" pitchFamily="34" charset="-120"/>
                </a:rPr>
                <a:t>Trade Show Participation</a:t>
              </a:r>
              <a:endParaRPr lang="en-US" sz="1800" dirty="0"/>
            </a:p>
          </p:txBody>
        </p:sp>
      </p:grpSp>
      <p:sp>
        <p:nvSpPr>
          <p:cNvPr id="30" name="Text 7"/>
          <p:cNvSpPr/>
          <p:nvPr/>
        </p:nvSpPr>
        <p:spPr>
          <a:xfrm>
            <a:off x="4749702" y="2585720"/>
            <a:ext cx="3073300" cy="2286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Participating in a key local trade show</a:t>
            </a:r>
            <a:endParaRPr lang="en-US" sz="1400" dirty="0"/>
          </a:p>
        </p:txBody>
      </p:sp>
      <p:sp>
        <p:nvSpPr>
          <p:cNvPr id="31" name="Text 8"/>
          <p:cNvSpPr/>
          <p:nvPr/>
        </p:nvSpPr>
        <p:spPr>
          <a:xfrm>
            <a:off x="4749701" y="2890520"/>
            <a:ext cx="3073300"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Engaging directly with potential distributors and retailers</a:t>
            </a:r>
            <a:endParaRPr lang="en-US" sz="1400" dirty="0"/>
          </a:p>
        </p:txBody>
      </p:sp>
      <p:sp>
        <p:nvSpPr>
          <p:cNvPr id="32" name="Text 9"/>
          <p:cNvSpPr/>
          <p:nvPr/>
        </p:nvSpPr>
        <p:spPr>
          <a:xfrm>
            <a:off x="4749701" y="3423920"/>
            <a:ext cx="3073300"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Setting up an attractive booth to showcase our products</a:t>
            </a:r>
            <a:endParaRPr lang="en-US" sz="1400" dirty="0"/>
          </a:p>
        </p:txBody>
      </p:sp>
      <p:grpSp>
        <p:nvGrpSpPr>
          <p:cNvPr id="42" name="Group 41">
            <a:extLst>
              <a:ext uri="{FF2B5EF4-FFF2-40B4-BE49-F238E27FC236}">
                <a16:creationId xmlns:a16="http://schemas.microsoft.com/office/drawing/2014/main" id="{2C4B2538-DF4E-D256-848F-E27482EAE80D}"/>
              </a:ext>
            </a:extLst>
          </p:cNvPr>
          <p:cNvGrpSpPr/>
          <p:nvPr/>
        </p:nvGrpSpPr>
        <p:grpSpPr>
          <a:xfrm>
            <a:off x="8331199" y="1526540"/>
            <a:ext cx="3327401" cy="947420"/>
            <a:chOff x="8331199" y="1638300"/>
            <a:chExt cx="3327401" cy="947420"/>
          </a:xfrm>
        </p:grpSpPr>
        <p:pic>
          <p:nvPicPr>
            <p:cNvPr id="17" name="Image 15" descr="preencoded.png"/>
            <p:cNvPicPr>
              <a:picLocks noChangeAspect="1"/>
            </p:cNvPicPr>
            <p:nvPr/>
          </p:nvPicPr>
          <p:blipFill>
            <a:blip r:embed="rId16"/>
            <a:stretch>
              <a:fillRect/>
            </a:stretch>
          </p:blipFill>
          <p:spPr>
            <a:xfrm>
              <a:off x="9721751" y="1638300"/>
              <a:ext cx="571500" cy="571500"/>
            </a:xfrm>
            <a:prstGeom prst="rect">
              <a:avLst/>
            </a:prstGeom>
          </p:spPr>
        </p:pic>
        <p:pic>
          <p:nvPicPr>
            <p:cNvPr id="18" name="Image 16" descr="preencoded.png"/>
            <p:cNvPicPr>
              <a:picLocks noChangeAspect="1"/>
            </p:cNvPicPr>
            <p:nvPr/>
          </p:nvPicPr>
          <p:blipFill>
            <a:blip r:embed="rId17"/>
            <a:stretch>
              <a:fillRect/>
            </a:stretch>
          </p:blipFill>
          <p:spPr>
            <a:xfrm>
              <a:off x="9897963" y="1752600"/>
              <a:ext cx="219075" cy="342900"/>
            </a:xfrm>
            <a:prstGeom prst="rect">
              <a:avLst/>
            </a:prstGeom>
          </p:spPr>
        </p:pic>
        <p:sp>
          <p:nvSpPr>
            <p:cNvPr id="33" name="Text 10"/>
            <p:cNvSpPr/>
            <p:nvPr/>
          </p:nvSpPr>
          <p:spPr>
            <a:xfrm>
              <a:off x="8331199" y="2280920"/>
              <a:ext cx="3327401" cy="304800"/>
            </a:xfrm>
            <a:prstGeom prst="rect">
              <a:avLst/>
            </a:prstGeom>
            <a:noFill/>
            <a:ln/>
          </p:spPr>
          <p:txBody>
            <a:bodyPr vert="horz" wrap="square" lIns="0" tIns="0" rIns="0" bIns="0" rtlCol="0" anchor="t"/>
            <a:lstStyle/>
            <a:p>
              <a:pPr marL="0" indent="0" algn="ctr">
                <a:lnSpc>
                  <a:spcPts val="2400"/>
                </a:lnSpc>
                <a:buNone/>
              </a:pPr>
              <a:r>
                <a:rPr lang="en-US" sz="1800" b="1" dirty="0">
                  <a:solidFill>
                    <a:srgbClr val="1F2937"/>
                  </a:solidFill>
                  <a:latin typeface="ui-sans-serif" pitchFamily="34" charset="0"/>
                  <a:ea typeface="ui-sans-serif" pitchFamily="34" charset="-122"/>
                  <a:cs typeface="ui-sans-serif" pitchFamily="34" charset="-120"/>
                </a:rPr>
                <a:t>Introductory Discounts</a:t>
              </a:r>
              <a:endParaRPr lang="en-US" sz="1800" dirty="0"/>
            </a:p>
          </p:txBody>
        </p:sp>
      </p:grpSp>
      <p:sp>
        <p:nvSpPr>
          <p:cNvPr id="34" name="Text 11"/>
          <p:cNvSpPr/>
          <p:nvPr/>
        </p:nvSpPr>
        <p:spPr>
          <a:xfrm>
            <a:off x="8661350" y="2565400"/>
            <a:ext cx="2920901"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Offering introductory discounts for first-time distributors</a:t>
            </a:r>
            <a:endParaRPr lang="en-US" sz="1400" dirty="0"/>
          </a:p>
        </p:txBody>
      </p:sp>
      <p:sp>
        <p:nvSpPr>
          <p:cNvPr id="35" name="Text 12"/>
          <p:cNvSpPr/>
          <p:nvPr/>
        </p:nvSpPr>
        <p:spPr>
          <a:xfrm>
            <a:off x="8661350" y="3098800"/>
            <a:ext cx="2920901"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Incentivizing initial orders to build strong partnerships</a:t>
            </a:r>
            <a:endParaRPr lang="en-US" sz="1400" dirty="0"/>
          </a:p>
        </p:txBody>
      </p:sp>
      <p:sp>
        <p:nvSpPr>
          <p:cNvPr id="36" name="Text 13"/>
          <p:cNvSpPr/>
          <p:nvPr/>
        </p:nvSpPr>
        <p:spPr>
          <a:xfrm>
            <a:off x="8661350" y="3632200"/>
            <a:ext cx="2920901"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Creating promotional packages for new customers</a:t>
            </a:r>
            <a:endParaRPr lang="en-US" sz="1400" dirty="0"/>
          </a:p>
        </p:txBody>
      </p:sp>
      <p:sp>
        <p:nvSpPr>
          <p:cNvPr id="37" name="Text 14"/>
          <p:cNvSpPr/>
          <p:nvPr/>
        </p:nvSpPr>
        <p:spPr>
          <a:xfrm>
            <a:off x="533400" y="5217160"/>
            <a:ext cx="11125200" cy="266700"/>
          </a:xfrm>
          <a:prstGeom prst="rect">
            <a:avLst/>
          </a:prstGeom>
          <a:noFill/>
          <a:ln/>
        </p:spPr>
        <p:txBody>
          <a:bodyPr vert="horz" wrap="square" lIns="0" tIns="0" rIns="0" bIns="0" rtlCol="0" anchor="t"/>
          <a:lstStyle/>
          <a:p>
            <a:pPr marL="0" indent="0">
              <a:lnSpc>
                <a:spcPts val="2100"/>
              </a:lnSpc>
              <a:buNone/>
            </a:pPr>
            <a:r>
              <a:rPr lang="en-US" b="1" dirty="0">
                <a:solidFill>
                  <a:srgbClr val="1F2937"/>
                </a:solidFill>
                <a:latin typeface="ui-sans-serif" pitchFamily="34" charset="0"/>
                <a:ea typeface="ui-sans-serif" pitchFamily="34" charset="-122"/>
                <a:cs typeface="ui-sans-serif" pitchFamily="34" charset="-120"/>
              </a:rPr>
              <a:t>Expected Outcomes:</a:t>
            </a:r>
            <a:endParaRPr lang="en-US" dirty="0"/>
          </a:p>
        </p:txBody>
      </p:sp>
      <p:sp>
        <p:nvSpPr>
          <p:cNvPr id="38" name="Text 15"/>
          <p:cNvSpPr/>
          <p:nvPr/>
        </p:nvSpPr>
        <p:spPr>
          <a:xfrm>
            <a:off x="533400" y="5560060"/>
            <a:ext cx="11125200" cy="457200"/>
          </a:xfrm>
          <a:prstGeom prst="rect">
            <a:avLst/>
          </a:prstGeom>
          <a:noFill/>
          <a:ln/>
        </p:spPr>
        <p:txBody>
          <a:bodyPr vert="horz" wrap="square" lIns="0" tIns="0" rIns="0" bIns="0" rtlCol="0" anchor="t"/>
          <a:lstStyle/>
          <a:p>
            <a:pPr marL="0" indent="0">
              <a:lnSpc>
                <a:spcPts val="1800"/>
              </a:lnSpc>
              <a:buNone/>
            </a:pPr>
            <a:r>
              <a:rPr lang="en-US" sz="1400" dirty="0">
                <a:solidFill>
                  <a:srgbClr val="374151"/>
                </a:solidFill>
                <a:latin typeface="ui-sans-serif" pitchFamily="34" charset="0"/>
                <a:ea typeface="ui-sans-serif" pitchFamily="34" charset="-122"/>
                <a:cs typeface="ui-sans-serif" pitchFamily="34" charset="-120"/>
              </a:rPr>
              <a:t>These activities are expected to generate initial market awareness, establish key partnerships, and create a foundation for long-term brand loyalty in the [Target Market Country].</a:t>
            </a:r>
            <a:endParaRPr lang="en-US" sz="1400" dirty="0"/>
          </a:p>
        </p:txBody>
      </p:sp>
      <p:sp>
        <p:nvSpPr>
          <p:cNvPr id="39" name="Text 16"/>
          <p:cNvSpPr/>
          <p:nvPr/>
        </p:nvSpPr>
        <p:spPr>
          <a:xfrm>
            <a:off x="11274921" y="6477000"/>
            <a:ext cx="643295"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11 / 16</a:t>
            </a:r>
            <a:endParaRPr lang="en-US" sz="1200" dirty="0"/>
          </a:p>
        </p:txBody>
      </p:sp>
      <p:pic>
        <p:nvPicPr>
          <p:cNvPr id="43" name="Picture 42" descr="A blue letters on a black background&#10;&#10;AI-generated content may be incorrect.">
            <a:extLst>
              <a:ext uri="{FF2B5EF4-FFF2-40B4-BE49-F238E27FC236}">
                <a16:creationId xmlns:a16="http://schemas.microsoft.com/office/drawing/2014/main" id="{B44EF9A1-9AE6-1623-5EDD-81468FADCDB2}"/>
              </a:ext>
            </a:extLst>
          </p:cNvPr>
          <p:cNvPicPr>
            <a:picLocks noChangeAspect="1"/>
          </p:cNvPicPr>
          <p:nvPr/>
        </p:nvPicPr>
        <p:blipFill>
          <a:blip r:embed="rId18"/>
          <a:stretch>
            <a:fillRect/>
          </a:stretch>
        </p:blipFill>
        <p:spPr>
          <a:xfrm>
            <a:off x="10825377" y="233170"/>
            <a:ext cx="1052680" cy="2606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0"/>
                                        </p:tgtEl>
                                        <p:attrNameLst>
                                          <p:attrName>style.visibility</p:attrName>
                                        </p:attrNameLst>
                                      </p:cBhvr>
                                      <p:to>
                                        <p:strVal val="visible"/>
                                      </p:to>
                                    </p:set>
                                    <p:anim calcmode="lin" valueType="num">
                                      <p:cBhvr additive="base">
                                        <p:cTn id="23" dur="500" fill="hold"/>
                                        <p:tgtEl>
                                          <p:spTgt spid="40"/>
                                        </p:tgtEl>
                                        <p:attrNameLst>
                                          <p:attrName>ppt_x</p:attrName>
                                        </p:attrNameLst>
                                      </p:cBhvr>
                                      <p:tavLst>
                                        <p:tav tm="0">
                                          <p:val>
                                            <p:strVal val="#ppt_x"/>
                                          </p:val>
                                        </p:tav>
                                        <p:tav tm="100000">
                                          <p:val>
                                            <p:strVal val="#ppt_x"/>
                                          </p:val>
                                        </p:tav>
                                      </p:tavLst>
                                    </p:anim>
                                    <p:anim calcmode="lin" valueType="num">
                                      <p:cBhvr additive="base">
                                        <p:cTn id="24" dur="500" fill="hold"/>
                                        <p:tgtEl>
                                          <p:spTgt spid="40"/>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additive="base">
                                        <p:cTn id="27" dur="500" fill="hold"/>
                                        <p:tgtEl>
                                          <p:spTgt spid="26"/>
                                        </p:tgtEl>
                                        <p:attrNameLst>
                                          <p:attrName>ppt_x</p:attrName>
                                        </p:attrNameLst>
                                      </p:cBhvr>
                                      <p:tavLst>
                                        <p:tav tm="0">
                                          <p:val>
                                            <p:strVal val="#ppt_x"/>
                                          </p:val>
                                        </p:tav>
                                        <p:tav tm="100000">
                                          <p:val>
                                            <p:strVal val="#ppt_x"/>
                                          </p:val>
                                        </p:tav>
                                      </p:tavLst>
                                    </p:anim>
                                    <p:anim calcmode="lin" valueType="num">
                                      <p:cBhvr additive="base">
                                        <p:cTn id="28" dur="500" fill="hold"/>
                                        <p:tgtEl>
                                          <p:spTgt spid="2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additive="base">
                                        <p:cTn id="31" dur="500" fill="hold"/>
                                        <p:tgtEl>
                                          <p:spTgt spid="27"/>
                                        </p:tgtEl>
                                        <p:attrNameLst>
                                          <p:attrName>ppt_x</p:attrName>
                                        </p:attrNameLst>
                                      </p:cBhvr>
                                      <p:tavLst>
                                        <p:tav tm="0">
                                          <p:val>
                                            <p:strVal val="#ppt_x"/>
                                          </p:val>
                                        </p:tav>
                                        <p:tav tm="100000">
                                          <p:val>
                                            <p:strVal val="#ppt_x"/>
                                          </p:val>
                                        </p:tav>
                                      </p:tavLst>
                                    </p:anim>
                                    <p:anim calcmode="lin" valueType="num">
                                      <p:cBhvr additive="base">
                                        <p:cTn id="32" dur="500" fill="hold"/>
                                        <p:tgtEl>
                                          <p:spTgt spid="27"/>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 calcmode="lin" valueType="num">
                                      <p:cBhvr additive="base">
                                        <p:cTn id="35" dur="500" fill="hold"/>
                                        <p:tgtEl>
                                          <p:spTgt spid="28"/>
                                        </p:tgtEl>
                                        <p:attrNameLst>
                                          <p:attrName>ppt_x</p:attrName>
                                        </p:attrNameLst>
                                      </p:cBhvr>
                                      <p:tavLst>
                                        <p:tav tm="0">
                                          <p:val>
                                            <p:strVal val="#ppt_x"/>
                                          </p:val>
                                        </p:tav>
                                        <p:tav tm="100000">
                                          <p:val>
                                            <p:strVal val="#ppt_x"/>
                                          </p:val>
                                        </p:tav>
                                      </p:tavLst>
                                    </p:anim>
                                    <p:anim calcmode="lin" valueType="num">
                                      <p:cBhvr additive="base">
                                        <p:cTn id="36"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additive="base">
                                        <p:cTn id="45" dur="500" fill="hold"/>
                                        <p:tgtEl>
                                          <p:spTgt spid="13"/>
                                        </p:tgtEl>
                                        <p:attrNameLst>
                                          <p:attrName>ppt_x</p:attrName>
                                        </p:attrNameLst>
                                      </p:cBhvr>
                                      <p:tavLst>
                                        <p:tav tm="0">
                                          <p:val>
                                            <p:strVal val="#ppt_x"/>
                                          </p:val>
                                        </p:tav>
                                        <p:tav tm="100000">
                                          <p:val>
                                            <p:strVal val="#ppt_x"/>
                                          </p:val>
                                        </p:tav>
                                      </p:tavLst>
                                    </p:anim>
                                    <p:anim calcmode="lin" valueType="num">
                                      <p:cBhvr additive="base">
                                        <p:cTn id="46" dur="500" fill="hold"/>
                                        <p:tgtEl>
                                          <p:spTgt spid="13"/>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500" fill="hold"/>
                                        <p:tgtEl>
                                          <p:spTgt spid="15"/>
                                        </p:tgtEl>
                                        <p:attrNameLst>
                                          <p:attrName>ppt_x</p:attrName>
                                        </p:attrNameLst>
                                      </p:cBhvr>
                                      <p:tavLst>
                                        <p:tav tm="0">
                                          <p:val>
                                            <p:strVal val="#ppt_x"/>
                                          </p:val>
                                        </p:tav>
                                        <p:tav tm="100000">
                                          <p:val>
                                            <p:strVal val="#ppt_x"/>
                                          </p:val>
                                        </p:tav>
                                      </p:tavLst>
                                    </p:anim>
                                    <p:anim calcmode="lin" valueType="num">
                                      <p:cBhvr additive="base">
                                        <p:cTn id="54" dur="500" fill="hold"/>
                                        <p:tgtEl>
                                          <p:spTgt spid="15"/>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41"/>
                                        </p:tgtEl>
                                        <p:attrNameLst>
                                          <p:attrName>style.visibility</p:attrName>
                                        </p:attrNameLst>
                                      </p:cBhvr>
                                      <p:to>
                                        <p:strVal val="visible"/>
                                      </p:to>
                                    </p:set>
                                    <p:anim calcmode="lin" valueType="num">
                                      <p:cBhvr additive="base">
                                        <p:cTn id="57" dur="500" fill="hold"/>
                                        <p:tgtEl>
                                          <p:spTgt spid="41"/>
                                        </p:tgtEl>
                                        <p:attrNameLst>
                                          <p:attrName>ppt_x</p:attrName>
                                        </p:attrNameLst>
                                      </p:cBhvr>
                                      <p:tavLst>
                                        <p:tav tm="0">
                                          <p:val>
                                            <p:strVal val="#ppt_x"/>
                                          </p:val>
                                        </p:tav>
                                        <p:tav tm="100000">
                                          <p:val>
                                            <p:strVal val="#ppt_x"/>
                                          </p:val>
                                        </p:tav>
                                      </p:tavLst>
                                    </p:anim>
                                    <p:anim calcmode="lin" valueType="num">
                                      <p:cBhvr additive="base">
                                        <p:cTn id="58" dur="500" fill="hold"/>
                                        <p:tgtEl>
                                          <p:spTgt spid="41"/>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anim calcmode="lin" valueType="num">
                                      <p:cBhvr additive="base">
                                        <p:cTn id="61" dur="500" fill="hold"/>
                                        <p:tgtEl>
                                          <p:spTgt spid="30"/>
                                        </p:tgtEl>
                                        <p:attrNameLst>
                                          <p:attrName>ppt_x</p:attrName>
                                        </p:attrNameLst>
                                      </p:cBhvr>
                                      <p:tavLst>
                                        <p:tav tm="0">
                                          <p:val>
                                            <p:strVal val="#ppt_x"/>
                                          </p:val>
                                        </p:tav>
                                        <p:tav tm="100000">
                                          <p:val>
                                            <p:strVal val="#ppt_x"/>
                                          </p:val>
                                        </p:tav>
                                      </p:tavLst>
                                    </p:anim>
                                    <p:anim calcmode="lin" valueType="num">
                                      <p:cBhvr additive="base">
                                        <p:cTn id="62" dur="500" fill="hold"/>
                                        <p:tgtEl>
                                          <p:spTgt spid="30"/>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 calcmode="lin" valueType="num">
                                      <p:cBhvr additive="base">
                                        <p:cTn id="65" dur="500" fill="hold"/>
                                        <p:tgtEl>
                                          <p:spTgt spid="31"/>
                                        </p:tgtEl>
                                        <p:attrNameLst>
                                          <p:attrName>ppt_x</p:attrName>
                                        </p:attrNameLst>
                                      </p:cBhvr>
                                      <p:tavLst>
                                        <p:tav tm="0">
                                          <p:val>
                                            <p:strVal val="#ppt_x"/>
                                          </p:val>
                                        </p:tav>
                                        <p:tav tm="100000">
                                          <p:val>
                                            <p:strVal val="#ppt_x"/>
                                          </p:val>
                                        </p:tav>
                                      </p:tavLst>
                                    </p:anim>
                                    <p:anim calcmode="lin" valueType="num">
                                      <p:cBhvr additive="base">
                                        <p:cTn id="66" dur="500" fill="hold"/>
                                        <p:tgtEl>
                                          <p:spTgt spid="31"/>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anim calcmode="lin" valueType="num">
                                      <p:cBhvr additive="base">
                                        <p:cTn id="69" dur="500" fill="hold"/>
                                        <p:tgtEl>
                                          <p:spTgt spid="32"/>
                                        </p:tgtEl>
                                        <p:attrNameLst>
                                          <p:attrName>ppt_x</p:attrName>
                                        </p:attrNameLst>
                                      </p:cBhvr>
                                      <p:tavLst>
                                        <p:tav tm="0">
                                          <p:val>
                                            <p:strVal val="#ppt_x"/>
                                          </p:val>
                                        </p:tav>
                                        <p:tav tm="100000">
                                          <p:val>
                                            <p:strVal val="#ppt_x"/>
                                          </p:val>
                                        </p:tav>
                                      </p:tavLst>
                                    </p:anim>
                                    <p:anim calcmode="lin" valueType="num">
                                      <p:cBhvr additive="base">
                                        <p:cTn id="70"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16"/>
                                        </p:tgtEl>
                                        <p:attrNameLst>
                                          <p:attrName>style.visibility</p:attrName>
                                        </p:attrNameLst>
                                      </p:cBhvr>
                                      <p:to>
                                        <p:strVal val="visible"/>
                                      </p:to>
                                    </p:set>
                                    <p:anim calcmode="lin" valueType="num">
                                      <p:cBhvr additive="base">
                                        <p:cTn id="75" dur="500" fill="hold"/>
                                        <p:tgtEl>
                                          <p:spTgt spid="16"/>
                                        </p:tgtEl>
                                        <p:attrNameLst>
                                          <p:attrName>ppt_x</p:attrName>
                                        </p:attrNameLst>
                                      </p:cBhvr>
                                      <p:tavLst>
                                        <p:tav tm="0">
                                          <p:val>
                                            <p:strVal val="#ppt_x"/>
                                          </p:val>
                                        </p:tav>
                                        <p:tav tm="100000">
                                          <p:val>
                                            <p:strVal val="#ppt_x"/>
                                          </p:val>
                                        </p:tav>
                                      </p:tavLst>
                                    </p:anim>
                                    <p:anim calcmode="lin" valueType="num">
                                      <p:cBhvr additive="base">
                                        <p:cTn id="76" dur="500" fill="hold"/>
                                        <p:tgtEl>
                                          <p:spTgt spid="16"/>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500" fill="hold"/>
                                        <p:tgtEl>
                                          <p:spTgt spid="19"/>
                                        </p:tgtEl>
                                        <p:attrNameLst>
                                          <p:attrName>ppt_x</p:attrName>
                                        </p:attrNameLst>
                                      </p:cBhvr>
                                      <p:tavLst>
                                        <p:tav tm="0">
                                          <p:val>
                                            <p:strVal val="#ppt_x"/>
                                          </p:val>
                                        </p:tav>
                                        <p:tav tm="100000">
                                          <p:val>
                                            <p:strVal val="#ppt_x"/>
                                          </p:val>
                                        </p:tav>
                                      </p:tavLst>
                                    </p:anim>
                                    <p:anim calcmode="lin" valueType="num">
                                      <p:cBhvr additive="base">
                                        <p:cTn id="80" dur="500" fill="hold"/>
                                        <p:tgtEl>
                                          <p:spTgt spid="19"/>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20"/>
                                        </p:tgtEl>
                                        <p:attrNameLst>
                                          <p:attrName>style.visibility</p:attrName>
                                        </p:attrNameLst>
                                      </p:cBhvr>
                                      <p:to>
                                        <p:strVal val="visible"/>
                                      </p:to>
                                    </p:set>
                                    <p:anim calcmode="lin" valueType="num">
                                      <p:cBhvr additive="base">
                                        <p:cTn id="83" dur="500" fill="hold"/>
                                        <p:tgtEl>
                                          <p:spTgt spid="20"/>
                                        </p:tgtEl>
                                        <p:attrNameLst>
                                          <p:attrName>ppt_x</p:attrName>
                                        </p:attrNameLst>
                                      </p:cBhvr>
                                      <p:tavLst>
                                        <p:tav tm="0">
                                          <p:val>
                                            <p:strVal val="#ppt_x"/>
                                          </p:val>
                                        </p:tav>
                                        <p:tav tm="100000">
                                          <p:val>
                                            <p:strVal val="#ppt_x"/>
                                          </p:val>
                                        </p:tav>
                                      </p:tavLst>
                                    </p:anim>
                                    <p:anim calcmode="lin" valueType="num">
                                      <p:cBhvr additive="base">
                                        <p:cTn id="84" dur="500" fill="hold"/>
                                        <p:tgtEl>
                                          <p:spTgt spid="20"/>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21"/>
                                        </p:tgtEl>
                                        <p:attrNameLst>
                                          <p:attrName>style.visibility</p:attrName>
                                        </p:attrNameLst>
                                      </p:cBhvr>
                                      <p:to>
                                        <p:strVal val="visible"/>
                                      </p:to>
                                    </p:set>
                                    <p:anim calcmode="lin" valueType="num">
                                      <p:cBhvr additive="base">
                                        <p:cTn id="87" dur="500" fill="hold"/>
                                        <p:tgtEl>
                                          <p:spTgt spid="21"/>
                                        </p:tgtEl>
                                        <p:attrNameLst>
                                          <p:attrName>ppt_x</p:attrName>
                                        </p:attrNameLst>
                                      </p:cBhvr>
                                      <p:tavLst>
                                        <p:tav tm="0">
                                          <p:val>
                                            <p:strVal val="#ppt_x"/>
                                          </p:val>
                                        </p:tav>
                                        <p:tav tm="100000">
                                          <p:val>
                                            <p:strVal val="#ppt_x"/>
                                          </p:val>
                                        </p:tav>
                                      </p:tavLst>
                                    </p:anim>
                                    <p:anim calcmode="lin" valueType="num">
                                      <p:cBhvr additive="base">
                                        <p:cTn id="88" dur="500" fill="hold"/>
                                        <p:tgtEl>
                                          <p:spTgt spid="21"/>
                                        </p:tgtEl>
                                        <p:attrNameLst>
                                          <p:attrName>ppt_y</p:attrName>
                                        </p:attrNameLst>
                                      </p:cBhvr>
                                      <p:tavLst>
                                        <p:tav tm="0">
                                          <p:val>
                                            <p:strVal val="1+#ppt_h/2"/>
                                          </p:val>
                                        </p:tav>
                                        <p:tav tm="100000">
                                          <p:val>
                                            <p:strVal val="#ppt_y"/>
                                          </p:val>
                                        </p:tav>
                                      </p:tavLst>
                                    </p:anim>
                                  </p:childTnLst>
                                </p:cTn>
                              </p:par>
                              <p:par>
                                <p:cTn id="89" presetID="2" presetClass="entr" presetSubtype="4" fill="hold" nodeType="withEffect">
                                  <p:stCondLst>
                                    <p:cond delay="0"/>
                                  </p:stCondLst>
                                  <p:childTnLst>
                                    <p:set>
                                      <p:cBhvr>
                                        <p:cTn id="90" dur="1" fill="hold">
                                          <p:stCondLst>
                                            <p:cond delay="0"/>
                                          </p:stCondLst>
                                        </p:cTn>
                                        <p:tgtEl>
                                          <p:spTgt spid="42"/>
                                        </p:tgtEl>
                                        <p:attrNameLst>
                                          <p:attrName>style.visibility</p:attrName>
                                        </p:attrNameLst>
                                      </p:cBhvr>
                                      <p:to>
                                        <p:strVal val="visible"/>
                                      </p:to>
                                    </p:set>
                                    <p:anim calcmode="lin" valueType="num">
                                      <p:cBhvr additive="base">
                                        <p:cTn id="91" dur="500" fill="hold"/>
                                        <p:tgtEl>
                                          <p:spTgt spid="42"/>
                                        </p:tgtEl>
                                        <p:attrNameLst>
                                          <p:attrName>ppt_x</p:attrName>
                                        </p:attrNameLst>
                                      </p:cBhvr>
                                      <p:tavLst>
                                        <p:tav tm="0">
                                          <p:val>
                                            <p:strVal val="#ppt_x"/>
                                          </p:val>
                                        </p:tav>
                                        <p:tav tm="100000">
                                          <p:val>
                                            <p:strVal val="#ppt_x"/>
                                          </p:val>
                                        </p:tav>
                                      </p:tavLst>
                                    </p:anim>
                                    <p:anim calcmode="lin" valueType="num">
                                      <p:cBhvr additive="base">
                                        <p:cTn id="92" dur="500" fill="hold"/>
                                        <p:tgtEl>
                                          <p:spTgt spid="42"/>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34"/>
                                        </p:tgtEl>
                                        <p:attrNameLst>
                                          <p:attrName>style.visibility</p:attrName>
                                        </p:attrNameLst>
                                      </p:cBhvr>
                                      <p:to>
                                        <p:strVal val="visible"/>
                                      </p:to>
                                    </p:set>
                                    <p:anim calcmode="lin" valueType="num">
                                      <p:cBhvr additive="base">
                                        <p:cTn id="95" dur="500" fill="hold"/>
                                        <p:tgtEl>
                                          <p:spTgt spid="34"/>
                                        </p:tgtEl>
                                        <p:attrNameLst>
                                          <p:attrName>ppt_x</p:attrName>
                                        </p:attrNameLst>
                                      </p:cBhvr>
                                      <p:tavLst>
                                        <p:tav tm="0">
                                          <p:val>
                                            <p:strVal val="#ppt_x"/>
                                          </p:val>
                                        </p:tav>
                                        <p:tav tm="100000">
                                          <p:val>
                                            <p:strVal val="#ppt_x"/>
                                          </p:val>
                                        </p:tav>
                                      </p:tavLst>
                                    </p:anim>
                                    <p:anim calcmode="lin" valueType="num">
                                      <p:cBhvr additive="base">
                                        <p:cTn id="96" dur="500" fill="hold"/>
                                        <p:tgtEl>
                                          <p:spTgt spid="34"/>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35"/>
                                        </p:tgtEl>
                                        <p:attrNameLst>
                                          <p:attrName>style.visibility</p:attrName>
                                        </p:attrNameLst>
                                      </p:cBhvr>
                                      <p:to>
                                        <p:strVal val="visible"/>
                                      </p:to>
                                    </p:set>
                                    <p:anim calcmode="lin" valueType="num">
                                      <p:cBhvr additive="base">
                                        <p:cTn id="99" dur="500" fill="hold"/>
                                        <p:tgtEl>
                                          <p:spTgt spid="35"/>
                                        </p:tgtEl>
                                        <p:attrNameLst>
                                          <p:attrName>ppt_x</p:attrName>
                                        </p:attrNameLst>
                                      </p:cBhvr>
                                      <p:tavLst>
                                        <p:tav tm="0">
                                          <p:val>
                                            <p:strVal val="#ppt_x"/>
                                          </p:val>
                                        </p:tav>
                                        <p:tav tm="100000">
                                          <p:val>
                                            <p:strVal val="#ppt_x"/>
                                          </p:val>
                                        </p:tav>
                                      </p:tavLst>
                                    </p:anim>
                                    <p:anim calcmode="lin" valueType="num">
                                      <p:cBhvr additive="base">
                                        <p:cTn id="100" dur="500" fill="hold"/>
                                        <p:tgtEl>
                                          <p:spTgt spid="35"/>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 calcmode="lin" valueType="num">
                                      <p:cBhvr additive="base">
                                        <p:cTn id="103" dur="500" fill="hold"/>
                                        <p:tgtEl>
                                          <p:spTgt spid="36"/>
                                        </p:tgtEl>
                                        <p:attrNameLst>
                                          <p:attrName>ppt_x</p:attrName>
                                        </p:attrNameLst>
                                      </p:cBhvr>
                                      <p:tavLst>
                                        <p:tav tm="0">
                                          <p:val>
                                            <p:strVal val="#ppt_x"/>
                                          </p:val>
                                        </p:tav>
                                        <p:tav tm="100000">
                                          <p:val>
                                            <p:strVal val="#ppt_x"/>
                                          </p:val>
                                        </p:tav>
                                      </p:tavLst>
                                    </p:anim>
                                    <p:anim calcmode="lin" valueType="num">
                                      <p:cBhvr additive="base">
                                        <p:cTn id="10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8" fill="hold" nodeType="clickEffect">
                                  <p:stCondLst>
                                    <p:cond delay="0"/>
                                  </p:stCondLst>
                                  <p:childTnLst>
                                    <p:set>
                                      <p:cBhvr>
                                        <p:cTn id="108" dur="1" fill="hold">
                                          <p:stCondLst>
                                            <p:cond delay="0"/>
                                          </p:stCondLst>
                                        </p:cTn>
                                        <p:tgtEl>
                                          <p:spTgt spid="22"/>
                                        </p:tgtEl>
                                        <p:attrNameLst>
                                          <p:attrName>style.visibility</p:attrName>
                                        </p:attrNameLst>
                                      </p:cBhvr>
                                      <p:to>
                                        <p:strVal val="visible"/>
                                      </p:to>
                                    </p:set>
                                    <p:anim calcmode="lin" valueType="num">
                                      <p:cBhvr additive="base">
                                        <p:cTn id="109" dur="500" fill="hold"/>
                                        <p:tgtEl>
                                          <p:spTgt spid="22"/>
                                        </p:tgtEl>
                                        <p:attrNameLst>
                                          <p:attrName>ppt_x</p:attrName>
                                        </p:attrNameLst>
                                      </p:cBhvr>
                                      <p:tavLst>
                                        <p:tav tm="0">
                                          <p:val>
                                            <p:strVal val="0-#ppt_w/2"/>
                                          </p:val>
                                        </p:tav>
                                        <p:tav tm="100000">
                                          <p:val>
                                            <p:strVal val="#ppt_x"/>
                                          </p:val>
                                        </p:tav>
                                      </p:tavLst>
                                    </p:anim>
                                    <p:anim calcmode="lin" valueType="num">
                                      <p:cBhvr additive="base">
                                        <p:cTn id="110" dur="500" fill="hold"/>
                                        <p:tgtEl>
                                          <p:spTgt spid="22"/>
                                        </p:tgtEl>
                                        <p:attrNameLst>
                                          <p:attrName>ppt_y</p:attrName>
                                        </p:attrNameLst>
                                      </p:cBhvr>
                                      <p:tavLst>
                                        <p:tav tm="0">
                                          <p:val>
                                            <p:strVal val="#ppt_y"/>
                                          </p:val>
                                        </p:tav>
                                        <p:tav tm="100000">
                                          <p:val>
                                            <p:strVal val="#ppt_y"/>
                                          </p:val>
                                        </p:tav>
                                      </p:tavLst>
                                    </p:anim>
                                  </p:childTnLst>
                                </p:cTn>
                              </p:par>
                              <p:par>
                                <p:cTn id="111" presetID="2" presetClass="entr" presetSubtype="8" fill="hold" grpId="0" nodeType="withEffect">
                                  <p:stCondLst>
                                    <p:cond delay="0"/>
                                  </p:stCondLst>
                                  <p:childTnLst>
                                    <p:set>
                                      <p:cBhvr>
                                        <p:cTn id="112" dur="1" fill="hold">
                                          <p:stCondLst>
                                            <p:cond delay="0"/>
                                          </p:stCondLst>
                                        </p:cTn>
                                        <p:tgtEl>
                                          <p:spTgt spid="37"/>
                                        </p:tgtEl>
                                        <p:attrNameLst>
                                          <p:attrName>style.visibility</p:attrName>
                                        </p:attrNameLst>
                                      </p:cBhvr>
                                      <p:to>
                                        <p:strVal val="visible"/>
                                      </p:to>
                                    </p:set>
                                    <p:anim calcmode="lin" valueType="num">
                                      <p:cBhvr additive="base">
                                        <p:cTn id="113" dur="500" fill="hold"/>
                                        <p:tgtEl>
                                          <p:spTgt spid="37"/>
                                        </p:tgtEl>
                                        <p:attrNameLst>
                                          <p:attrName>ppt_x</p:attrName>
                                        </p:attrNameLst>
                                      </p:cBhvr>
                                      <p:tavLst>
                                        <p:tav tm="0">
                                          <p:val>
                                            <p:strVal val="0-#ppt_w/2"/>
                                          </p:val>
                                        </p:tav>
                                        <p:tav tm="100000">
                                          <p:val>
                                            <p:strVal val="#ppt_x"/>
                                          </p:val>
                                        </p:tav>
                                      </p:tavLst>
                                    </p:anim>
                                    <p:anim calcmode="lin" valueType="num">
                                      <p:cBhvr additive="base">
                                        <p:cTn id="114" dur="500" fill="hold"/>
                                        <p:tgtEl>
                                          <p:spTgt spid="37"/>
                                        </p:tgtEl>
                                        <p:attrNameLst>
                                          <p:attrName>ppt_y</p:attrName>
                                        </p:attrNameLst>
                                      </p:cBhvr>
                                      <p:tavLst>
                                        <p:tav tm="0">
                                          <p:val>
                                            <p:strVal val="#ppt_y"/>
                                          </p:val>
                                        </p:tav>
                                        <p:tav tm="100000">
                                          <p:val>
                                            <p:strVal val="#ppt_y"/>
                                          </p:val>
                                        </p:tav>
                                      </p:tavLst>
                                    </p:anim>
                                  </p:childTnLst>
                                </p:cTn>
                              </p:par>
                              <p:par>
                                <p:cTn id="115" presetID="2" presetClass="entr" presetSubtype="8" fill="hold" grpId="0" nodeType="withEffect">
                                  <p:stCondLst>
                                    <p:cond delay="0"/>
                                  </p:stCondLst>
                                  <p:childTnLst>
                                    <p:set>
                                      <p:cBhvr>
                                        <p:cTn id="116" dur="1" fill="hold">
                                          <p:stCondLst>
                                            <p:cond delay="0"/>
                                          </p:stCondLst>
                                        </p:cTn>
                                        <p:tgtEl>
                                          <p:spTgt spid="38"/>
                                        </p:tgtEl>
                                        <p:attrNameLst>
                                          <p:attrName>style.visibility</p:attrName>
                                        </p:attrNameLst>
                                      </p:cBhvr>
                                      <p:to>
                                        <p:strVal val="visible"/>
                                      </p:to>
                                    </p:set>
                                    <p:anim calcmode="lin" valueType="num">
                                      <p:cBhvr additive="base">
                                        <p:cTn id="117" dur="500" fill="hold"/>
                                        <p:tgtEl>
                                          <p:spTgt spid="38"/>
                                        </p:tgtEl>
                                        <p:attrNameLst>
                                          <p:attrName>ppt_x</p:attrName>
                                        </p:attrNameLst>
                                      </p:cBhvr>
                                      <p:tavLst>
                                        <p:tav tm="0">
                                          <p:val>
                                            <p:strVal val="0-#ppt_w/2"/>
                                          </p:val>
                                        </p:tav>
                                        <p:tav tm="100000">
                                          <p:val>
                                            <p:strVal val="#ppt_x"/>
                                          </p:val>
                                        </p:tav>
                                      </p:tavLst>
                                    </p:anim>
                                    <p:anim calcmode="lin" valueType="num">
                                      <p:cBhvr additive="base">
                                        <p:cTn id="118" dur="500" fill="hold"/>
                                        <p:tgtEl>
                                          <p:spTgt spid="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30" grpId="0" animBg="1"/>
      <p:bldP spid="31" grpId="0" animBg="1"/>
      <p:bldP spid="32" grpId="0" animBg="1"/>
      <p:bldP spid="34" grpId="0" animBg="1"/>
      <p:bldP spid="35" grpId="0" animBg="1"/>
      <p:bldP spid="36" grpId="0" animBg="1"/>
      <p:bldP spid="37" grpId="0" animBg="1"/>
      <p:bldP spid="3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10287000" y="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952500" y="5429250"/>
            <a:ext cx="1905000" cy="1905000"/>
          </a:xfrm>
          <a:prstGeom prst="rect">
            <a:avLst/>
          </a:prstGeom>
        </p:spPr>
      </p:pic>
      <p:pic>
        <p:nvPicPr>
          <p:cNvPr id="5" name="Image 3" descr="preencoded.png"/>
          <p:cNvPicPr>
            <a:picLocks noChangeAspect="1"/>
          </p:cNvPicPr>
          <p:nvPr/>
        </p:nvPicPr>
        <p:blipFill>
          <a:blip r:embed="rId6"/>
          <a:stretch>
            <a:fillRect/>
          </a:stretch>
        </p:blipFill>
        <p:spPr>
          <a:xfrm>
            <a:off x="0" y="0"/>
            <a:ext cx="12192000" cy="685800"/>
          </a:xfrm>
          <a:prstGeom prst="rect">
            <a:avLst/>
          </a:prstGeom>
        </p:spPr>
      </p:pic>
      <p:pic>
        <p:nvPicPr>
          <p:cNvPr id="6" name="Image 4" descr="preencoded.png"/>
          <p:cNvPicPr>
            <a:picLocks noChangeAspect="1"/>
          </p:cNvPicPr>
          <p:nvPr/>
        </p:nvPicPr>
        <p:blipFill>
          <a:blip r:embed="rId7"/>
          <a:stretch>
            <a:fillRect/>
          </a:stretch>
        </p:blipFill>
        <p:spPr>
          <a:xfrm>
            <a:off x="200025" y="914400"/>
            <a:ext cx="276225" cy="276225"/>
          </a:xfrm>
          <a:prstGeom prst="rect">
            <a:avLst/>
          </a:prstGeom>
        </p:spPr>
      </p:pic>
      <p:pic>
        <p:nvPicPr>
          <p:cNvPr id="7" name="Image 5" descr="preencoded.png"/>
          <p:cNvPicPr>
            <a:picLocks noChangeAspect="1"/>
          </p:cNvPicPr>
          <p:nvPr/>
        </p:nvPicPr>
        <p:blipFill>
          <a:blip r:embed="rId8"/>
          <a:stretch>
            <a:fillRect/>
          </a:stretch>
        </p:blipFill>
        <p:spPr>
          <a:xfrm>
            <a:off x="304800" y="1485900"/>
            <a:ext cx="11582400" cy="457200"/>
          </a:xfrm>
          <a:prstGeom prst="rect">
            <a:avLst/>
          </a:prstGeom>
        </p:spPr>
      </p:pic>
      <p:pic>
        <p:nvPicPr>
          <p:cNvPr id="8" name="Image 6" descr="preencoded.png"/>
          <p:cNvPicPr>
            <a:picLocks noChangeAspect="1"/>
          </p:cNvPicPr>
          <p:nvPr/>
        </p:nvPicPr>
        <p:blipFill>
          <a:blip r:embed="rId9"/>
          <a:stretch>
            <a:fillRect/>
          </a:stretch>
        </p:blipFill>
        <p:spPr>
          <a:xfrm>
            <a:off x="304800" y="2400300"/>
            <a:ext cx="11582400" cy="457200"/>
          </a:xfrm>
          <a:prstGeom prst="rect">
            <a:avLst/>
          </a:prstGeom>
        </p:spPr>
      </p:pic>
      <p:pic>
        <p:nvPicPr>
          <p:cNvPr id="9" name="Image 7" descr="preencoded.png"/>
          <p:cNvPicPr>
            <a:picLocks noChangeAspect="1"/>
          </p:cNvPicPr>
          <p:nvPr/>
        </p:nvPicPr>
        <p:blipFill>
          <a:blip r:embed="rId10"/>
          <a:stretch>
            <a:fillRect/>
          </a:stretch>
        </p:blipFill>
        <p:spPr>
          <a:xfrm>
            <a:off x="304800" y="3314700"/>
            <a:ext cx="11582400" cy="457200"/>
          </a:xfrm>
          <a:prstGeom prst="rect">
            <a:avLst/>
          </a:prstGeom>
        </p:spPr>
      </p:pic>
      <p:pic>
        <p:nvPicPr>
          <p:cNvPr id="10" name="Image 8" descr="preencoded.png"/>
          <p:cNvPicPr>
            <a:picLocks noChangeAspect="1"/>
          </p:cNvPicPr>
          <p:nvPr/>
        </p:nvPicPr>
        <p:blipFill>
          <a:blip r:embed="rId11"/>
          <a:stretch>
            <a:fillRect/>
          </a:stretch>
        </p:blipFill>
        <p:spPr>
          <a:xfrm>
            <a:off x="304800" y="4000500"/>
            <a:ext cx="5676900" cy="2476500"/>
          </a:xfrm>
          <a:prstGeom prst="rect">
            <a:avLst/>
          </a:prstGeom>
        </p:spPr>
      </p:pic>
      <p:pic>
        <p:nvPicPr>
          <p:cNvPr id="11" name="Image 9" descr="preencoded.png"/>
          <p:cNvPicPr>
            <a:picLocks noChangeAspect="1"/>
          </p:cNvPicPr>
          <p:nvPr/>
        </p:nvPicPr>
        <p:blipFill>
          <a:blip r:embed="rId12"/>
          <a:stretch>
            <a:fillRect/>
          </a:stretch>
        </p:blipFill>
        <p:spPr>
          <a:xfrm>
            <a:off x="457200" y="4495800"/>
            <a:ext cx="5372100" cy="1828800"/>
          </a:xfrm>
          <a:prstGeom prst="rect">
            <a:avLst/>
          </a:prstGeom>
        </p:spPr>
      </p:pic>
      <p:pic>
        <p:nvPicPr>
          <p:cNvPr id="12" name="Image 10" descr="preencoded.png"/>
          <p:cNvPicPr>
            <a:picLocks noChangeAspect="1"/>
          </p:cNvPicPr>
          <p:nvPr/>
        </p:nvPicPr>
        <p:blipFill>
          <a:blip r:embed="rId11"/>
          <a:stretch>
            <a:fillRect/>
          </a:stretch>
        </p:blipFill>
        <p:spPr>
          <a:xfrm>
            <a:off x="6210300" y="4000500"/>
            <a:ext cx="5676900" cy="2476500"/>
          </a:xfrm>
          <a:prstGeom prst="rect">
            <a:avLst/>
          </a:prstGeom>
        </p:spPr>
      </p:pic>
      <p:pic>
        <p:nvPicPr>
          <p:cNvPr id="13" name="Image 11" descr="preencoded.png"/>
          <p:cNvPicPr>
            <a:picLocks noChangeAspect="1"/>
          </p:cNvPicPr>
          <p:nvPr/>
        </p:nvPicPr>
        <p:blipFill>
          <a:blip r:embed="rId13"/>
          <a:stretch>
            <a:fillRect/>
          </a:stretch>
        </p:blipFill>
        <p:spPr>
          <a:xfrm>
            <a:off x="6362700" y="4605020"/>
            <a:ext cx="152400" cy="152400"/>
          </a:xfrm>
          <a:prstGeom prst="rect">
            <a:avLst/>
          </a:prstGeom>
        </p:spPr>
      </p:pic>
      <p:pic>
        <p:nvPicPr>
          <p:cNvPr id="14" name="Image 12" descr="preencoded.png"/>
          <p:cNvPicPr>
            <a:picLocks noChangeAspect="1"/>
          </p:cNvPicPr>
          <p:nvPr/>
        </p:nvPicPr>
        <p:blipFill>
          <a:blip r:embed="rId13"/>
          <a:stretch>
            <a:fillRect/>
          </a:stretch>
        </p:blipFill>
        <p:spPr>
          <a:xfrm>
            <a:off x="6362700" y="5138420"/>
            <a:ext cx="152400" cy="152400"/>
          </a:xfrm>
          <a:prstGeom prst="rect">
            <a:avLst/>
          </a:prstGeom>
        </p:spPr>
      </p:pic>
      <p:pic>
        <p:nvPicPr>
          <p:cNvPr id="15" name="Image 13" descr="preencoded.png"/>
          <p:cNvPicPr>
            <a:picLocks noChangeAspect="1"/>
          </p:cNvPicPr>
          <p:nvPr/>
        </p:nvPicPr>
        <p:blipFill>
          <a:blip r:embed="rId13"/>
          <a:stretch>
            <a:fillRect/>
          </a:stretch>
        </p:blipFill>
        <p:spPr>
          <a:xfrm>
            <a:off x="6362700" y="5443220"/>
            <a:ext cx="152400" cy="152400"/>
          </a:xfrm>
          <a:prstGeom prst="rect">
            <a:avLst/>
          </a:prstGeom>
        </p:spPr>
      </p:pic>
      <p:sp>
        <p:nvSpPr>
          <p:cNvPr id="16" name="Text 0"/>
          <p:cNvSpPr/>
          <p:nvPr/>
        </p:nvSpPr>
        <p:spPr>
          <a:xfrm>
            <a:off x="381000" y="78740"/>
            <a:ext cx="11506200" cy="495300"/>
          </a:xfrm>
          <a:prstGeom prst="rect">
            <a:avLst/>
          </a:prstGeom>
          <a:noFill/>
          <a:ln/>
        </p:spPr>
        <p:txBody>
          <a:bodyPr vert="horz" wrap="square" lIns="0" tIns="0" rIns="0" bIns="0" rtlCol="0" anchor="t"/>
          <a:lstStyle/>
          <a:p>
            <a:pPr marL="0" indent="0">
              <a:buNone/>
            </a:pPr>
            <a:r>
              <a:rPr lang="en-US" sz="3600" b="1" dirty="0">
                <a:solidFill>
                  <a:srgbClr val="FFFFFF"/>
                </a:solidFill>
                <a:latin typeface="ui-sans-serif" pitchFamily="34" charset="0"/>
                <a:ea typeface="ui-sans-serif" pitchFamily="34" charset="-122"/>
                <a:cs typeface="ui-sans-serif" pitchFamily="34" charset="-120"/>
              </a:rPr>
              <a:t>3-Year Financial Projections</a:t>
            </a:r>
            <a:endParaRPr lang="en-US" sz="3600" dirty="0"/>
          </a:p>
        </p:txBody>
      </p:sp>
      <p:sp>
        <p:nvSpPr>
          <p:cNvPr id="17" name="Text 1"/>
          <p:cNvSpPr/>
          <p:nvPr/>
        </p:nvSpPr>
        <p:spPr>
          <a:xfrm>
            <a:off x="552450" y="838200"/>
            <a:ext cx="11334750" cy="533400"/>
          </a:xfrm>
          <a:prstGeom prst="rect">
            <a:avLst/>
          </a:prstGeom>
          <a:noFill/>
          <a:ln/>
        </p:spPr>
        <p:txBody>
          <a:bodyPr vert="horz" wrap="square" lIns="0" tIns="0" rIns="0" bIns="0" rtlCol="0" anchor="t"/>
          <a:lstStyle/>
          <a:p>
            <a:pPr marL="0" indent="0">
              <a:lnSpc>
                <a:spcPts val="2100"/>
              </a:lnSpc>
              <a:buNone/>
            </a:pPr>
            <a:r>
              <a:rPr lang="en-US" dirty="0">
                <a:solidFill>
                  <a:srgbClr val="374151"/>
                </a:solidFill>
                <a:latin typeface="ui-sans-serif" pitchFamily="34" charset="0"/>
                <a:ea typeface="ui-sans-serif" pitchFamily="34" charset="-122"/>
                <a:cs typeface="ui-sans-serif" pitchFamily="34" charset="-120"/>
              </a:rPr>
              <a:t> This section outlines the expected financial outcomes and resources required for the export venture over a 3-year period.</a:t>
            </a:r>
            <a:endParaRPr lang="en-US" dirty="0"/>
          </a:p>
        </p:txBody>
      </p:sp>
      <p:sp>
        <p:nvSpPr>
          <p:cNvPr id="18" name="Text 2"/>
          <p:cNvSpPr/>
          <p:nvPr/>
        </p:nvSpPr>
        <p:spPr>
          <a:xfrm>
            <a:off x="457201" y="1485900"/>
            <a:ext cx="3859590" cy="457200"/>
          </a:xfrm>
          <a:prstGeom prst="rect">
            <a:avLst/>
          </a:prstGeom>
          <a:noFill/>
          <a:ln/>
        </p:spPr>
        <p:txBody>
          <a:bodyPr vert="horz" wrap="square" lIns="0" tIns="0" rIns="0" bIns="0" rtlCol="0" anchor="ctr"/>
          <a:lstStyle/>
          <a:p>
            <a:pPr marL="0" indent="0" algn="ctr">
              <a:lnSpc>
                <a:spcPts val="1800"/>
              </a:lnSpc>
              <a:buNone/>
            </a:pPr>
            <a:r>
              <a:rPr lang="en-US" b="1" dirty="0">
                <a:solidFill>
                  <a:srgbClr val="FFFFFF"/>
                </a:solidFill>
                <a:latin typeface="ui-sans-serif" pitchFamily="34" charset="0"/>
                <a:ea typeface="ui-sans-serif" pitchFamily="34" charset="-122"/>
                <a:cs typeface="ui-sans-serif" pitchFamily="34" charset="-120"/>
              </a:rPr>
              <a:t>Metric</a:t>
            </a:r>
            <a:endParaRPr lang="en-US" dirty="0"/>
          </a:p>
        </p:txBody>
      </p:sp>
      <p:sp>
        <p:nvSpPr>
          <p:cNvPr id="19" name="Text 3"/>
          <p:cNvSpPr/>
          <p:nvPr/>
        </p:nvSpPr>
        <p:spPr>
          <a:xfrm>
            <a:off x="4469192" y="1485900"/>
            <a:ext cx="2473194" cy="457200"/>
          </a:xfrm>
          <a:prstGeom prst="rect">
            <a:avLst/>
          </a:prstGeom>
          <a:noFill/>
          <a:ln/>
        </p:spPr>
        <p:txBody>
          <a:bodyPr vert="horz" wrap="square" lIns="0" tIns="0" rIns="0" bIns="0" rtlCol="0" anchor="ctr"/>
          <a:lstStyle/>
          <a:p>
            <a:pPr marL="0" indent="0" algn="ctr">
              <a:lnSpc>
                <a:spcPts val="1800"/>
              </a:lnSpc>
              <a:buNone/>
            </a:pPr>
            <a:r>
              <a:rPr lang="en-US" b="1" dirty="0">
                <a:solidFill>
                  <a:srgbClr val="FFFFFF"/>
                </a:solidFill>
                <a:latin typeface="ui-sans-serif" pitchFamily="34" charset="0"/>
                <a:ea typeface="ui-sans-serif" pitchFamily="34" charset="-122"/>
                <a:cs typeface="ui-sans-serif" pitchFamily="34" charset="-120"/>
              </a:rPr>
              <a:t>Year 1 (Projected)</a:t>
            </a:r>
            <a:endParaRPr lang="en-US" dirty="0"/>
          </a:p>
        </p:txBody>
      </p:sp>
      <p:sp>
        <p:nvSpPr>
          <p:cNvPr id="20" name="Text 4"/>
          <p:cNvSpPr/>
          <p:nvPr/>
        </p:nvSpPr>
        <p:spPr>
          <a:xfrm>
            <a:off x="6911131" y="1485900"/>
            <a:ext cx="2350145" cy="457200"/>
          </a:xfrm>
          <a:prstGeom prst="rect">
            <a:avLst/>
          </a:prstGeom>
          <a:noFill/>
          <a:ln/>
        </p:spPr>
        <p:txBody>
          <a:bodyPr vert="horz" wrap="square" lIns="0" tIns="0" rIns="0" bIns="0" rtlCol="0" anchor="ctr"/>
          <a:lstStyle/>
          <a:p>
            <a:pPr marL="0" indent="0" algn="ctr">
              <a:lnSpc>
                <a:spcPts val="1800"/>
              </a:lnSpc>
              <a:buNone/>
            </a:pPr>
            <a:r>
              <a:rPr lang="en-US" b="1" dirty="0">
                <a:solidFill>
                  <a:srgbClr val="FFFFFF"/>
                </a:solidFill>
                <a:latin typeface="ui-sans-serif" pitchFamily="34" charset="0"/>
                <a:ea typeface="ui-sans-serif" pitchFamily="34" charset="-122"/>
                <a:cs typeface="ui-sans-serif" pitchFamily="34" charset="-120"/>
              </a:rPr>
              <a:t>Year 2 (Projected)</a:t>
            </a:r>
            <a:endParaRPr lang="en-US" dirty="0"/>
          </a:p>
        </p:txBody>
      </p:sp>
      <p:sp>
        <p:nvSpPr>
          <p:cNvPr id="21" name="Text 5"/>
          <p:cNvSpPr/>
          <p:nvPr/>
        </p:nvSpPr>
        <p:spPr>
          <a:xfrm>
            <a:off x="9689127" y="1485900"/>
            <a:ext cx="2055674" cy="457200"/>
          </a:xfrm>
          <a:prstGeom prst="rect">
            <a:avLst/>
          </a:prstGeom>
          <a:noFill/>
          <a:ln/>
        </p:spPr>
        <p:txBody>
          <a:bodyPr vert="horz" wrap="square" lIns="0" tIns="0" rIns="0" bIns="0" rtlCol="0" anchor="ctr"/>
          <a:lstStyle/>
          <a:p>
            <a:pPr marL="0" indent="0" algn="ctr">
              <a:buNone/>
            </a:pPr>
            <a:r>
              <a:rPr lang="en-US" b="1" dirty="0">
                <a:solidFill>
                  <a:srgbClr val="FFFFFF"/>
                </a:solidFill>
                <a:latin typeface="ui-sans-serif" pitchFamily="34" charset="0"/>
                <a:ea typeface="ui-sans-serif" pitchFamily="34" charset="-122"/>
                <a:cs typeface="ui-sans-serif" pitchFamily="34" charset="-120"/>
              </a:rPr>
              <a:t>Year 3 (Projected)</a:t>
            </a:r>
            <a:endParaRPr lang="en-US" dirty="0"/>
          </a:p>
        </p:txBody>
      </p:sp>
      <p:sp>
        <p:nvSpPr>
          <p:cNvPr id="22" name="Text 6"/>
          <p:cNvSpPr/>
          <p:nvPr/>
        </p:nvSpPr>
        <p:spPr>
          <a:xfrm>
            <a:off x="457200" y="1943100"/>
            <a:ext cx="4103787" cy="457200"/>
          </a:xfrm>
          <a:prstGeom prst="rect">
            <a:avLst/>
          </a:prstGeom>
          <a:noFill/>
          <a:ln/>
        </p:spPr>
        <p:txBody>
          <a:bodyPr vert="horz" wrap="square" lIns="0" tIns="0" rIns="0" bIns="0" rtlCol="0" anchor="ctr"/>
          <a:lstStyle/>
          <a:p>
            <a:pPr marL="0" indent="0">
              <a:lnSpc>
                <a:spcPts val="1800"/>
              </a:lnSpc>
              <a:buNone/>
            </a:pPr>
            <a:r>
              <a:rPr lang="en-US" sz="1400" dirty="0">
                <a:solidFill>
                  <a:srgbClr val="000000"/>
                </a:solidFill>
                <a:latin typeface="ui-sans-serif" pitchFamily="34" charset="0"/>
                <a:ea typeface="ui-sans-serif" pitchFamily="34" charset="-122"/>
                <a:cs typeface="ui-sans-serif" pitchFamily="34" charset="-120"/>
              </a:rPr>
              <a:t>Projected Unit Sales</a:t>
            </a:r>
            <a:endParaRPr lang="en-US" sz="1400" dirty="0"/>
          </a:p>
        </p:txBody>
      </p:sp>
      <p:sp>
        <p:nvSpPr>
          <p:cNvPr id="23" name="Text 7"/>
          <p:cNvSpPr/>
          <p:nvPr/>
        </p:nvSpPr>
        <p:spPr>
          <a:xfrm>
            <a:off x="4560987" y="1943100"/>
            <a:ext cx="2441972" cy="457200"/>
          </a:xfrm>
          <a:prstGeom prst="rect">
            <a:avLst/>
          </a:prstGeom>
          <a:noFill/>
          <a:ln/>
        </p:spPr>
        <p:txBody>
          <a:bodyPr vert="horz" wrap="square" lIns="0" tIns="0" rIns="0" bIns="0" rtlCol="0" anchor="ctr"/>
          <a:lstStyle/>
          <a:p>
            <a:pPr marL="0" indent="0" algn="ctr">
              <a:lnSpc>
                <a:spcPts val="1800"/>
              </a:lnSpc>
              <a:buNone/>
            </a:pPr>
            <a:r>
              <a:rPr lang="en-US" sz="1400" dirty="0">
                <a:solidFill>
                  <a:srgbClr val="000000"/>
                </a:solidFill>
                <a:latin typeface="ui-sans-serif" pitchFamily="34" charset="0"/>
                <a:ea typeface="ui-sans-serif" pitchFamily="34" charset="-122"/>
                <a:cs typeface="ui-sans-serif" pitchFamily="34" charset="-120"/>
              </a:rPr>
              <a:t>[Number]</a:t>
            </a:r>
            <a:endParaRPr lang="en-US" sz="1400" dirty="0"/>
          </a:p>
        </p:txBody>
      </p:sp>
      <p:sp>
        <p:nvSpPr>
          <p:cNvPr id="24" name="Text 8"/>
          <p:cNvSpPr/>
          <p:nvPr/>
        </p:nvSpPr>
        <p:spPr>
          <a:xfrm>
            <a:off x="7002959" y="1943100"/>
            <a:ext cx="2441972" cy="457200"/>
          </a:xfrm>
          <a:prstGeom prst="rect">
            <a:avLst/>
          </a:prstGeom>
          <a:noFill/>
          <a:ln/>
        </p:spPr>
        <p:txBody>
          <a:bodyPr vert="horz" wrap="square" lIns="0" tIns="0" rIns="0" bIns="0" rtlCol="0" anchor="ctr"/>
          <a:lstStyle/>
          <a:p>
            <a:pPr marL="0" indent="0" algn="ctr">
              <a:lnSpc>
                <a:spcPts val="1800"/>
              </a:lnSpc>
              <a:buNone/>
            </a:pPr>
            <a:r>
              <a:rPr lang="en-US" sz="1400" dirty="0">
                <a:solidFill>
                  <a:srgbClr val="000000"/>
                </a:solidFill>
                <a:latin typeface="ui-sans-serif" pitchFamily="34" charset="0"/>
                <a:ea typeface="ui-sans-serif" pitchFamily="34" charset="-122"/>
                <a:cs typeface="ui-sans-serif" pitchFamily="34" charset="-120"/>
              </a:rPr>
              <a:t>[Number]</a:t>
            </a:r>
            <a:endParaRPr lang="en-US" sz="1400" dirty="0"/>
          </a:p>
        </p:txBody>
      </p:sp>
      <p:sp>
        <p:nvSpPr>
          <p:cNvPr id="25" name="Text 9"/>
          <p:cNvSpPr/>
          <p:nvPr/>
        </p:nvSpPr>
        <p:spPr>
          <a:xfrm>
            <a:off x="9444930" y="1943100"/>
            <a:ext cx="2442270" cy="457200"/>
          </a:xfrm>
          <a:prstGeom prst="rect">
            <a:avLst/>
          </a:prstGeom>
          <a:noFill/>
          <a:ln/>
        </p:spPr>
        <p:txBody>
          <a:bodyPr vert="horz" wrap="square" lIns="0" tIns="0" rIns="0" bIns="0" rtlCol="0" anchor="ctr"/>
          <a:lstStyle/>
          <a:p>
            <a:pPr marL="0" indent="0" algn="ctr">
              <a:lnSpc>
                <a:spcPts val="1800"/>
              </a:lnSpc>
              <a:buNone/>
            </a:pPr>
            <a:r>
              <a:rPr lang="en-US" sz="1400" dirty="0">
                <a:solidFill>
                  <a:srgbClr val="000000"/>
                </a:solidFill>
                <a:latin typeface="ui-sans-serif" pitchFamily="34" charset="0"/>
                <a:ea typeface="ui-sans-serif" pitchFamily="34" charset="-122"/>
                <a:cs typeface="ui-sans-serif" pitchFamily="34" charset="-120"/>
              </a:rPr>
              <a:t>[Number]</a:t>
            </a:r>
            <a:endParaRPr lang="en-US" sz="1400" dirty="0"/>
          </a:p>
        </p:txBody>
      </p:sp>
      <p:sp>
        <p:nvSpPr>
          <p:cNvPr id="26" name="Text 10"/>
          <p:cNvSpPr/>
          <p:nvPr/>
        </p:nvSpPr>
        <p:spPr>
          <a:xfrm>
            <a:off x="457200" y="2400300"/>
            <a:ext cx="4103490" cy="457200"/>
          </a:xfrm>
          <a:prstGeom prst="rect">
            <a:avLst/>
          </a:prstGeom>
          <a:noFill/>
          <a:ln/>
        </p:spPr>
        <p:txBody>
          <a:bodyPr vert="horz" wrap="square" lIns="0" tIns="0" rIns="0" bIns="0" rtlCol="0" anchor="ctr"/>
          <a:lstStyle/>
          <a:p>
            <a:pPr marL="0" indent="0">
              <a:lnSpc>
                <a:spcPts val="1800"/>
              </a:lnSpc>
              <a:buNone/>
            </a:pPr>
            <a:r>
              <a:rPr lang="en-US" sz="1400" dirty="0">
                <a:solidFill>
                  <a:srgbClr val="000000"/>
                </a:solidFill>
                <a:latin typeface="ui-sans-serif" pitchFamily="34" charset="0"/>
                <a:ea typeface="ui-sans-serif" pitchFamily="34" charset="-122"/>
                <a:cs typeface="ui-sans-serif" pitchFamily="34" charset="-120"/>
              </a:rPr>
              <a:t>Projected Revenue (in quote currency)</a:t>
            </a:r>
            <a:endParaRPr lang="en-US" sz="1400" dirty="0"/>
          </a:p>
        </p:txBody>
      </p:sp>
      <p:sp>
        <p:nvSpPr>
          <p:cNvPr id="27" name="Text 11"/>
          <p:cNvSpPr/>
          <p:nvPr/>
        </p:nvSpPr>
        <p:spPr>
          <a:xfrm>
            <a:off x="4316790" y="2400300"/>
            <a:ext cx="2930366" cy="457200"/>
          </a:xfrm>
          <a:prstGeom prst="rect">
            <a:avLst/>
          </a:prstGeom>
          <a:noFill/>
          <a:ln/>
        </p:spPr>
        <p:txBody>
          <a:bodyPr vert="horz" wrap="square" lIns="0" tIns="0" rIns="0" bIns="0" rtlCol="0" anchor="ctr"/>
          <a:lstStyle/>
          <a:p>
            <a:pPr marL="0" indent="0" algn="ctr">
              <a:lnSpc>
                <a:spcPts val="1800"/>
              </a:lnSpc>
              <a:buNone/>
            </a:pPr>
            <a:r>
              <a:rPr lang="en-US" sz="1400" dirty="0">
                <a:solidFill>
                  <a:srgbClr val="000000"/>
                </a:solidFill>
                <a:latin typeface="ui-sans-serif" pitchFamily="34" charset="0"/>
                <a:ea typeface="ui-sans-serif" pitchFamily="34" charset="-122"/>
                <a:cs typeface="ui-sans-serif" pitchFamily="34" charset="-120"/>
              </a:rPr>
              <a:t>[Currency Amount]</a:t>
            </a:r>
            <a:endParaRPr lang="en-US" sz="1400" dirty="0"/>
          </a:p>
        </p:txBody>
      </p:sp>
      <p:sp>
        <p:nvSpPr>
          <p:cNvPr id="28" name="Text 12"/>
          <p:cNvSpPr/>
          <p:nvPr/>
        </p:nvSpPr>
        <p:spPr>
          <a:xfrm>
            <a:off x="6758761" y="2400300"/>
            <a:ext cx="2930366" cy="457200"/>
          </a:xfrm>
          <a:prstGeom prst="rect">
            <a:avLst/>
          </a:prstGeom>
          <a:noFill/>
          <a:ln/>
        </p:spPr>
        <p:txBody>
          <a:bodyPr vert="horz" wrap="square" lIns="0" tIns="0" rIns="0" bIns="0" rtlCol="0" anchor="ctr"/>
          <a:lstStyle/>
          <a:p>
            <a:pPr marL="0" indent="0" algn="ctr">
              <a:lnSpc>
                <a:spcPts val="1800"/>
              </a:lnSpc>
              <a:buNone/>
            </a:pPr>
            <a:r>
              <a:rPr lang="en-US" sz="1400" dirty="0">
                <a:solidFill>
                  <a:srgbClr val="000000"/>
                </a:solidFill>
                <a:latin typeface="ui-sans-serif" pitchFamily="34" charset="0"/>
                <a:ea typeface="ui-sans-serif" pitchFamily="34" charset="-122"/>
                <a:cs typeface="ui-sans-serif" pitchFamily="34" charset="-120"/>
              </a:rPr>
              <a:t>[Currency Amount]</a:t>
            </a:r>
            <a:endParaRPr lang="en-US" sz="1400" dirty="0"/>
          </a:p>
        </p:txBody>
      </p:sp>
      <p:sp>
        <p:nvSpPr>
          <p:cNvPr id="29" name="Text 13"/>
          <p:cNvSpPr/>
          <p:nvPr/>
        </p:nvSpPr>
        <p:spPr>
          <a:xfrm>
            <a:off x="9200704" y="2400300"/>
            <a:ext cx="2930723" cy="457200"/>
          </a:xfrm>
          <a:prstGeom prst="rect">
            <a:avLst/>
          </a:prstGeom>
          <a:noFill/>
          <a:ln/>
        </p:spPr>
        <p:txBody>
          <a:bodyPr vert="horz" wrap="square" lIns="0" tIns="0" rIns="0" bIns="0" rtlCol="0" anchor="ctr"/>
          <a:lstStyle/>
          <a:p>
            <a:pPr marL="0" indent="0" algn="ctr">
              <a:lnSpc>
                <a:spcPts val="1800"/>
              </a:lnSpc>
              <a:buNone/>
            </a:pPr>
            <a:r>
              <a:rPr lang="en-US" sz="1400" dirty="0">
                <a:solidFill>
                  <a:srgbClr val="000000"/>
                </a:solidFill>
                <a:latin typeface="ui-sans-serif" pitchFamily="34" charset="0"/>
                <a:ea typeface="ui-sans-serif" pitchFamily="34" charset="-122"/>
                <a:cs typeface="ui-sans-serif" pitchFamily="34" charset="-120"/>
              </a:rPr>
              <a:t>[Currency Amount]</a:t>
            </a:r>
            <a:endParaRPr lang="en-US" sz="1400" dirty="0"/>
          </a:p>
        </p:txBody>
      </p:sp>
      <p:sp>
        <p:nvSpPr>
          <p:cNvPr id="30" name="Text 14"/>
          <p:cNvSpPr/>
          <p:nvPr/>
        </p:nvSpPr>
        <p:spPr>
          <a:xfrm>
            <a:off x="457200" y="2857500"/>
            <a:ext cx="4103490" cy="457200"/>
          </a:xfrm>
          <a:prstGeom prst="rect">
            <a:avLst/>
          </a:prstGeom>
          <a:noFill/>
          <a:ln/>
        </p:spPr>
        <p:txBody>
          <a:bodyPr vert="horz" wrap="square" lIns="0" tIns="0" rIns="0" bIns="0" rtlCol="0" anchor="ctr"/>
          <a:lstStyle/>
          <a:p>
            <a:pPr marL="0" indent="0">
              <a:lnSpc>
                <a:spcPts val="1800"/>
              </a:lnSpc>
              <a:buNone/>
            </a:pPr>
            <a:r>
              <a:rPr lang="en-US" sz="1400" dirty="0">
                <a:solidFill>
                  <a:srgbClr val="000000"/>
                </a:solidFill>
                <a:latin typeface="ui-sans-serif" pitchFamily="34" charset="0"/>
                <a:ea typeface="ui-sans-serif" pitchFamily="34" charset="-122"/>
                <a:cs typeface="ui-sans-serif" pitchFamily="34" charset="-120"/>
              </a:rPr>
              <a:t>Total Year 1 Export Budget</a:t>
            </a:r>
            <a:endParaRPr lang="en-US" sz="1400" dirty="0"/>
          </a:p>
        </p:txBody>
      </p:sp>
      <p:sp>
        <p:nvSpPr>
          <p:cNvPr id="31" name="Text 15"/>
          <p:cNvSpPr/>
          <p:nvPr/>
        </p:nvSpPr>
        <p:spPr>
          <a:xfrm>
            <a:off x="4316790" y="2857500"/>
            <a:ext cx="2930366" cy="457200"/>
          </a:xfrm>
          <a:prstGeom prst="rect">
            <a:avLst/>
          </a:prstGeom>
          <a:noFill/>
          <a:ln/>
        </p:spPr>
        <p:txBody>
          <a:bodyPr vert="horz" wrap="square" lIns="0" tIns="0" rIns="0" bIns="0" rtlCol="0" anchor="ctr"/>
          <a:lstStyle/>
          <a:p>
            <a:pPr marL="0" indent="0" algn="ctr">
              <a:lnSpc>
                <a:spcPts val="1800"/>
              </a:lnSpc>
              <a:buNone/>
            </a:pPr>
            <a:r>
              <a:rPr lang="en-US" sz="1400" dirty="0">
                <a:solidFill>
                  <a:srgbClr val="000000"/>
                </a:solidFill>
                <a:latin typeface="ui-sans-serif" pitchFamily="34" charset="0"/>
                <a:ea typeface="ui-sans-serif" pitchFamily="34" charset="-122"/>
                <a:cs typeface="ui-sans-serif" pitchFamily="34" charset="-120"/>
              </a:rPr>
              <a:t>[Currency Amount]</a:t>
            </a:r>
            <a:endParaRPr lang="en-US" sz="1400" dirty="0"/>
          </a:p>
        </p:txBody>
      </p:sp>
      <p:sp>
        <p:nvSpPr>
          <p:cNvPr id="32" name="Text 16"/>
          <p:cNvSpPr/>
          <p:nvPr/>
        </p:nvSpPr>
        <p:spPr>
          <a:xfrm>
            <a:off x="7002959" y="2857500"/>
            <a:ext cx="2441972" cy="457200"/>
          </a:xfrm>
          <a:prstGeom prst="rect">
            <a:avLst/>
          </a:prstGeom>
          <a:noFill/>
          <a:ln/>
        </p:spPr>
        <p:txBody>
          <a:bodyPr vert="horz" wrap="square" lIns="0" tIns="0" rIns="0" bIns="0" rtlCol="0" anchor="ctr"/>
          <a:lstStyle/>
          <a:p>
            <a:pPr marL="0" indent="0" algn="ctr">
              <a:lnSpc>
                <a:spcPts val="1800"/>
              </a:lnSpc>
              <a:buNone/>
            </a:pPr>
            <a:r>
              <a:rPr lang="en-US" sz="1400" dirty="0">
                <a:solidFill>
                  <a:srgbClr val="000000"/>
                </a:solidFill>
                <a:latin typeface="ui-sans-serif" pitchFamily="34" charset="0"/>
                <a:ea typeface="ui-sans-serif" pitchFamily="34" charset="-122"/>
                <a:cs typeface="ui-sans-serif" pitchFamily="34" charset="-120"/>
              </a:rPr>
              <a:t>N/A</a:t>
            </a:r>
            <a:endParaRPr lang="en-US" sz="1400" dirty="0"/>
          </a:p>
        </p:txBody>
      </p:sp>
      <p:sp>
        <p:nvSpPr>
          <p:cNvPr id="33" name="Text 17"/>
          <p:cNvSpPr/>
          <p:nvPr/>
        </p:nvSpPr>
        <p:spPr>
          <a:xfrm>
            <a:off x="9444930" y="2857500"/>
            <a:ext cx="2442270" cy="457200"/>
          </a:xfrm>
          <a:prstGeom prst="rect">
            <a:avLst/>
          </a:prstGeom>
          <a:noFill/>
          <a:ln/>
        </p:spPr>
        <p:txBody>
          <a:bodyPr vert="horz" wrap="square" lIns="0" tIns="0" rIns="0" bIns="0" rtlCol="0" anchor="ctr"/>
          <a:lstStyle/>
          <a:p>
            <a:pPr marL="0" indent="0" algn="ctr">
              <a:lnSpc>
                <a:spcPts val="1800"/>
              </a:lnSpc>
              <a:buNone/>
            </a:pPr>
            <a:r>
              <a:rPr lang="en-US" sz="1400" dirty="0">
                <a:solidFill>
                  <a:srgbClr val="000000"/>
                </a:solidFill>
                <a:latin typeface="ui-sans-serif" pitchFamily="34" charset="0"/>
                <a:ea typeface="ui-sans-serif" pitchFamily="34" charset="-122"/>
                <a:cs typeface="ui-sans-serif" pitchFamily="34" charset="-120"/>
              </a:rPr>
              <a:t>N/A</a:t>
            </a:r>
            <a:endParaRPr lang="en-US" sz="1400" dirty="0"/>
          </a:p>
        </p:txBody>
      </p:sp>
      <p:sp>
        <p:nvSpPr>
          <p:cNvPr id="34" name="Text 18"/>
          <p:cNvSpPr/>
          <p:nvPr/>
        </p:nvSpPr>
        <p:spPr>
          <a:xfrm>
            <a:off x="457200" y="3314700"/>
            <a:ext cx="4103490" cy="457200"/>
          </a:xfrm>
          <a:prstGeom prst="rect">
            <a:avLst/>
          </a:prstGeom>
          <a:noFill/>
          <a:ln/>
        </p:spPr>
        <p:txBody>
          <a:bodyPr vert="horz" wrap="square" lIns="0" tIns="0" rIns="0" bIns="0" rtlCol="0" anchor="ctr"/>
          <a:lstStyle/>
          <a:p>
            <a:pPr marL="0" indent="0">
              <a:lnSpc>
                <a:spcPts val="1800"/>
              </a:lnSpc>
              <a:buNone/>
            </a:pPr>
            <a:r>
              <a:rPr lang="en-US" sz="1400" dirty="0">
                <a:solidFill>
                  <a:srgbClr val="000000"/>
                </a:solidFill>
                <a:latin typeface="ui-sans-serif" pitchFamily="34" charset="0"/>
                <a:ea typeface="ui-sans-serif" pitchFamily="34" charset="-122"/>
                <a:cs typeface="ui-sans-serif" pitchFamily="34" charset="-120"/>
              </a:rPr>
              <a:t>Break-Even Point (Units)</a:t>
            </a:r>
            <a:endParaRPr lang="en-US" sz="1400" dirty="0"/>
          </a:p>
        </p:txBody>
      </p:sp>
      <p:sp>
        <p:nvSpPr>
          <p:cNvPr id="35" name="Text 19"/>
          <p:cNvSpPr/>
          <p:nvPr/>
        </p:nvSpPr>
        <p:spPr>
          <a:xfrm>
            <a:off x="4560987" y="3314700"/>
            <a:ext cx="2441972" cy="457200"/>
          </a:xfrm>
          <a:prstGeom prst="rect">
            <a:avLst/>
          </a:prstGeom>
          <a:noFill/>
          <a:ln/>
        </p:spPr>
        <p:txBody>
          <a:bodyPr vert="horz" wrap="square" lIns="0" tIns="0" rIns="0" bIns="0" rtlCol="0" anchor="ctr"/>
          <a:lstStyle/>
          <a:p>
            <a:pPr marL="0" indent="0" algn="ctr">
              <a:lnSpc>
                <a:spcPts val="1800"/>
              </a:lnSpc>
              <a:buNone/>
            </a:pPr>
            <a:r>
              <a:rPr lang="en-US" sz="1400" dirty="0">
                <a:solidFill>
                  <a:srgbClr val="000000"/>
                </a:solidFill>
                <a:latin typeface="ui-sans-serif" pitchFamily="34" charset="0"/>
                <a:ea typeface="ui-sans-serif" pitchFamily="34" charset="-122"/>
                <a:cs typeface="ui-sans-serif" pitchFamily="34" charset="-120"/>
              </a:rPr>
              <a:t>[Number]</a:t>
            </a:r>
            <a:endParaRPr lang="en-US" sz="1400" dirty="0"/>
          </a:p>
        </p:txBody>
      </p:sp>
      <p:sp>
        <p:nvSpPr>
          <p:cNvPr id="36" name="Text 20"/>
          <p:cNvSpPr/>
          <p:nvPr/>
        </p:nvSpPr>
        <p:spPr>
          <a:xfrm>
            <a:off x="7002959" y="3314700"/>
            <a:ext cx="2441972" cy="457200"/>
          </a:xfrm>
          <a:prstGeom prst="rect">
            <a:avLst/>
          </a:prstGeom>
          <a:noFill/>
          <a:ln/>
        </p:spPr>
        <p:txBody>
          <a:bodyPr vert="horz" wrap="square" lIns="0" tIns="0" rIns="0" bIns="0" rtlCol="0" anchor="ctr"/>
          <a:lstStyle/>
          <a:p>
            <a:pPr marL="0" indent="0" algn="ctr">
              <a:lnSpc>
                <a:spcPts val="1800"/>
              </a:lnSpc>
              <a:buNone/>
            </a:pPr>
            <a:r>
              <a:rPr lang="en-US" sz="1400" dirty="0">
                <a:solidFill>
                  <a:srgbClr val="000000"/>
                </a:solidFill>
                <a:latin typeface="ui-sans-serif" pitchFamily="34" charset="0"/>
                <a:ea typeface="ui-sans-serif" pitchFamily="34" charset="-122"/>
                <a:cs typeface="ui-sans-serif" pitchFamily="34" charset="-120"/>
              </a:rPr>
              <a:t>N/A</a:t>
            </a:r>
            <a:endParaRPr lang="en-US" sz="1400" dirty="0"/>
          </a:p>
        </p:txBody>
      </p:sp>
      <p:sp>
        <p:nvSpPr>
          <p:cNvPr id="37" name="Text 21"/>
          <p:cNvSpPr/>
          <p:nvPr/>
        </p:nvSpPr>
        <p:spPr>
          <a:xfrm>
            <a:off x="9444930" y="3314700"/>
            <a:ext cx="2442270" cy="457200"/>
          </a:xfrm>
          <a:prstGeom prst="rect">
            <a:avLst/>
          </a:prstGeom>
          <a:noFill/>
          <a:ln/>
        </p:spPr>
        <p:txBody>
          <a:bodyPr vert="horz" wrap="square" lIns="0" tIns="0" rIns="0" bIns="0" rtlCol="0" anchor="ctr"/>
          <a:lstStyle/>
          <a:p>
            <a:pPr marL="0" indent="0" algn="ctr">
              <a:lnSpc>
                <a:spcPts val="1800"/>
              </a:lnSpc>
              <a:buNone/>
            </a:pPr>
            <a:r>
              <a:rPr lang="en-US" sz="1400" dirty="0">
                <a:solidFill>
                  <a:srgbClr val="000000"/>
                </a:solidFill>
                <a:latin typeface="ui-sans-serif" pitchFamily="34" charset="0"/>
                <a:ea typeface="ui-sans-serif" pitchFamily="34" charset="-122"/>
                <a:cs typeface="ui-sans-serif" pitchFamily="34" charset="-120"/>
              </a:rPr>
              <a:t>N/A</a:t>
            </a:r>
            <a:endParaRPr lang="en-US" sz="1400" dirty="0"/>
          </a:p>
        </p:txBody>
      </p:sp>
      <p:sp>
        <p:nvSpPr>
          <p:cNvPr id="38" name="Text 22"/>
          <p:cNvSpPr/>
          <p:nvPr/>
        </p:nvSpPr>
        <p:spPr>
          <a:xfrm>
            <a:off x="457200" y="4152900"/>
            <a:ext cx="5372100" cy="266700"/>
          </a:xfrm>
          <a:prstGeom prst="rect">
            <a:avLst/>
          </a:prstGeom>
          <a:noFill/>
          <a:ln/>
        </p:spPr>
        <p:txBody>
          <a:bodyPr vert="horz" wrap="square" lIns="0" tIns="0" rIns="0" bIns="0" rtlCol="0" anchor="t"/>
          <a:lstStyle/>
          <a:p>
            <a:pPr marL="0" indent="0">
              <a:lnSpc>
                <a:spcPts val="2100"/>
              </a:lnSpc>
              <a:buNone/>
            </a:pPr>
            <a:r>
              <a:rPr lang="en-US" sz="2000" b="1" dirty="0">
                <a:solidFill>
                  <a:srgbClr val="1F2937"/>
                </a:solidFill>
                <a:latin typeface="ui-sans-serif" pitchFamily="34" charset="0"/>
                <a:ea typeface="ui-sans-serif" pitchFamily="34" charset="-122"/>
                <a:cs typeface="ui-sans-serif" pitchFamily="34" charset="-120"/>
              </a:rPr>
              <a:t>Sales Growth Projection</a:t>
            </a:r>
            <a:endParaRPr lang="en-US" sz="2000" dirty="0"/>
          </a:p>
        </p:txBody>
      </p:sp>
      <p:sp>
        <p:nvSpPr>
          <p:cNvPr id="39" name="Text 23"/>
          <p:cNvSpPr/>
          <p:nvPr/>
        </p:nvSpPr>
        <p:spPr>
          <a:xfrm>
            <a:off x="6362700" y="4152900"/>
            <a:ext cx="5372100" cy="266700"/>
          </a:xfrm>
          <a:prstGeom prst="rect">
            <a:avLst/>
          </a:prstGeom>
          <a:noFill/>
          <a:ln/>
        </p:spPr>
        <p:txBody>
          <a:bodyPr vert="horz" wrap="square" lIns="0" tIns="0" rIns="0" bIns="0" rtlCol="0" anchor="t"/>
          <a:lstStyle/>
          <a:p>
            <a:pPr marL="0" indent="0">
              <a:lnSpc>
                <a:spcPts val="2100"/>
              </a:lnSpc>
              <a:buNone/>
            </a:pPr>
            <a:r>
              <a:rPr lang="en-US" sz="2000" b="1" dirty="0">
                <a:solidFill>
                  <a:srgbClr val="1F2937"/>
                </a:solidFill>
                <a:latin typeface="ui-sans-serif" pitchFamily="34" charset="0"/>
                <a:ea typeface="ui-sans-serif" pitchFamily="34" charset="-122"/>
                <a:cs typeface="ui-sans-serif" pitchFamily="34" charset="-120"/>
              </a:rPr>
              <a:t>Key Financial Insights</a:t>
            </a:r>
            <a:endParaRPr lang="en-US" sz="2000" dirty="0"/>
          </a:p>
        </p:txBody>
      </p:sp>
      <p:sp>
        <p:nvSpPr>
          <p:cNvPr id="40" name="Text 24"/>
          <p:cNvSpPr/>
          <p:nvPr/>
        </p:nvSpPr>
        <p:spPr>
          <a:xfrm>
            <a:off x="6591300" y="4566920"/>
            <a:ext cx="5143500"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000000"/>
                </a:solidFill>
                <a:latin typeface="ui-sans-serif" pitchFamily="34" charset="0"/>
                <a:ea typeface="ui-sans-serif" pitchFamily="34" charset="-122"/>
                <a:cs typeface="ui-sans-serif" pitchFamily="34" charset="-120"/>
              </a:rPr>
              <a:t>Sales forecast based on market size analysis and planned marketing efforts</a:t>
            </a:r>
            <a:endParaRPr lang="en-US" sz="1400" dirty="0"/>
          </a:p>
        </p:txBody>
      </p:sp>
      <p:sp>
        <p:nvSpPr>
          <p:cNvPr id="41" name="Text 25"/>
          <p:cNvSpPr/>
          <p:nvPr/>
        </p:nvSpPr>
        <p:spPr>
          <a:xfrm>
            <a:off x="6591300" y="5100320"/>
            <a:ext cx="5153501" cy="228600"/>
          </a:xfrm>
          <a:prstGeom prst="rect">
            <a:avLst/>
          </a:prstGeom>
          <a:noFill/>
          <a:ln/>
        </p:spPr>
        <p:txBody>
          <a:bodyPr vert="horz" wrap="square" lIns="0" tIns="0" rIns="0" bIns="0" rtlCol="0" anchor="t"/>
          <a:lstStyle/>
          <a:p>
            <a:pPr marL="0" indent="0" algn="l">
              <a:lnSpc>
                <a:spcPts val="1800"/>
              </a:lnSpc>
              <a:buNone/>
            </a:pPr>
            <a:r>
              <a:rPr lang="en-US" sz="1400" dirty="0">
                <a:solidFill>
                  <a:srgbClr val="000000"/>
                </a:solidFill>
                <a:latin typeface="ui-sans-serif" pitchFamily="34" charset="0"/>
                <a:ea typeface="ui-sans-serif" pitchFamily="34" charset="-122"/>
                <a:cs typeface="ui-sans-serif" pitchFamily="34" charset="-120"/>
              </a:rPr>
              <a:t>Break-even analysis indicates viability of export venture</a:t>
            </a:r>
            <a:endParaRPr lang="en-US" sz="1400" dirty="0"/>
          </a:p>
        </p:txBody>
      </p:sp>
      <p:sp>
        <p:nvSpPr>
          <p:cNvPr id="42" name="Text 26"/>
          <p:cNvSpPr/>
          <p:nvPr/>
        </p:nvSpPr>
        <p:spPr>
          <a:xfrm>
            <a:off x="6591300" y="5405120"/>
            <a:ext cx="5143500"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000000"/>
                </a:solidFill>
                <a:latin typeface="ui-sans-serif" pitchFamily="34" charset="0"/>
                <a:ea typeface="ui-sans-serif" pitchFamily="34" charset="-122"/>
                <a:cs typeface="ui-sans-serif" pitchFamily="34" charset="-120"/>
              </a:rPr>
              <a:t>Year 1 budget encompasses all estimated costs including a contingency</a:t>
            </a:r>
            <a:endParaRPr lang="en-US" sz="1400" dirty="0"/>
          </a:p>
        </p:txBody>
      </p:sp>
      <p:sp>
        <p:nvSpPr>
          <p:cNvPr id="43" name="Text 27"/>
          <p:cNvSpPr/>
          <p:nvPr/>
        </p:nvSpPr>
        <p:spPr>
          <a:xfrm>
            <a:off x="11274921" y="6477000"/>
            <a:ext cx="643295"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12 / 16</a:t>
            </a:r>
            <a:endParaRPr lang="en-US" sz="1200" dirty="0"/>
          </a:p>
        </p:txBody>
      </p:sp>
      <p:pic>
        <p:nvPicPr>
          <p:cNvPr id="44" name="Picture 43" descr="A blue letters on a black background&#10;&#10;AI-generated content may be incorrect.">
            <a:extLst>
              <a:ext uri="{FF2B5EF4-FFF2-40B4-BE49-F238E27FC236}">
                <a16:creationId xmlns:a16="http://schemas.microsoft.com/office/drawing/2014/main" id="{1EB9C11E-7A3C-385D-6540-5F6AB5D206E7}"/>
              </a:ext>
            </a:extLst>
          </p:cNvPr>
          <p:cNvPicPr>
            <a:picLocks noChangeAspect="1"/>
          </p:cNvPicPr>
          <p:nvPr/>
        </p:nvPicPr>
        <p:blipFill>
          <a:blip r:embed="rId14"/>
          <a:stretch>
            <a:fillRect/>
          </a:stretch>
        </p:blipFill>
        <p:spPr>
          <a:xfrm>
            <a:off x="10825377" y="233170"/>
            <a:ext cx="1052680" cy="2606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down)">
                                      <p:cBhvr>
                                        <p:cTn id="21" dur="500"/>
                                        <p:tgtEl>
                                          <p:spTgt spid="8"/>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wipe(down)">
                                      <p:cBhvr>
                                        <p:cTn id="24" dur="500"/>
                                        <p:tgtEl>
                                          <p:spTgt spid="26"/>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down)">
                                      <p:cBhvr>
                                        <p:cTn id="27" dur="500"/>
                                        <p:tgtEl>
                                          <p:spTgt spid="27"/>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wipe(down)">
                                      <p:cBhvr>
                                        <p:cTn id="30" dur="500"/>
                                        <p:tgtEl>
                                          <p:spTgt spid="28"/>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wipe(down)">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barn(inVertical)">
                                      <p:cBhvr>
                                        <p:cTn id="38" dur="500"/>
                                        <p:tgtEl>
                                          <p:spTgt spid="30"/>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barn(inVertical)">
                                      <p:cBhvr>
                                        <p:cTn id="41" dur="500"/>
                                        <p:tgtEl>
                                          <p:spTgt spid="31"/>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barn(inVertical)">
                                      <p:cBhvr>
                                        <p:cTn id="44" dur="500"/>
                                        <p:tgtEl>
                                          <p:spTgt spid="32"/>
                                        </p:tgtEl>
                                      </p:cBhvr>
                                    </p:animEffect>
                                  </p:childTnLst>
                                </p:cTn>
                              </p:par>
                              <p:par>
                                <p:cTn id="45" presetID="16" presetClass="entr" presetSubtype="21"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barn(inVertical)">
                                      <p:cBhvr>
                                        <p:cTn id="47" dur="500"/>
                                        <p:tgtEl>
                                          <p:spTgt spid="33"/>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circle(in)">
                                      <p:cBhvr>
                                        <p:cTn id="52" dur="2000"/>
                                        <p:tgtEl>
                                          <p:spTgt spid="9"/>
                                        </p:tgtEl>
                                      </p:cBhvr>
                                    </p:animEffect>
                                  </p:childTnLst>
                                </p:cTn>
                              </p:par>
                              <p:par>
                                <p:cTn id="53" presetID="6" presetClass="entr" presetSubtype="16"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circle(in)">
                                      <p:cBhvr>
                                        <p:cTn id="55" dur="2000"/>
                                        <p:tgtEl>
                                          <p:spTgt spid="34"/>
                                        </p:tgtEl>
                                      </p:cBhvr>
                                    </p:animEffect>
                                  </p:childTnLst>
                                </p:cTn>
                              </p:par>
                              <p:par>
                                <p:cTn id="56" presetID="6" presetClass="entr" presetSubtype="16" fill="hold" grpId="0" nodeType="with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circle(in)">
                                      <p:cBhvr>
                                        <p:cTn id="58" dur="2000"/>
                                        <p:tgtEl>
                                          <p:spTgt spid="35"/>
                                        </p:tgtEl>
                                      </p:cBhvr>
                                    </p:animEffect>
                                  </p:childTnLst>
                                </p:cTn>
                              </p:par>
                              <p:par>
                                <p:cTn id="59" presetID="6" presetClass="entr" presetSubtype="16" fill="hold" grpId="0" nodeType="with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circle(in)">
                                      <p:cBhvr>
                                        <p:cTn id="61" dur="2000"/>
                                        <p:tgtEl>
                                          <p:spTgt spid="36"/>
                                        </p:tgtEl>
                                      </p:cBhvr>
                                    </p:animEffect>
                                  </p:childTnLst>
                                </p:cTn>
                              </p:par>
                              <p:par>
                                <p:cTn id="62" presetID="6" presetClass="entr" presetSubtype="16" fill="hold" grpId="0" nodeType="withEffect">
                                  <p:stCondLst>
                                    <p:cond delay="0"/>
                                  </p:stCondLst>
                                  <p:childTnLst>
                                    <p:set>
                                      <p:cBhvr>
                                        <p:cTn id="63" dur="1" fill="hold">
                                          <p:stCondLst>
                                            <p:cond delay="0"/>
                                          </p:stCondLst>
                                        </p:cTn>
                                        <p:tgtEl>
                                          <p:spTgt spid="37"/>
                                        </p:tgtEl>
                                        <p:attrNameLst>
                                          <p:attrName>style.visibility</p:attrName>
                                        </p:attrNameLst>
                                      </p:cBhvr>
                                      <p:to>
                                        <p:strVal val="visible"/>
                                      </p:to>
                                    </p:set>
                                    <p:animEffect transition="in" filter="circle(in)">
                                      <p:cBhvr>
                                        <p:cTn id="64" dur="2000"/>
                                        <p:tgtEl>
                                          <p:spTgt spid="37"/>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10"/>
                                        </p:tgtEl>
                                        <p:attrNameLst>
                                          <p:attrName>style.visibility</p:attrName>
                                        </p:attrNameLst>
                                      </p:cBhvr>
                                      <p:to>
                                        <p:strVal val="visible"/>
                                      </p:to>
                                    </p:set>
                                    <p:anim calcmode="lin" valueType="num">
                                      <p:cBhvr additive="base">
                                        <p:cTn id="69" dur="500" fill="hold"/>
                                        <p:tgtEl>
                                          <p:spTgt spid="10"/>
                                        </p:tgtEl>
                                        <p:attrNameLst>
                                          <p:attrName>ppt_x</p:attrName>
                                        </p:attrNameLst>
                                      </p:cBhvr>
                                      <p:tavLst>
                                        <p:tav tm="0">
                                          <p:val>
                                            <p:strVal val="#ppt_x"/>
                                          </p:val>
                                        </p:tav>
                                        <p:tav tm="100000">
                                          <p:val>
                                            <p:strVal val="#ppt_x"/>
                                          </p:val>
                                        </p:tav>
                                      </p:tavLst>
                                    </p:anim>
                                    <p:anim calcmode="lin" valueType="num">
                                      <p:cBhvr additive="base">
                                        <p:cTn id="70" dur="500" fill="hold"/>
                                        <p:tgtEl>
                                          <p:spTgt spid="10"/>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11"/>
                                        </p:tgtEl>
                                        <p:attrNameLst>
                                          <p:attrName>style.visibility</p:attrName>
                                        </p:attrNameLst>
                                      </p:cBhvr>
                                      <p:to>
                                        <p:strVal val="visible"/>
                                      </p:to>
                                    </p:set>
                                    <p:anim calcmode="lin" valueType="num">
                                      <p:cBhvr additive="base">
                                        <p:cTn id="73" dur="500" fill="hold"/>
                                        <p:tgtEl>
                                          <p:spTgt spid="11"/>
                                        </p:tgtEl>
                                        <p:attrNameLst>
                                          <p:attrName>ppt_x</p:attrName>
                                        </p:attrNameLst>
                                      </p:cBhvr>
                                      <p:tavLst>
                                        <p:tav tm="0">
                                          <p:val>
                                            <p:strVal val="#ppt_x"/>
                                          </p:val>
                                        </p:tav>
                                        <p:tav tm="100000">
                                          <p:val>
                                            <p:strVal val="#ppt_x"/>
                                          </p:val>
                                        </p:tav>
                                      </p:tavLst>
                                    </p:anim>
                                    <p:anim calcmode="lin" valueType="num">
                                      <p:cBhvr additive="base">
                                        <p:cTn id="74" dur="500" fill="hold"/>
                                        <p:tgtEl>
                                          <p:spTgt spid="11"/>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38"/>
                                        </p:tgtEl>
                                        <p:attrNameLst>
                                          <p:attrName>style.visibility</p:attrName>
                                        </p:attrNameLst>
                                      </p:cBhvr>
                                      <p:to>
                                        <p:strVal val="visible"/>
                                      </p:to>
                                    </p:set>
                                    <p:anim calcmode="lin" valueType="num">
                                      <p:cBhvr additive="base">
                                        <p:cTn id="77" dur="500" fill="hold"/>
                                        <p:tgtEl>
                                          <p:spTgt spid="38"/>
                                        </p:tgtEl>
                                        <p:attrNameLst>
                                          <p:attrName>ppt_x</p:attrName>
                                        </p:attrNameLst>
                                      </p:cBhvr>
                                      <p:tavLst>
                                        <p:tav tm="0">
                                          <p:val>
                                            <p:strVal val="#ppt_x"/>
                                          </p:val>
                                        </p:tav>
                                        <p:tav tm="100000">
                                          <p:val>
                                            <p:strVal val="#ppt_x"/>
                                          </p:val>
                                        </p:tav>
                                      </p:tavLst>
                                    </p:anim>
                                    <p:anim calcmode="lin" valueType="num">
                                      <p:cBhvr additive="base">
                                        <p:cTn id="78"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nodeType="clickEffect">
                                  <p:stCondLst>
                                    <p:cond delay="0"/>
                                  </p:stCondLst>
                                  <p:childTnLst>
                                    <p:set>
                                      <p:cBhvr>
                                        <p:cTn id="82" dur="1" fill="hold">
                                          <p:stCondLst>
                                            <p:cond delay="0"/>
                                          </p:stCondLst>
                                        </p:cTn>
                                        <p:tgtEl>
                                          <p:spTgt spid="12"/>
                                        </p:tgtEl>
                                        <p:attrNameLst>
                                          <p:attrName>style.visibility</p:attrName>
                                        </p:attrNameLst>
                                      </p:cBhvr>
                                      <p:to>
                                        <p:strVal val="visible"/>
                                      </p:to>
                                    </p:set>
                                    <p:animEffect transition="in" filter="fade">
                                      <p:cBhvr>
                                        <p:cTn id="83" dur="1000"/>
                                        <p:tgtEl>
                                          <p:spTgt spid="12"/>
                                        </p:tgtEl>
                                      </p:cBhvr>
                                    </p:animEffect>
                                    <p:anim calcmode="lin" valueType="num">
                                      <p:cBhvr>
                                        <p:cTn id="84" dur="1000" fill="hold"/>
                                        <p:tgtEl>
                                          <p:spTgt spid="12"/>
                                        </p:tgtEl>
                                        <p:attrNameLst>
                                          <p:attrName>ppt_x</p:attrName>
                                        </p:attrNameLst>
                                      </p:cBhvr>
                                      <p:tavLst>
                                        <p:tav tm="0">
                                          <p:val>
                                            <p:strVal val="#ppt_x"/>
                                          </p:val>
                                        </p:tav>
                                        <p:tav tm="100000">
                                          <p:val>
                                            <p:strVal val="#ppt_x"/>
                                          </p:val>
                                        </p:tav>
                                      </p:tavLst>
                                    </p:anim>
                                    <p:anim calcmode="lin" valueType="num">
                                      <p:cBhvr>
                                        <p:cTn id="85" dur="1000" fill="hold"/>
                                        <p:tgtEl>
                                          <p:spTgt spid="12"/>
                                        </p:tgtEl>
                                        <p:attrNameLst>
                                          <p:attrName>ppt_y</p:attrName>
                                        </p:attrNameLst>
                                      </p:cBhvr>
                                      <p:tavLst>
                                        <p:tav tm="0">
                                          <p:val>
                                            <p:strVal val="#ppt_y+.1"/>
                                          </p:val>
                                        </p:tav>
                                        <p:tav tm="100000">
                                          <p:val>
                                            <p:strVal val="#ppt_y"/>
                                          </p:val>
                                        </p:tav>
                                      </p:tavLst>
                                    </p:anim>
                                  </p:childTnLst>
                                </p:cTn>
                              </p:par>
                              <p:par>
                                <p:cTn id="86" presetID="42" presetClass="entr" presetSubtype="0" fill="hold" nodeType="withEffect">
                                  <p:stCondLst>
                                    <p:cond delay="0"/>
                                  </p:stCondLst>
                                  <p:childTnLst>
                                    <p:set>
                                      <p:cBhvr>
                                        <p:cTn id="87" dur="1" fill="hold">
                                          <p:stCondLst>
                                            <p:cond delay="0"/>
                                          </p:stCondLst>
                                        </p:cTn>
                                        <p:tgtEl>
                                          <p:spTgt spid="13"/>
                                        </p:tgtEl>
                                        <p:attrNameLst>
                                          <p:attrName>style.visibility</p:attrName>
                                        </p:attrNameLst>
                                      </p:cBhvr>
                                      <p:to>
                                        <p:strVal val="visible"/>
                                      </p:to>
                                    </p:set>
                                    <p:animEffect transition="in" filter="fade">
                                      <p:cBhvr>
                                        <p:cTn id="88" dur="1000"/>
                                        <p:tgtEl>
                                          <p:spTgt spid="13"/>
                                        </p:tgtEl>
                                      </p:cBhvr>
                                    </p:animEffect>
                                    <p:anim calcmode="lin" valueType="num">
                                      <p:cBhvr>
                                        <p:cTn id="89" dur="1000" fill="hold"/>
                                        <p:tgtEl>
                                          <p:spTgt spid="13"/>
                                        </p:tgtEl>
                                        <p:attrNameLst>
                                          <p:attrName>ppt_x</p:attrName>
                                        </p:attrNameLst>
                                      </p:cBhvr>
                                      <p:tavLst>
                                        <p:tav tm="0">
                                          <p:val>
                                            <p:strVal val="#ppt_x"/>
                                          </p:val>
                                        </p:tav>
                                        <p:tav tm="100000">
                                          <p:val>
                                            <p:strVal val="#ppt_x"/>
                                          </p:val>
                                        </p:tav>
                                      </p:tavLst>
                                    </p:anim>
                                    <p:anim calcmode="lin" valueType="num">
                                      <p:cBhvr>
                                        <p:cTn id="90" dur="1000" fill="hold"/>
                                        <p:tgtEl>
                                          <p:spTgt spid="13"/>
                                        </p:tgtEl>
                                        <p:attrNameLst>
                                          <p:attrName>ppt_y</p:attrName>
                                        </p:attrNameLst>
                                      </p:cBhvr>
                                      <p:tavLst>
                                        <p:tav tm="0">
                                          <p:val>
                                            <p:strVal val="#ppt_y+.1"/>
                                          </p:val>
                                        </p:tav>
                                        <p:tav tm="100000">
                                          <p:val>
                                            <p:strVal val="#ppt_y"/>
                                          </p:val>
                                        </p:tav>
                                      </p:tavLst>
                                    </p:anim>
                                  </p:childTnLst>
                                </p:cTn>
                              </p:par>
                              <p:par>
                                <p:cTn id="91" presetID="42" presetClass="entr" presetSubtype="0" fill="hold" nodeType="withEffect">
                                  <p:stCondLst>
                                    <p:cond delay="0"/>
                                  </p:stCondLst>
                                  <p:childTnLst>
                                    <p:set>
                                      <p:cBhvr>
                                        <p:cTn id="92" dur="1" fill="hold">
                                          <p:stCondLst>
                                            <p:cond delay="0"/>
                                          </p:stCondLst>
                                        </p:cTn>
                                        <p:tgtEl>
                                          <p:spTgt spid="14"/>
                                        </p:tgtEl>
                                        <p:attrNameLst>
                                          <p:attrName>style.visibility</p:attrName>
                                        </p:attrNameLst>
                                      </p:cBhvr>
                                      <p:to>
                                        <p:strVal val="visible"/>
                                      </p:to>
                                    </p:set>
                                    <p:animEffect transition="in" filter="fade">
                                      <p:cBhvr>
                                        <p:cTn id="93" dur="1000"/>
                                        <p:tgtEl>
                                          <p:spTgt spid="14"/>
                                        </p:tgtEl>
                                      </p:cBhvr>
                                    </p:animEffect>
                                    <p:anim calcmode="lin" valueType="num">
                                      <p:cBhvr>
                                        <p:cTn id="94" dur="1000" fill="hold"/>
                                        <p:tgtEl>
                                          <p:spTgt spid="14"/>
                                        </p:tgtEl>
                                        <p:attrNameLst>
                                          <p:attrName>ppt_x</p:attrName>
                                        </p:attrNameLst>
                                      </p:cBhvr>
                                      <p:tavLst>
                                        <p:tav tm="0">
                                          <p:val>
                                            <p:strVal val="#ppt_x"/>
                                          </p:val>
                                        </p:tav>
                                        <p:tav tm="100000">
                                          <p:val>
                                            <p:strVal val="#ppt_x"/>
                                          </p:val>
                                        </p:tav>
                                      </p:tavLst>
                                    </p:anim>
                                    <p:anim calcmode="lin" valueType="num">
                                      <p:cBhvr>
                                        <p:cTn id="95" dur="1000" fill="hold"/>
                                        <p:tgtEl>
                                          <p:spTgt spid="14"/>
                                        </p:tgtEl>
                                        <p:attrNameLst>
                                          <p:attrName>ppt_y</p:attrName>
                                        </p:attrNameLst>
                                      </p:cBhvr>
                                      <p:tavLst>
                                        <p:tav tm="0">
                                          <p:val>
                                            <p:strVal val="#ppt_y+.1"/>
                                          </p:val>
                                        </p:tav>
                                        <p:tav tm="100000">
                                          <p:val>
                                            <p:strVal val="#ppt_y"/>
                                          </p:val>
                                        </p:tav>
                                      </p:tavLst>
                                    </p:anim>
                                  </p:childTnLst>
                                </p:cTn>
                              </p:par>
                              <p:par>
                                <p:cTn id="96" presetID="42" presetClass="entr" presetSubtype="0" fill="hold" nodeType="withEffect">
                                  <p:stCondLst>
                                    <p:cond delay="0"/>
                                  </p:stCondLst>
                                  <p:childTnLst>
                                    <p:set>
                                      <p:cBhvr>
                                        <p:cTn id="97" dur="1" fill="hold">
                                          <p:stCondLst>
                                            <p:cond delay="0"/>
                                          </p:stCondLst>
                                        </p:cTn>
                                        <p:tgtEl>
                                          <p:spTgt spid="15"/>
                                        </p:tgtEl>
                                        <p:attrNameLst>
                                          <p:attrName>style.visibility</p:attrName>
                                        </p:attrNameLst>
                                      </p:cBhvr>
                                      <p:to>
                                        <p:strVal val="visible"/>
                                      </p:to>
                                    </p:set>
                                    <p:animEffect transition="in" filter="fade">
                                      <p:cBhvr>
                                        <p:cTn id="98" dur="1000"/>
                                        <p:tgtEl>
                                          <p:spTgt spid="15"/>
                                        </p:tgtEl>
                                      </p:cBhvr>
                                    </p:animEffect>
                                    <p:anim calcmode="lin" valueType="num">
                                      <p:cBhvr>
                                        <p:cTn id="99" dur="1000" fill="hold"/>
                                        <p:tgtEl>
                                          <p:spTgt spid="15"/>
                                        </p:tgtEl>
                                        <p:attrNameLst>
                                          <p:attrName>ppt_x</p:attrName>
                                        </p:attrNameLst>
                                      </p:cBhvr>
                                      <p:tavLst>
                                        <p:tav tm="0">
                                          <p:val>
                                            <p:strVal val="#ppt_x"/>
                                          </p:val>
                                        </p:tav>
                                        <p:tav tm="100000">
                                          <p:val>
                                            <p:strVal val="#ppt_x"/>
                                          </p:val>
                                        </p:tav>
                                      </p:tavLst>
                                    </p:anim>
                                    <p:anim calcmode="lin" valueType="num">
                                      <p:cBhvr>
                                        <p:cTn id="100" dur="1000" fill="hold"/>
                                        <p:tgtEl>
                                          <p:spTgt spid="15"/>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39"/>
                                        </p:tgtEl>
                                        <p:attrNameLst>
                                          <p:attrName>style.visibility</p:attrName>
                                        </p:attrNameLst>
                                      </p:cBhvr>
                                      <p:to>
                                        <p:strVal val="visible"/>
                                      </p:to>
                                    </p:set>
                                    <p:animEffect transition="in" filter="fade">
                                      <p:cBhvr>
                                        <p:cTn id="103" dur="1000"/>
                                        <p:tgtEl>
                                          <p:spTgt spid="39"/>
                                        </p:tgtEl>
                                      </p:cBhvr>
                                    </p:animEffect>
                                    <p:anim calcmode="lin" valueType="num">
                                      <p:cBhvr>
                                        <p:cTn id="104" dur="1000" fill="hold"/>
                                        <p:tgtEl>
                                          <p:spTgt spid="39"/>
                                        </p:tgtEl>
                                        <p:attrNameLst>
                                          <p:attrName>ppt_x</p:attrName>
                                        </p:attrNameLst>
                                      </p:cBhvr>
                                      <p:tavLst>
                                        <p:tav tm="0">
                                          <p:val>
                                            <p:strVal val="#ppt_x"/>
                                          </p:val>
                                        </p:tav>
                                        <p:tav tm="100000">
                                          <p:val>
                                            <p:strVal val="#ppt_x"/>
                                          </p:val>
                                        </p:tav>
                                      </p:tavLst>
                                    </p:anim>
                                    <p:anim calcmode="lin" valueType="num">
                                      <p:cBhvr>
                                        <p:cTn id="105" dur="1000" fill="hold"/>
                                        <p:tgtEl>
                                          <p:spTgt spid="39"/>
                                        </p:tgtEl>
                                        <p:attrNameLst>
                                          <p:attrName>ppt_y</p:attrName>
                                        </p:attrNameLst>
                                      </p:cBhvr>
                                      <p:tavLst>
                                        <p:tav tm="0">
                                          <p:val>
                                            <p:strVal val="#ppt_y+.1"/>
                                          </p:val>
                                        </p:tav>
                                        <p:tav tm="100000">
                                          <p:val>
                                            <p:strVal val="#ppt_y"/>
                                          </p:val>
                                        </p:tav>
                                      </p:tavLst>
                                    </p:anim>
                                  </p:childTnLst>
                                </p:cTn>
                              </p:par>
                              <p:par>
                                <p:cTn id="106" presetID="42" presetClass="entr" presetSubtype="0" fill="hold" grpId="0" nodeType="withEffect">
                                  <p:stCondLst>
                                    <p:cond delay="0"/>
                                  </p:stCondLst>
                                  <p:childTnLst>
                                    <p:set>
                                      <p:cBhvr>
                                        <p:cTn id="107" dur="1" fill="hold">
                                          <p:stCondLst>
                                            <p:cond delay="0"/>
                                          </p:stCondLst>
                                        </p:cTn>
                                        <p:tgtEl>
                                          <p:spTgt spid="40"/>
                                        </p:tgtEl>
                                        <p:attrNameLst>
                                          <p:attrName>style.visibility</p:attrName>
                                        </p:attrNameLst>
                                      </p:cBhvr>
                                      <p:to>
                                        <p:strVal val="visible"/>
                                      </p:to>
                                    </p:set>
                                    <p:animEffect transition="in" filter="fade">
                                      <p:cBhvr>
                                        <p:cTn id="108" dur="1000"/>
                                        <p:tgtEl>
                                          <p:spTgt spid="40"/>
                                        </p:tgtEl>
                                      </p:cBhvr>
                                    </p:animEffect>
                                    <p:anim calcmode="lin" valueType="num">
                                      <p:cBhvr>
                                        <p:cTn id="109" dur="1000" fill="hold"/>
                                        <p:tgtEl>
                                          <p:spTgt spid="40"/>
                                        </p:tgtEl>
                                        <p:attrNameLst>
                                          <p:attrName>ppt_x</p:attrName>
                                        </p:attrNameLst>
                                      </p:cBhvr>
                                      <p:tavLst>
                                        <p:tav tm="0">
                                          <p:val>
                                            <p:strVal val="#ppt_x"/>
                                          </p:val>
                                        </p:tav>
                                        <p:tav tm="100000">
                                          <p:val>
                                            <p:strVal val="#ppt_x"/>
                                          </p:val>
                                        </p:tav>
                                      </p:tavLst>
                                    </p:anim>
                                    <p:anim calcmode="lin" valueType="num">
                                      <p:cBhvr>
                                        <p:cTn id="110" dur="1000" fill="hold"/>
                                        <p:tgtEl>
                                          <p:spTgt spid="40"/>
                                        </p:tgtEl>
                                        <p:attrNameLst>
                                          <p:attrName>ppt_y</p:attrName>
                                        </p:attrNameLst>
                                      </p:cBhvr>
                                      <p:tavLst>
                                        <p:tav tm="0">
                                          <p:val>
                                            <p:strVal val="#ppt_y+.1"/>
                                          </p:val>
                                        </p:tav>
                                        <p:tav tm="100000">
                                          <p:val>
                                            <p:strVal val="#ppt_y"/>
                                          </p:val>
                                        </p:tav>
                                      </p:tavLst>
                                    </p:anim>
                                  </p:childTnLst>
                                </p:cTn>
                              </p:par>
                              <p:par>
                                <p:cTn id="111" presetID="42" presetClass="entr" presetSubtype="0" fill="hold" grpId="0" nodeType="withEffect">
                                  <p:stCondLst>
                                    <p:cond delay="0"/>
                                  </p:stCondLst>
                                  <p:childTnLst>
                                    <p:set>
                                      <p:cBhvr>
                                        <p:cTn id="112" dur="1" fill="hold">
                                          <p:stCondLst>
                                            <p:cond delay="0"/>
                                          </p:stCondLst>
                                        </p:cTn>
                                        <p:tgtEl>
                                          <p:spTgt spid="41"/>
                                        </p:tgtEl>
                                        <p:attrNameLst>
                                          <p:attrName>style.visibility</p:attrName>
                                        </p:attrNameLst>
                                      </p:cBhvr>
                                      <p:to>
                                        <p:strVal val="visible"/>
                                      </p:to>
                                    </p:set>
                                    <p:animEffect transition="in" filter="fade">
                                      <p:cBhvr>
                                        <p:cTn id="113" dur="1000"/>
                                        <p:tgtEl>
                                          <p:spTgt spid="41"/>
                                        </p:tgtEl>
                                      </p:cBhvr>
                                    </p:animEffect>
                                    <p:anim calcmode="lin" valueType="num">
                                      <p:cBhvr>
                                        <p:cTn id="114" dur="1000" fill="hold"/>
                                        <p:tgtEl>
                                          <p:spTgt spid="41"/>
                                        </p:tgtEl>
                                        <p:attrNameLst>
                                          <p:attrName>ppt_x</p:attrName>
                                        </p:attrNameLst>
                                      </p:cBhvr>
                                      <p:tavLst>
                                        <p:tav tm="0">
                                          <p:val>
                                            <p:strVal val="#ppt_x"/>
                                          </p:val>
                                        </p:tav>
                                        <p:tav tm="100000">
                                          <p:val>
                                            <p:strVal val="#ppt_x"/>
                                          </p:val>
                                        </p:tav>
                                      </p:tavLst>
                                    </p:anim>
                                    <p:anim calcmode="lin" valueType="num">
                                      <p:cBhvr>
                                        <p:cTn id="115" dur="1000" fill="hold"/>
                                        <p:tgtEl>
                                          <p:spTgt spid="41"/>
                                        </p:tgtEl>
                                        <p:attrNameLst>
                                          <p:attrName>ppt_y</p:attrName>
                                        </p:attrNameLst>
                                      </p:cBhvr>
                                      <p:tavLst>
                                        <p:tav tm="0">
                                          <p:val>
                                            <p:strVal val="#ppt_y+.1"/>
                                          </p:val>
                                        </p:tav>
                                        <p:tav tm="100000">
                                          <p:val>
                                            <p:strVal val="#ppt_y"/>
                                          </p:val>
                                        </p:tav>
                                      </p:tavLst>
                                    </p:anim>
                                  </p:childTnLst>
                                </p:cTn>
                              </p:par>
                              <p:par>
                                <p:cTn id="116" presetID="42" presetClass="entr" presetSubtype="0" fill="hold" grpId="0" nodeType="withEffect">
                                  <p:stCondLst>
                                    <p:cond delay="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1000"/>
                                        <p:tgtEl>
                                          <p:spTgt spid="42"/>
                                        </p:tgtEl>
                                      </p:cBhvr>
                                    </p:animEffect>
                                    <p:anim calcmode="lin" valueType="num">
                                      <p:cBhvr>
                                        <p:cTn id="119" dur="1000" fill="hold"/>
                                        <p:tgtEl>
                                          <p:spTgt spid="42"/>
                                        </p:tgtEl>
                                        <p:attrNameLst>
                                          <p:attrName>ppt_x</p:attrName>
                                        </p:attrNameLst>
                                      </p:cBhvr>
                                      <p:tavLst>
                                        <p:tav tm="0">
                                          <p:val>
                                            <p:strVal val="#ppt_x"/>
                                          </p:val>
                                        </p:tav>
                                        <p:tav tm="100000">
                                          <p:val>
                                            <p:strVal val="#ppt_x"/>
                                          </p:val>
                                        </p:tav>
                                      </p:tavLst>
                                    </p:anim>
                                    <p:anim calcmode="lin" valueType="num">
                                      <p:cBhvr>
                                        <p:cTn id="120"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10287000" y="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952500" y="5429250"/>
            <a:ext cx="1905000" cy="1905000"/>
          </a:xfrm>
          <a:prstGeom prst="rect">
            <a:avLst/>
          </a:prstGeom>
        </p:spPr>
      </p:pic>
      <p:pic>
        <p:nvPicPr>
          <p:cNvPr id="5" name="Image 3" descr="preencoded.png"/>
          <p:cNvPicPr>
            <a:picLocks noChangeAspect="1"/>
          </p:cNvPicPr>
          <p:nvPr/>
        </p:nvPicPr>
        <p:blipFill>
          <a:blip r:embed="rId6"/>
          <a:stretch>
            <a:fillRect/>
          </a:stretch>
        </p:blipFill>
        <p:spPr>
          <a:xfrm>
            <a:off x="0" y="0"/>
            <a:ext cx="12192000" cy="685800"/>
          </a:xfrm>
          <a:prstGeom prst="rect">
            <a:avLst/>
          </a:prstGeom>
        </p:spPr>
      </p:pic>
      <p:pic>
        <p:nvPicPr>
          <p:cNvPr id="6" name="Image 4" descr="preencoded.png"/>
          <p:cNvPicPr>
            <a:picLocks noChangeAspect="1"/>
          </p:cNvPicPr>
          <p:nvPr/>
        </p:nvPicPr>
        <p:blipFill>
          <a:blip r:embed="rId7"/>
          <a:stretch>
            <a:fillRect/>
          </a:stretch>
        </p:blipFill>
        <p:spPr>
          <a:xfrm>
            <a:off x="895350" y="1447800"/>
            <a:ext cx="10477500" cy="571500"/>
          </a:xfrm>
          <a:prstGeom prst="rect">
            <a:avLst/>
          </a:prstGeom>
        </p:spPr>
      </p:pic>
      <p:pic>
        <p:nvPicPr>
          <p:cNvPr id="7" name="Image 5" descr="preencoded.png"/>
          <p:cNvPicPr>
            <a:picLocks noChangeAspect="1"/>
          </p:cNvPicPr>
          <p:nvPr/>
        </p:nvPicPr>
        <p:blipFill>
          <a:blip r:embed="rId8"/>
          <a:stretch>
            <a:fillRect/>
          </a:stretch>
        </p:blipFill>
        <p:spPr>
          <a:xfrm>
            <a:off x="304800" y="2400300"/>
            <a:ext cx="2724150" cy="2578100"/>
          </a:xfrm>
          <a:prstGeom prst="rect">
            <a:avLst/>
          </a:prstGeom>
        </p:spPr>
      </p:pic>
      <p:pic>
        <p:nvPicPr>
          <p:cNvPr id="9" name="Image 7" descr="preencoded.png"/>
          <p:cNvPicPr>
            <a:picLocks noChangeAspect="1"/>
          </p:cNvPicPr>
          <p:nvPr/>
        </p:nvPicPr>
        <p:blipFill>
          <a:blip r:embed="rId9"/>
          <a:stretch>
            <a:fillRect/>
          </a:stretch>
        </p:blipFill>
        <p:spPr>
          <a:xfrm>
            <a:off x="495300" y="4678680"/>
            <a:ext cx="133350" cy="152400"/>
          </a:xfrm>
          <a:prstGeom prst="rect">
            <a:avLst/>
          </a:prstGeom>
        </p:spPr>
      </p:pic>
      <p:pic>
        <p:nvPicPr>
          <p:cNvPr id="10" name="Image 8" descr="preencoded.png"/>
          <p:cNvPicPr>
            <a:picLocks noChangeAspect="1"/>
          </p:cNvPicPr>
          <p:nvPr/>
        </p:nvPicPr>
        <p:blipFill>
          <a:blip r:embed="rId8"/>
          <a:stretch>
            <a:fillRect/>
          </a:stretch>
        </p:blipFill>
        <p:spPr>
          <a:xfrm>
            <a:off x="3257550" y="2400300"/>
            <a:ext cx="2724150" cy="2578100"/>
          </a:xfrm>
          <a:prstGeom prst="rect">
            <a:avLst/>
          </a:prstGeom>
        </p:spPr>
      </p:pic>
      <p:pic>
        <p:nvPicPr>
          <p:cNvPr id="12" name="Image 10" descr="preencoded.png"/>
          <p:cNvPicPr>
            <a:picLocks noChangeAspect="1"/>
          </p:cNvPicPr>
          <p:nvPr/>
        </p:nvPicPr>
        <p:blipFill>
          <a:blip r:embed="rId9"/>
          <a:stretch>
            <a:fillRect/>
          </a:stretch>
        </p:blipFill>
        <p:spPr>
          <a:xfrm>
            <a:off x="3448050" y="4678680"/>
            <a:ext cx="133350" cy="152400"/>
          </a:xfrm>
          <a:prstGeom prst="rect">
            <a:avLst/>
          </a:prstGeom>
        </p:spPr>
      </p:pic>
      <p:pic>
        <p:nvPicPr>
          <p:cNvPr id="13" name="Image 11" descr="preencoded.png"/>
          <p:cNvPicPr>
            <a:picLocks noChangeAspect="1"/>
          </p:cNvPicPr>
          <p:nvPr/>
        </p:nvPicPr>
        <p:blipFill>
          <a:blip r:embed="rId10"/>
          <a:stretch>
            <a:fillRect/>
          </a:stretch>
        </p:blipFill>
        <p:spPr>
          <a:xfrm>
            <a:off x="6210300" y="2400300"/>
            <a:ext cx="2724150" cy="2578100"/>
          </a:xfrm>
          <a:prstGeom prst="rect">
            <a:avLst/>
          </a:prstGeom>
        </p:spPr>
      </p:pic>
      <p:pic>
        <p:nvPicPr>
          <p:cNvPr id="15" name="Image 13" descr="preencoded.png"/>
          <p:cNvPicPr>
            <a:picLocks noChangeAspect="1"/>
          </p:cNvPicPr>
          <p:nvPr/>
        </p:nvPicPr>
        <p:blipFill>
          <a:blip r:embed="rId9"/>
          <a:stretch>
            <a:fillRect/>
          </a:stretch>
        </p:blipFill>
        <p:spPr>
          <a:xfrm>
            <a:off x="6400800" y="4678680"/>
            <a:ext cx="133350" cy="152400"/>
          </a:xfrm>
          <a:prstGeom prst="rect">
            <a:avLst/>
          </a:prstGeom>
        </p:spPr>
      </p:pic>
      <p:pic>
        <p:nvPicPr>
          <p:cNvPr id="16" name="Image 14" descr="preencoded.png"/>
          <p:cNvPicPr>
            <a:picLocks noChangeAspect="1"/>
          </p:cNvPicPr>
          <p:nvPr/>
        </p:nvPicPr>
        <p:blipFill>
          <a:blip r:embed="rId8"/>
          <a:stretch>
            <a:fillRect/>
          </a:stretch>
        </p:blipFill>
        <p:spPr>
          <a:xfrm>
            <a:off x="9163050" y="2400300"/>
            <a:ext cx="2724150" cy="2578100"/>
          </a:xfrm>
          <a:prstGeom prst="rect">
            <a:avLst/>
          </a:prstGeom>
        </p:spPr>
      </p:pic>
      <p:pic>
        <p:nvPicPr>
          <p:cNvPr id="18" name="Image 16" descr="preencoded.png"/>
          <p:cNvPicPr>
            <a:picLocks noChangeAspect="1"/>
          </p:cNvPicPr>
          <p:nvPr/>
        </p:nvPicPr>
        <p:blipFill>
          <a:blip r:embed="rId9"/>
          <a:stretch>
            <a:fillRect/>
          </a:stretch>
        </p:blipFill>
        <p:spPr>
          <a:xfrm>
            <a:off x="9353550" y="4681220"/>
            <a:ext cx="133350" cy="152400"/>
          </a:xfrm>
          <a:prstGeom prst="rect">
            <a:avLst/>
          </a:prstGeom>
        </p:spPr>
      </p:pic>
      <p:pic>
        <p:nvPicPr>
          <p:cNvPr id="19" name="Image 17" descr="preencoded.png"/>
          <p:cNvPicPr>
            <a:picLocks noChangeAspect="1"/>
          </p:cNvPicPr>
          <p:nvPr/>
        </p:nvPicPr>
        <p:blipFill>
          <a:blip r:embed="rId11"/>
          <a:stretch>
            <a:fillRect/>
          </a:stretch>
        </p:blipFill>
        <p:spPr>
          <a:xfrm>
            <a:off x="304800" y="5130800"/>
            <a:ext cx="11582400" cy="1295400"/>
          </a:xfrm>
          <a:prstGeom prst="rect">
            <a:avLst/>
          </a:prstGeom>
        </p:spPr>
      </p:pic>
      <p:pic>
        <p:nvPicPr>
          <p:cNvPr id="21" name="Image 19" descr="preencoded.png"/>
          <p:cNvPicPr>
            <a:picLocks noChangeAspect="1"/>
          </p:cNvPicPr>
          <p:nvPr/>
        </p:nvPicPr>
        <p:blipFill>
          <a:blip r:embed="rId12"/>
          <a:stretch>
            <a:fillRect/>
          </a:stretch>
        </p:blipFill>
        <p:spPr>
          <a:xfrm>
            <a:off x="495300" y="5600700"/>
            <a:ext cx="152400" cy="152400"/>
          </a:xfrm>
          <a:prstGeom prst="rect">
            <a:avLst/>
          </a:prstGeom>
        </p:spPr>
      </p:pic>
      <p:pic>
        <p:nvPicPr>
          <p:cNvPr id="22" name="Image 20" descr="preencoded.png"/>
          <p:cNvPicPr>
            <a:picLocks noChangeAspect="1"/>
          </p:cNvPicPr>
          <p:nvPr/>
        </p:nvPicPr>
        <p:blipFill>
          <a:blip r:embed="rId12"/>
          <a:stretch>
            <a:fillRect/>
          </a:stretch>
        </p:blipFill>
        <p:spPr>
          <a:xfrm>
            <a:off x="4279850" y="5600700"/>
            <a:ext cx="152400" cy="152400"/>
          </a:xfrm>
          <a:prstGeom prst="rect">
            <a:avLst/>
          </a:prstGeom>
        </p:spPr>
      </p:pic>
      <p:pic>
        <p:nvPicPr>
          <p:cNvPr id="23" name="Image 21" descr="preencoded.png"/>
          <p:cNvPicPr>
            <a:picLocks noChangeAspect="1"/>
          </p:cNvPicPr>
          <p:nvPr/>
        </p:nvPicPr>
        <p:blipFill>
          <a:blip r:embed="rId12"/>
          <a:stretch>
            <a:fillRect/>
          </a:stretch>
        </p:blipFill>
        <p:spPr>
          <a:xfrm>
            <a:off x="8064401" y="5600700"/>
            <a:ext cx="152400" cy="152400"/>
          </a:xfrm>
          <a:prstGeom prst="rect">
            <a:avLst/>
          </a:prstGeom>
        </p:spPr>
      </p:pic>
      <p:sp>
        <p:nvSpPr>
          <p:cNvPr id="24" name="Text 0"/>
          <p:cNvSpPr/>
          <p:nvPr/>
        </p:nvSpPr>
        <p:spPr>
          <a:xfrm>
            <a:off x="381000" y="152400"/>
            <a:ext cx="11430000" cy="381000"/>
          </a:xfrm>
          <a:prstGeom prst="rect">
            <a:avLst/>
          </a:prstGeom>
          <a:noFill/>
          <a:ln/>
        </p:spPr>
        <p:txBody>
          <a:bodyPr vert="horz" wrap="square" lIns="0" tIns="0" rIns="0" bIns="0" rtlCol="0" anchor="ctr"/>
          <a:lstStyle/>
          <a:p>
            <a:pPr marL="0" indent="0">
              <a:lnSpc>
                <a:spcPts val="3000"/>
              </a:lnSpc>
              <a:buNone/>
            </a:pPr>
            <a:r>
              <a:rPr lang="en-US" sz="3600" b="1" dirty="0">
                <a:solidFill>
                  <a:srgbClr val="FFFFFF"/>
                </a:solidFill>
                <a:latin typeface="ui-sans-serif" pitchFamily="34" charset="0"/>
                <a:ea typeface="ui-sans-serif" pitchFamily="34" charset="-122"/>
                <a:cs typeface="ui-sans-serif" pitchFamily="34" charset="-120"/>
              </a:rPr>
              <a:t>Implementation Timeline</a:t>
            </a:r>
            <a:endParaRPr lang="en-US" sz="3600" dirty="0"/>
          </a:p>
        </p:txBody>
      </p:sp>
      <p:sp>
        <p:nvSpPr>
          <p:cNvPr id="25" name="Text 1"/>
          <p:cNvSpPr/>
          <p:nvPr/>
        </p:nvSpPr>
        <p:spPr>
          <a:xfrm>
            <a:off x="304800" y="990600"/>
            <a:ext cx="11582400" cy="342900"/>
          </a:xfrm>
          <a:prstGeom prst="rect">
            <a:avLst/>
          </a:prstGeom>
          <a:noFill/>
          <a:ln/>
        </p:spPr>
        <p:txBody>
          <a:bodyPr vert="horz" wrap="square" lIns="0" tIns="0" rIns="0" bIns="0" rtlCol="0" anchor="t"/>
          <a:lstStyle/>
          <a:p>
            <a:pPr marL="0" indent="0">
              <a:lnSpc>
                <a:spcPts val="2100"/>
              </a:lnSpc>
              <a:buNone/>
            </a:pPr>
            <a:r>
              <a:rPr lang="en-US" dirty="0">
                <a:solidFill>
                  <a:srgbClr val="374151"/>
                </a:solidFill>
                <a:latin typeface="ui-sans-serif" pitchFamily="34" charset="0"/>
                <a:ea typeface="ui-sans-serif" pitchFamily="34" charset="-122"/>
                <a:cs typeface="ui-sans-serif" pitchFamily="34" charset="-120"/>
              </a:rPr>
              <a:t>Key action steps for the first six months of our export initiative:</a:t>
            </a:r>
            <a:endParaRPr lang="en-US" dirty="0"/>
          </a:p>
        </p:txBody>
      </p:sp>
      <p:grpSp>
        <p:nvGrpSpPr>
          <p:cNvPr id="43" name="Group 42">
            <a:extLst>
              <a:ext uri="{FF2B5EF4-FFF2-40B4-BE49-F238E27FC236}">
                <a16:creationId xmlns:a16="http://schemas.microsoft.com/office/drawing/2014/main" id="{A0DEFC72-F7ED-73C2-7703-F465FA5C9ADE}"/>
              </a:ext>
            </a:extLst>
          </p:cNvPr>
          <p:cNvGrpSpPr/>
          <p:nvPr/>
        </p:nvGrpSpPr>
        <p:grpSpPr>
          <a:xfrm>
            <a:off x="495300" y="2519680"/>
            <a:ext cx="2343150" cy="533400"/>
            <a:chOff x="495300" y="2590800"/>
            <a:chExt cx="2343150" cy="533400"/>
          </a:xfrm>
        </p:grpSpPr>
        <p:pic>
          <p:nvPicPr>
            <p:cNvPr id="8" name="Image 6" descr="preencoded.png"/>
            <p:cNvPicPr>
              <a:picLocks noChangeAspect="1"/>
            </p:cNvPicPr>
            <p:nvPr/>
          </p:nvPicPr>
          <p:blipFill>
            <a:blip r:embed="rId13"/>
            <a:stretch>
              <a:fillRect/>
            </a:stretch>
          </p:blipFill>
          <p:spPr>
            <a:xfrm>
              <a:off x="495300" y="2716530"/>
              <a:ext cx="285750" cy="304800"/>
            </a:xfrm>
            <a:prstGeom prst="rect">
              <a:avLst/>
            </a:prstGeom>
          </p:spPr>
        </p:pic>
        <p:sp>
          <p:nvSpPr>
            <p:cNvPr id="26" name="Text 2"/>
            <p:cNvSpPr/>
            <p:nvPr/>
          </p:nvSpPr>
          <p:spPr>
            <a:xfrm>
              <a:off x="895350" y="2590800"/>
              <a:ext cx="1943100" cy="533400"/>
            </a:xfrm>
            <a:prstGeom prst="rect">
              <a:avLst/>
            </a:prstGeom>
            <a:noFill/>
            <a:ln/>
          </p:spPr>
          <p:txBody>
            <a:bodyPr vert="horz" wrap="square" lIns="0" tIns="0" rIns="0" bIns="0" rtlCol="0" anchor="t"/>
            <a:lstStyle/>
            <a:p>
              <a:pPr marL="0" indent="0">
                <a:lnSpc>
                  <a:spcPts val="2100"/>
                </a:lnSpc>
                <a:buNone/>
              </a:pPr>
              <a:r>
                <a:rPr lang="en-US" b="1" dirty="0">
                  <a:solidFill>
                    <a:srgbClr val="1F2937"/>
                  </a:solidFill>
                  <a:latin typeface="ui-sans-serif" pitchFamily="34" charset="0"/>
                  <a:ea typeface="ui-sans-serif" pitchFamily="34" charset="-122"/>
                  <a:cs typeface="ui-sans-serif" pitchFamily="34" charset="-120"/>
                </a:rPr>
                <a:t>Finalize Distributor Agreement</a:t>
              </a:r>
              <a:endParaRPr lang="en-US" dirty="0"/>
            </a:p>
          </p:txBody>
        </p:sp>
      </p:grpSp>
      <p:sp>
        <p:nvSpPr>
          <p:cNvPr id="27" name="Text 3"/>
          <p:cNvSpPr/>
          <p:nvPr/>
        </p:nvSpPr>
        <p:spPr>
          <a:xfrm>
            <a:off x="495300" y="3505200"/>
            <a:ext cx="2343150" cy="685800"/>
          </a:xfrm>
          <a:prstGeom prst="rect">
            <a:avLst/>
          </a:prstGeom>
          <a:noFill/>
          <a:ln/>
        </p:spPr>
        <p:txBody>
          <a:bodyPr vert="horz" wrap="square" lIns="0" tIns="0" rIns="0" bIns="0" rtlCol="0" anchor="t"/>
          <a:lstStyle/>
          <a:p>
            <a:pPr marL="0" indent="0">
              <a:lnSpc>
                <a:spcPts val="1800"/>
              </a:lnSpc>
              <a:buNone/>
            </a:pPr>
            <a:r>
              <a:rPr lang="en-US" sz="1400" dirty="0">
                <a:solidFill>
                  <a:srgbClr val="374151"/>
                </a:solidFill>
                <a:latin typeface="ui-sans-serif" pitchFamily="34" charset="0"/>
                <a:ea typeface="ui-sans-serif" pitchFamily="34" charset="-122"/>
                <a:cs typeface="ui-sans-serif" pitchFamily="34" charset="-120"/>
              </a:rPr>
              <a:t>Secure formal partnerships with local distributors in the target market.</a:t>
            </a:r>
            <a:endParaRPr lang="en-US" sz="1400" dirty="0"/>
          </a:p>
        </p:txBody>
      </p:sp>
      <p:sp>
        <p:nvSpPr>
          <p:cNvPr id="28" name="Text 4"/>
          <p:cNvSpPr/>
          <p:nvPr/>
        </p:nvSpPr>
        <p:spPr>
          <a:xfrm>
            <a:off x="704850" y="4640580"/>
            <a:ext cx="1679674" cy="228600"/>
          </a:xfrm>
          <a:prstGeom prst="rect">
            <a:avLst/>
          </a:prstGeom>
          <a:noFill/>
          <a:ln/>
        </p:spPr>
        <p:txBody>
          <a:bodyPr vert="horz" wrap="square" lIns="0" tIns="0" rIns="0" bIns="0" rtlCol="0" anchor="t"/>
          <a:lstStyle/>
          <a:p>
            <a:pPr marL="0" indent="0">
              <a:lnSpc>
                <a:spcPts val="1800"/>
              </a:lnSpc>
              <a:buNone/>
            </a:pPr>
            <a:r>
              <a:rPr lang="en-US" sz="1400" dirty="0">
                <a:solidFill>
                  <a:srgbClr val="4B5563"/>
                </a:solidFill>
                <a:latin typeface="ui-sans-serif" pitchFamily="34" charset="0"/>
                <a:ea typeface="ui-sans-serif" pitchFamily="34" charset="-122"/>
                <a:cs typeface="ui-sans-serif" pitchFamily="34" charset="-120"/>
              </a:rPr>
              <a:t>By End of Month 2</a:t>
            </a:r>
            <a:endParaRPr lang="en-US" sz="1400" dirty="0"/>
          </a:p>
        </p:txBody>
      </p:sp>
      <p:grpSp>
        <p:nvGrpSpPr>
          <p:cNvPr id="44" name="Group 43">
            <a:extLst>
              <a:ext uri="{FF2B5EF4-FFF2-40B4-BE49-F238E27FC236}">
                <a16:creationId xmlns:a16="http://schemas.microsoft.com/office/drawing/2014/main" id="{C8455F43-DBE5-C3F2-275A-56DD9DD650F6}"/>
              </a:ext>
            </a:extLst>
          </p:cNvPr>
          <p:cNvGrpSpPr/>
          <p:nvPr/>
        </p:nvGrpSpPr>
        <p:grpSpPr>
          <a:xfrm>
            <a:off x="3448050" y="2519680"/>
            <a:ext cx="2343150" cy="552450"/>
            <a:chOff x="3448050" y="2590800"/>
            <a:chExt cx="2343150" cy="552450"/>
          </a:xfrm>
        </p:grpSpPr>
        <p:pic>
          <p:nvPicPr>
            <p:cNvPr id="11" name="Image 9" descr="preencoded.png"/>
            <p:cNvPicPr>
              <a:picLocks noChangeAspect="1"/>
            </p:cNvPicPr>
            <p:nvPr/>
          </p:nvPicPr>
          <p:blipFill>
            <a:blip r:embed="rId14"/>
            <a:stretch>
              <a:fillRect/>
            </a:stretch>
          </p:blipFill>
          <p:spPr>
            <a:xfrm>
              <a:off x="3448050" y="2716530"/>
              <a:ext cx="285750" cy="304800"/>
            </a:xfrm>
            <a:prstGeom prst="rect">
              <a:avLst/>
            </a:prstGeom>
          </p:spPr>
        </p:pic>
        <p:sp>
          <p:nvSpPr>
            <p:cNvPr id="29" name="Text 5"/>
            <p:cNvSpPr/>
            <p:nvPr/>
          </p:nvSpPr>
          <p:spPr>
            <a:xfrm>
              <a:off x="3848100" y="2590800"/>
              <a:ext cx="1943100" cy="552450"/>
            </a:xfrm>
            <a:prstGeom prst="rect">
              <a:avLst/>
            </a:prstGeom>
            <a:noFill/>
            <a:ln/>
          </p:spPr>
          <p:txBody>
            <a:bodyPr vert="horz" wrap="square" lIns="0" tIns="0" rIns="0" bIns="0" rtlCol="0" anchor="t"/>
            <a:lstStyle/>
            <a:p>
              <a:pPr marL="0" indent="0">
                <a:lnSpc>
                  <a:spcPts val="2100"/>
                </a:lnSpc>
                <a:buNone/>
              </a:pPr>
              <a:r>
                <a:rPr lang="en-US" b="1" dirty="0">
                  <a:solidFill>
                    <a:srgbClr val="1F2937"/>
                  </a:solidFill>
                  <a:latin typeface="ui-sans-serif" pitchFamily="34" charset="0"/>
                  <a:ea typeface="ui-sans-serif" pitchFamily="34" charset="-122"/>
                  <a:cs typeface="ui-sans-serif" pitchFamily="34" charset="-120"/>
                </a:rPr>
                <a:t>Complete Packaging Adaptations</a:t>
              </a:r>
              <a:endParaRPr lang="en-US" dirty="0"/>
            </a:p>
          </p:txBody>
        </p:sp>
      </p:grpSp>
      <p:sp>
        <p:nvSpPr>
          <p:cNvPr id="30" name="Text 6"/>
          <p:cNvSpPr/>
          <p:nvPr/>
        </p:nvSpPr>
        <p:spPr>
          <a:xfrm>
            <a:off x="3448050" y="3505200"/>
            <a:ext cx="2343150" cy="685800"/>
          </a:xfrm>
          <a:prstGeom prst="rect">
            <a:avLst/>
          </a:prstGeom>
          <a:noFill/>
          <a:ln/>
        </p:spPr>
        <p:txBody>
          <a:bodyPr vert="horz" wrap="square" lIns="0" tIns="0" rIns="0" bIns="0" rtlCol="0" anchor="t"/>
          <a:lstStyle/>
          <a:p>
            <a:pPr marL="0" indent="0">
              <a:lnSpc>
                <a:spcPts val="1800"/>
              </a:lnSpc>
              <a:buNone/>
            </a:pPr>
            <a:r>
              <a:rPr lang="en-US" sz="1400" dirty="0">
                <a:solidFill>
                  <a:srgbClr val="374151"/>
                </a:solidFill>
                <a:latin typeface="ui-sans-serif" pitchFamily="34" charset="0"/>
                <a:ea typeface="ui-sans-serif" pitchFamily="34" charset="-122"/>
                <a:cs typeface="ui-sans-serif" pitchFamily="34" charset="-120"/>
              </a:rPr>
              <a:t>Ensure all product packaging and labeling comply with local regulations.</a:t>
            </a:r>
            <a:endParaRPr lang="en-US" sz="1400" dirty="0"/>
          </a:p>
        </p:txBody>
      </p:sp>
      <p:sp>
        <p:nvSpPr>
          <p:cNvPr id="31" name="Text 7"/>
          <p:cNvSpPr/>
          <p:nvPr/>
        </p:nvSpPr>
        <p:spPr>
          <a:xfrm>
            <a:off x="3657600" y="4640580"/>
            <a:ext cx="1679674" cy="228600"/>
          </a:xfrm>
          <a:prstGeom prst="rect">
            <a:avLst/>
          </a:prstGeom>
          <a:noFill/>
          <a:ln/>
        </p:spPr>
        <p:txBody>
          <a:bodyPr vert="horz" wrap="square" lIns="0" tIns="0" rIns="0" bIns="0" rtlCol="0" anchor="t"/>
          <a:lstStyle/>
          <a:p>
            <a:pPr marL="0" indent="0">
              <a:lnSpc>
                <a:spcPts val="1800"/>
              </a:lnSpc>
              <a:buNone/>
            </a:pPr>
            <a:r>
              <a:rPr lang="en-US" sz="1400" dirty="0">
                <a:solidFill>
                  <a:srgbClr val="4B5563"/>
                </a:solidFill>
                <a:latin typeface="ui-sans-serif" pitchFamily="34" charset="0"/>
                <a:ea typeface="ui-sans-serif" pitchFamily="34" charset="-122"/>
                <a:cs typeface="ui-sans-serif" pitchFamily="34" charset="-120"/>
              </a:rPr>
              <a:t>By End of Month 3</a:t>
            </a:r>
            <a:endParaRPr lang="en-US" sz="1400" dirty="0"/>
          </a:p>
        </p:txBody>
      </p:sp>
      <p:grpSp>
        <p:nvGrpSpPr>
          <p:cNvPr id="45" name="Group 44">
            <a:extLst>
              <a:ext uri="{FF2B5EF4-FFF2-40B4-BE49-F238E27FC236}">
                <a16:creationId xmlns:a16="http://schemas.microsoft.com/office/drawing/2014/main" id="{A8EC38DD-864A-1B16-2296-BEFD8E27FED0}"/>
              </a:ext>
            </a:extLst>
          </p:cNvPr>
          <p:cNvGrpSpPr/>
          <p:nvPr/>
        </p:nvGrpSpPr>
        <p:grpSpPr>
          <a:xfrm>
            <a:off x="6400800" y="2519680"/>
            <a:ext cx="2343150" cy="533400"/>
            <a:chOff x="6400800" y="2590800"/>
            <a:chExt cx="2343150" cy="533400"/>
          </a:xfrm>
        </p:grpSpPr>
        <p:pic>
          <p:nvPicPr>
            <p:cNvPr id="14" name="Image 12" descr="preencoded.png"/>
            <p:cNvPicPr>
              <a:picLocks noChangeAspect="1"/>
            </p:cNvPicPr>
            <p:nvPr/>
          </p:nvPicPr>
          <p:blipFill>
            <a:blip r:embed="rId15"/>
            <a:stretch>
              <a:fillRect/>
            </a:stretch>
          </p:blipFill>
          <p:spPr>
            <a:xfrm>
              <a:off x="6400800" y="2706370"/>
              <a:ext cx="228600" cy="304800"/>
            </a:xfrm>
            <a:prstGeom prst="rect">
              <a:avLst/>
            </a:prstGeom>
          </p:spPr>
        </p:pic>
        <p:sp>
          <p:nvSpPr>
            <p:cNvPr id="32" name="Text 8"/>
            <p:cNvSpPr/>
            <p:nvPr/>
          </p:nvSpPr>
          <p:spPr>
            <a:xfrm>
              <a:off x="6743700" y="2590800"/>
              <a:ext cx="2000250" cy="533400"/>
            </a:xfrm>
            <a:prstGeom prst="rect">
              <a:avLst/>
            </a:prstGeom>
            <a:noFill/>
            <a:ln/>
          </p:spPr>
          <p:txBody>
            <a:bodyPr vert="horz" wrap="square" lIns="0" tIns="0" rIns="0" bIns="0" rtlCol="0" anchor="t"/>
            <a:lstStyle/>
            <a:p>
              <a:pPr marL="0" indent="0">
                <a:lnSpc>
                  <a:spcPts val="2100"/>
                </a:lnSpc>
                <a:buNone/>
              </a:pPr>
              <a:r>
                <a:rPr lang="en-US" b="1" dirty="0">
                  <a:solidFill>
                    <a:srgbClr val="1F2937"/>
                  </a:solidFill>
                  <a:latin typeface="ui-sans-serif" pitchFamily="34" charset="0"/>
                  <a:ea typeface="ui-sans-serif" pitchFamily="34" charset="-122"/>
                  <a:cs typeface="ui-sans-serif" pitchFamily="34" charset="-120"/>
                </a:rPr>
                <a:t>Launch Promotional Campaign</a:t>
              </a:r>
              <a:endParaRPr lang="en-US" dirty="0"/>
            </a:p>
          </p:txBody>
        </p:sp>
      </p:grpSp>
      <p:sp>
        <p:nvSpPr>
          <p:cNvPr id="33" name="Text 9"/>
          <p:cNvSpPr/>
          <p:nvPr/>
        </p:nvSpPr>
        <p:spPr>
          <a:xfrm>
            <a:off x="6400800" y="3505200"/>
            <a:ext cx="2343150" cy="685800"/>
          </a:xfrm>
          <a:prstGeom prst="rect">
            <a:avLst/>
          </a:prstGeom>
          <a:noFill/>
          <a:ln/>
        </p:spPr>
        <p:txBody>
          <a:bodyPr vert="horz" wrap="square" lIns="0" tIns="0" rIns="0" bIns="0" rtlCol="0" anchor="t"/>
          <a:lstStyle/>
          <a:p>
            <a:pPr marL="0" indent="0">
              <a:lnSpc>
                <a:spcPts val="1800"/>
              </a:lnSpc>
              <a:buNone/>
            </a:pPr>
            <a:r>
              <a:rPr lang="en-US" sz="1400" dirty="0">
                <a:solidFill>
                  <a:srgbClr val="374151"/>
                </a:solidFill>
                <a:latin typeface="ui-sans-serif" pitchFamily="34" charset="0"/>
                <a:ea typeface="ui-sans-serif" pitchFamily="34" charset="-122"/>
                <a:cs typeface="ui-sans-serif" pitchFamily="34" charset="-120"/>
              </a:rPr>
              <a:t>Initiate targeted digital marketing efforts to generate initial leads.</a:t>
            </a:r>
            <a:endParaRPr lang="en-US" sz="1400" dirty="0"/>
          </a:p>
        </p:txBody>
      </p:sp>
      <p:sp>
        <p:nvSpPr>
          <p:cNvPr id="34" name="Text 10"/>
          <p:cNvSpPr/>
          <p:nvPr/>
        </p:nvSpPr>
        <p:spPr>
          <a:xfrm>
            <a:off x="6610350" y="4640580"/>
            <a:ext cx="1679674" cy="228600"/>
          </a:xfrm>
          <a:prstGeom prst="rect">
            <a:avLst/>
          </a:prstGeom>
          <a:noFill/>
          <a:ln/>
        </p:spPr>
        <p:txBody>
          <a:bodyPr vert="horz" wrap="square" lIns="0" tIns="0" rIns="0" bIns="0" rtlCol="0" anchor="t"/>
          <a:lstStyle/>
          <a:p>
            <a:pPr marL="0" indent="0">
              <a:lnSpc>
                <a:spcPts val="1800"/>
              </a:lnSpc>
              <a:buNone/>
            </a:pPr>
            <a:r>
              <a:rPr lang="en-US" sz="1400" dirty="0">
                <a:solidFill>
                  <a:srgbClr val="4B5563"/>
                </a:solidFill>
                <a:latin typeface="ui-sans-serif" pitchFamily="34" charset="0"/>
                <a:ea typeface="ui-sans-serif" pitchFamily="34" charset="-122"/>
                <a:cs typeface="ui-sans-serif" pitchFamily="34" charset="-120"/>
              </a:rPr>
              <a:t>By End of Month 4</a:t>
            </a:r>
            <a:endParaRPr lang="en-US" sz="1400" dirty="0"/>
          </a:p>
        </p:txBody>
      </p:sp>
      <p:grpSp>
        <p:nvGrpSpPr>
          <p:cNvPr id="46" name="Group 45">
            <a:extLst>
              <a:ext uri="{FF2B5EF4-FFF2-40B4-BE49-F238E27FC236}">
                <a16:creationId xmlns:a16="http://schemas.microsoft.com/office/drawing/2014/main" id="{A450C57F-D364-D00A-4C74-98095E7E2227}"/>
              </a:ext>
            </a:extLst>
          </p:cNvPr>
          <p:cNvGrpSpPr/>
          <p:nvPr/>
        </p:nvGrpSpPr>
        <p:grpSpPr>
          <a:xfrm>
            <a:off x="9353550" y="2600960"/>
            <a:ext cx="2459772" cy="304800"/>
            <a:chOff x="9353550" y="2672080"/>
            <a:chExt cx="2459772" cy="304800"/>
          </a:xfrm>
        </p:grpSpPr>
        <p:pic>
          <p:nvPicPr>
            <p:cNvPr id="17" name="Image 15" descr="preencoded.png"/>
            <p:cNvPicPr>
              <a:picLocks noChangeAspect="1"/>
            </p:cNvPicPr>
            <p:nvPr/>
          </p:nvPicPr>
          <p:blipFill>
            <a:blip r:embed="rId16"/>
            <a:stretch>
              <a:fillRect/>
            </a:stretch>
          </p:blipFill>
          <p:spPr>
            <a:xfrm>
              <a:off x="9353550" y="2672080"/>
              <a:ext cx="285750" cy="304800"/>
            </a:xfrm>
            <a:prstGeom prst="rect">
              <a:avLst/>
            </a:prstGeom>
          </p:spPr>
        </p:pic>
        <p:sp>
          <p:nvSpPr>
            <p:cNvPr id="35" name="Text 11"/>
            <p:cNvSpPr/>
            <p:nvPr/>
          </p:nvSpPr>
          <p:spPr>
            <a:xfrm>
              <a:off x="9753600" y="2691130"/>
              <a:ext cx="2059722" cy="266700"/>
            </a:xfrm>
            <a:prstGeom prst="rect">
              <a:avLst/>
            </a:prstGeom>
            <a:noFill/>
            <a:ln/>
          </p:spPr>
          <p:txBody>
            <a:bodyPr vert="horz" wrap="square" lIns="0" tIns="0" rIns="0" bIns="0" rtlCol="0" anchor="t"/>
            <a:lstStyle/>
            <a:p>
              <a:pPr marL="0" indent="0">
                <a:lnSpc>
                  <a:spcPts val="2100"/>
                </a:lnSpc>
                <a:buNone/>
              </a:pPr>
              <a:r>
                <a:rPr lang="en-US" b="1" dirty="0">
                  <a:solidFill>
                    <a:srgbClr val="1F2937"/>
                  </a:solidFill>
                  <a:latin typeface="ui-sans-serif" pitchFamily="34" charset="0"/>
                  <a:ea typeface="ui-sans-serif" pitchFamily="34" charset="-122"/>
                  <a:cs typeface="ui-sans-serif" pitchFamily="34" charset="-120"/>
                </a:rPr>
                <a:t>Ship First Order</a:t>
              </a:r>
              <a:endParaRPr lang="en-US" dirty="0"/>
            </a:p>
          </p:txBody>
        </p:sp>
      </p:grpSp>
      <p:sp>
        <p:nvSpPr>
          <p:cNvPr id="36" name="Text 12"/>
          <p:cNvSpPr/>
          <p:nvPr/>
        </p:nvSpPr>
        <p:spPr>
          <a:xfrm>
            <a:off x="9353550" y="3237230"/>
            <a:ext cx="2343150" cy="685800"/>
          </a:xfrm>
          <a:prstGeom prst="rect">
            <a:avLst/>
          </a:prstGeom>
          <a:noFill/>
          <a:ln/>
        </p:spPr>
        <p:txBody>
          <a:bodyPr vert="horz" wrap="square" lIns="0" tIns="0" rIns="0" bIns="0" rtlCol="0" anchor="t"/>
          <a:lstStyle/>
          <a:p>
            <a:pPr marL="0" indent="0">
              <a:lnSpc>
                <a:spcPts val="1800"/>
              </a:lnSpc>
              <a:buNone/>
            </a:pPr>
            <a:r>
              <a:rPr lang="en-US" sz="1400" dirty="0">
                <a:solidFill>
                  <a:srgbClr val="374151"/>
                </a:solidFill>
                <a:latin typeface="ui-sans-serif" pitchFamily="34" charset="0"/>
                <a:ea typeface="ui-sans-serif" pitchFamily="34" charset="-122"/>
                <a:cs typeface="ui-sans-serif" pitchFamily="34" charset="-120"/>
              </a:rPr>
              <a:t>Successfully dispatch the initial export consignment to the target market.</a:t>
            </a:r>
            <a:endParaRPr lang="en-US" sz="1400" dirty="0"/>
          </a:p>
        </p:txBody>
      </p:sp>
      <p:sp>
        <p:nvSpPr>
          <p:cNvPr id="37" name="Text 13"/>
          <p:cNvSpPr/>
          <p:nvPr/>
        </p:nvSpPr>
        <p:spPr>
          <a:xfrm>
            <a:off x="9563100" y="4643120"/>
            <a:ext cx="1679674" cy="228600"/>
          </a:xfrm>
          <a:prstGeom prst="rect">
            <a:avLst/>
          </a:prstGeom>
          <a:noFill/>
          <a:ln/>
        </p:spPr>
        <p:txBody>
          <a:bodyPr vert="horz" wrap="square" lIns="0" tIns="0" rIns="0" bIns="0" rtlCol="0" anchor="t"/>
          <a:lstStyle/>
          <a:p>
            <a:pPr marL="0" indent="0">
              <a:lnSpc>
                <a:spcPts val="1800"/>
              </a:lnSpc>
              <a:buNone/>
            </a:pPr>
            <a:r>
              <a:rPr lang="en-US" sz="1400" dirty="0">
                <a:solidFill>
                  <a:srgbClr val="4B5563"/>
                </a:solidFill>
                <a:latin typeface="ui-sans-serif" pitchFamily="34" charset="0"/>
                <a:ea typeface="ui-sans-serif" pitchFamily="34" charset="-122"/>
                <a:cs typeface="ui-sans-serif" pitchFamily="34" charset="-120"/>
              </a:rPr>
              <a:t>By End of Month 6</a:t>
            </a:r>
            <a:endParaRPr lang="en-US" sz="1400" dirty="0"/>
          </a:p>
        </p:txBody>
      </p:sp>
      <p:grpSp>
        <p:nvGrpSpPr>
          <p:cNvPr id="47" name="Group 46">
            <a:extLst>
              <a:ext uri="{FF2B5EF4-FFF2-40B4-BE49-F238E27FC236}">
                <a16:creationId xmlns:a16="http://schemas.microsoft.com/office/drawing/2014/main" id="{C9D03F96-7E07-26FB-FD32-F056F810C7D8}"/>
              </a:ext>
            </a:extLst>
          </p:cNvPr>
          <p:cNvGrpSpPr/>
          <p:nvPr/>
        </p:nvGrpSpPr>
        <p:grpSpPr>
          <a:xfrm>
            <a:off x="495300" y="5179060"/>
            <a:ext cx="2914412" cy="266700"/>
            <a:chOff x="495300" y="5219700"/>
            <a:chExt cx="2914412" cy="266700"/>
          </a:xfrm>
        </p:grpSpPr>
        <p:pic>
          <p:nvPicPr>
            <p:cNvPr id="20" name="Image 18" descr="preencoded.png"/>
            <p:cNvPicPr>
              <a:picLocks noChangeAspect="1"/>
            </p:cNvPicPr>
            <p:nvPr/>
          </p:nvPicPr>
          <p:blipFill>
            <a:blip r:embed="rId17"/>
            <a:stretch>
              <a:fillRect/>
            </a:stretch>
          </p:blipFill>
          <p:spPr>
            <a:xfrm>
              <a:off x="495300" y="5219700"/>
              <a:ext cx="190500" cy="266700"/>
            </a:xfrm>
            <a:prstGeom prst="rect">
              <a:avLst/>
            </a:prstGeom>
          </p:spPr>
        </p:pic>
        <p:sp>
          <p:nvSpPr>
            <p:cNvPr id="38" name="Text 14"/>
            <p:cNvSpPr/>
            <p:nvPr/>
          </p:nvSpPr>
          <p:spPr>
            <a:xfrm>
              <a:off x="800100" y="5219700"/>
              <a:ext cx="2609612" cy="266700"/>
            </a:xfrm>
            <a:prstGeom prst="rect">
              <a:avLst/>
            </a:prstGeom>
            <a:noFill/>
            <a:ln/>
          </p:spPr>
          <p:txBody>
            <a:bodyPr vert="horz" wrap="square" lIns="0" tIns="0" rIns="0" bIns="0" rtlCol="0" anchor="t"/>
            <a:lstStyle/>
            <a:p>
              <a:pPr marL="0" indent="0">
                <a:lnSpc>
                  <a:spcPts val="2100"/>
                </a:lnSpc>
                <a:buNone/>
              </a:pPr>
              <a:r>
                <a:rPr lang="en-US" b="1" dirty="0">
                  <a:solidFill>
                    <a:srgbClr val="1F2937"/>
                  </a:solidFill>
                  <a:latin typeface="ui-sans-serif" pitchFamily="34" charset="0"/>
                  <a:ea typeface="ui-sans-serif" pitchFamily="34" charset="-122"/>
                  <a:cs typeface="ui-sans-serif" pitchFamily="34" charset="-120"/>
                </a:rPr>
                <a:t>Key Success Factors</a:t>
              </a:r>
              <a:endParaRPr lang="en-US" dirty="0"/>
            </a:p>
          </p:txBody>
        </p:sp>
      </p:grpSp>
      <p:sp>
        <p:nvSpPr>
          <p:cNvPr id="39" name="Text 15"/>
          <p:cNvSpPr/>
          <p:nvPr/>
        </p:nvSpPr>
        <p:spPr>
          <a:xfrm>
            <a:off x="723900" y="5562600"/>
            <a:ext cx="3403550"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Clear milestone ownership with regular progress reviews</a:t>
            </a:r>
            <a:endParaRPr lang="en-US" sz="1400" dirty="0"/>
          </a:p>
        </p:txBody>
      </p:sp>
      <p:sp>
        <p:nvSpPr>
          <p:cNvPr id="40" name="Text 16"/>
          <p:cNvSpPr/>
          <p:nvPr/>
        </p:nvSpPr>
        <p:spPr>
          <a:xfrm>
            <a:off x="4508450" y="5562600"/>
            <a:ext cx="3403550" cy="2667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Contingency planning for potential delays</a:t>
            </a:r>
            <a:endParaRPr lang="en-US" sz="1400" dirty="0"/>
          </a:p>
        </p:txBody>
      </p:sp>
      <p:sp>
        <p:nvSpPr>
          <p:cNvPr id="41" name="Text 17"/>
          <p:cNvSpPr/>
          <p:nvPr/>
        </p:nvSpPr>
        <p:spPr>
          <a:xfrm>
            <a:off x="8293001" y="5562600"/>
            <a:ext cx="3403699" cy="4572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Regular communication with all stakeholders</a:t>
            </a:r>
            <a:endParaRPr lang="en-US" sz="1400" dirty="0"/>
          </a:p>
        </p:txBody>
      </p:sp>
      <p:sp>
        <p:nvSpPr>
          <p:cNvPr id="42" name="Text 18"/>
          <p:cNvSpPr/>
          <p:nvPr/>
        </p:nvSpPr>
        <p:spPr>
          <a:xfrm>
            <a:off x="11274921" y="6477000"/>
            <a:ext cx="643295"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13 / 16</a:t>
            </a:r>
            <a:endParaRPr lang="en-US" sz="1200" dirty="0"/>
          </a:p>
        </p:txBody>
      </p:sp>
      <p:pic>
        <p:nvPicPr>
          <p:cNvPr id="48" name="Picture 47" descr="A blue letters on a black background&#10;&#10;AI-generated content may be incorrect.">
            <a:extLst>
              <a:ext uri="{FF2B5EF4-FFF2-40B4-BE49-F238E27FC236}">
                <a16:creationId xmlns:a16="http://schemas.microsoft.com/office/drawing/2014/main" id="{1C9364FC-A65E-1B51-BF36-3A0AB438747F}"/>
              </a:ext>
            </a:extLst>
          </p:cNvPr>
          <p:cNvPicPr>
            <a:picLocks noChangeAspect="1"/>
          </p:cNvPicPr>
          <p:nvPr/>
        </p:nvPicPr>
        <p:blipFill>
          <a:blip r:embed="rId18"/>
          <a:stretch>
            <a:fillRect/>
          </a:stretch>
        </p:blipFill>
        <p:spPr>
          <a:xfrm>
            <a:off x="10825377" y="233170"/>
            <a:ext cx="1052680" cy="2606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500"/>
                                        <p:tgtEl>
                                          <p:spTgt spid="4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ppt_x"/>
                                          </p:val>
                                        </p:tav>
                                        <p:tav tm="100000">
                                          <p:val>
                                            <p:strVal val="#ppt_x"/>
                                          </p:val>
                                        </p:tav>
                                      </p:tavLst>
                                    </p:anim>
                                    <p:anim calcmode="lin" valueType="num">
                                      <p:cBhvr additive="base">
                                        <p:cTn id="25" dur="500" fill="hold"/>
                                        <p:tgtEl>
                                          <p:spTgt spid="10"/>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ppt_x"/>
                                          </p:val>
                                        </p:tav>
                                        <p:tav tm="100000">
                                          <p:val>
                                            <p:strVal val="#ppt_x"/>
                                          </p:val>
                                        </p:tav>
                                      </p:tavLst>
                                    </p:anim>
                                    <p:anim calcmode="lin" valueType="num">
                                      <p:cBhvr additive="base">
                                        <p:cTn id="29" dur="500" fill="hold"/>
                                        <p:tgtEl>
                                          <p:spTgt spid="12"/>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44"/>
                                        </p:tgtEl>
                                        <p:attrNameLst>
                                          <p:attrName>style.visibility</p:attrName>
                                        </p:attrNameLst>
                                      </p:cBhvr>
                                      <p:to>
                                        <p:strVal val="visible"/>
                                      </p:to>
                                    </p:set>
                                    <p:anim calcmode="lin" valueType="num">
                                      <p:cBhvr additive="base">
                                        <p:cTn id="32" dur="500" fill="hold"/>
                                        <p:tgtEl>
                                          <p:spTgt spid="44"/>
                                        </p:tgtEl>
                                        <p:attrNameLst>
                                          <p:attrName>ppt_x</p:attrName>
                                        </p:attrNameLst>
                                      </p:cBhvr>
                                      <p:tavLst>
                                        <p:tav tm="0">
                                          <p:val>
                                            <p:strVal val="#ppt_x"/>
                                          </p:val>
                                        </p:tav>
                                        <p:tav tm="100000">
                                          <p:val>
                                            <p:strVal val="#ppt_x"/>
                                          </p:val>
                                        </p:tav>
                                      </p:tavLst>
                                    </p:anim>
                                    <p:anim calcmode="lin" valueType="num">
                                      <p:cBhvr additive="base">
                                        <p:cTn id="33" dur="500" fill="hold"/>
                                        <p:tgtEl>
                                          <p:spTgt spid="44"/>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30"/>
                                        </p:tgtEl>
                                        <p:attrNameLst>
                                          <p:attrName>style.visibility</p:attrName>
                                        </p:attrNameLst>
                                      </p:cBhvr>
                                      <p:to>
                                        <p:strVal val="visible"/>
                                      </p:to>
                                    </p:set>
                                    <p:anim calcmode="lin" valueType="num">
                                      <p:cBhvr additive="base">
                                        <p:cTn id="36" dur="500" fill="hold"/>
                                        <p:tgtEl>
                                          <p:spTgt spid="30"/>
                                        </p:tgtEl>
                                        <p:attrNameLst>
                                          <p:attrName>ppt_x</p:attrName>
                                        </p:attrNameLst>
                                      </p:cBhvr>
                                      <p:tavLst>
                                        <p:tav tm="0">
                                          <p:val>
                                            <p:strVal val="#ppt_x"/>
                                          </p:val>
                                        </p:tav>
                                        <p:tav tm="100000">
                                          <p:val>
                                            <p:strVal val="#ppt_x"/>
                                          </p:val>
                                        </p:tav>
                                      </p:tavLst>
                                    </p:anim>
                                    <p:anim calcmode="lin" valueType="num">
                                      <p:cBhvr additive="base">
                                        <p:cTn id="37" dur="500" fill="hold"/>
                                        <p:tgtEl>
                                          <p:spTgt spid="30"/>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 calcmode="lin" valueType="num">
                                      <p:cBhvr additive="base">
                                        <p:cTn id="40" dur="500" fill="hold"/>
                                        <p:tgtEl>
                                          <p:spTgt spid="31"/>
                                        </p:tgtEl>
                                        <p:attrNameLst>
                                          <p:attrName>ppt_x</p:attrName>
                                        </p:attrNameLst>
                                      </p:cBhvr>
                                      <p:tavLst>
                                        <p:tav tm="0">
                                          <p:val>
                                            <p:strVal val="#ppt_x"/>
                                          </p:val>
                                        </p:tav>
                                        <p:tav tm="100000">
                                          <p:val>
                                            <p:strVal val="#ppt_x"/>
                                          </p:val>
                                        </p:tav>
                                      </p:tavLst>
                                    </p:anim>
                                    <p:anim calcmode="lin" valueType="num">
                                      <p:cBhvr additive="base">
                                        <p:cTn id="41"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00" fill="hold"/>
                                        <p:tgtEl>
                                          <p:spTgt spid="13"/>
                                        </p:tgtEl>
                                        <p:attrNameLst>
                                          <p:attrName>ppt_x</p:attrName>
                                        </p:attrNameLst>
                                      </p:cBhvr>
                                      <p:tavLst>
                                        <p:tav tm="0">
                                          <p:val>
                                            <p:strVal val="#ppt_x"/>
                                          </p:val>
                                        </p:tav>
                                        <p:tav tm="100000">
                                          <p:val>
                                            <p:strVal val="#ppt_x"/>
                                          </p:val>
                                        </p:tav>
                                      </p:tavLst>
                                    </p:anim>
                                    <p:anim calcmode="lin" valueType="num">
                                      <p:cBhvr additive="base">
                                        <p:cTn id="47" dur="500" fill="hold"/>
                                        <p:tgtEl>
                                          <p:spTgt spid="13"/>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500" fill="hold"/>
                                        <p:tgtEl>
                                          <p:spTgt spid="15"/>
                                        </p:tgtEl>
                                        <p:attrNameLst>
                                          <p:attrName>ppt_x</p:attrName>
                                        </p:attrNameLst>
                                      </p:cBhvr>
                                      <p:tavLst>
                                        <p:tav tm="0">
                                          <p:val>
                                            <p:strVal val="#ppt_x"/>
                                          </p:val>
                                        </p:tav>
                                        <p:tav tm="100000">
                                          <p:val>
                                            <p:strVal val="#ppt_x"/>
                                          </p:val>
                                        </p:tav>
                                      </p:tavLst>
                                    </p:anim>
                                    <p:anim calcmode="lin" valueType="num">
                                      <p:cBhvr additive="base">
                                        <p:cTn id="51" dur="500" fill="hold"/>
                                        <p:tgtEl>
                                          <p:spTgt spid="15"/>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45"/>
                                        </p:tgtEl>
                                        <p:attrNameLst>
                                          <p:attrName>style.visibility</p:attrName>
                                        </p:attrNameLst>
                                      </p:cBhvr>
                                      <p:to>
                                        <p:strVal val="visible"/>
                                      </p:to>
                                    </p:set>
                                    <p:anim calcmode="lin" valueType="num">
                                      <p:cBhvr additive="base">
                                        <p:cTn id="54" dur="500" fill="hold"/>
                                        <p:tgtEl>
                                          <p:spTgt spid="45"/>
                                        </p:tgtEl>
                                        <p:attrNameLst>
                                          <p:attrName>ppt_x</p:attrName>
                                        </p:attrNameLst>
                                      </p:cBhvr>
                                      <p:tavLst>
                                        <p:tav tm="0">
                                          <p:val>
                                            <p:strVal val="#ppt_x"/>
                                          </p:val>
                                        </p:tav>
                                        <p:tav tm="100000">
                                          <p:val>
                                            <p:strVal val="#ppt_x"/>
                                          </p:val>
                                        </p:tav>
                                      </p:tavLst>
                                    </p:anim>
                                    <p:anim calcmode="lin" valueType="num">
                                      <p:cBhvr additive="base">
                                        <p:cTn id="55" dur="500" fill="hold"/>
                                        <p:tgtEl>
                                          <p:spTgt spid="45"/>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 calcmode="lin" valueType="num">
                                      <p:cBhvr additive="base">
                                        <p:cTn id="58" dur="500" fill="hold"/>
                                        <p:tgtEl>
                                          <p:spTgt spid="33"/>
                                        </p:tgtEl>
                                        <p:attrNameLst>
                                          <p:attrName>ppt_x</p:attrName>
                                        </p:attrNameLst>
                                      </p:cBhvr>
                                      <p:tavLst>
                                        <p:tav tm="0">
                                          <p:val>
                                            <p:strVal val="#ppt_x"/>
                                          </p:val>
                                        </p:tav>
                                        <p:tav tm="100000">
                                          <p:val>
                                            <p:strVal val="#ppt_x"/>
                                          </p:val>
                                        </p:tav>
                                      </p:tavLst>
                                    </p:anim>
                                    <p:anim calcmode="lin" valueType="num">
                                      <p:cBhvr additive="base">
                                        <p:cTn id="59" dur="500" fill="hold"/>
                                        <p:tgtEl>
                                          <p:spTgt spid="33"/>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34"/>
                                        </p:tgtEl>
                                        <p:attrNameLst>
                                          <p:attrName>style.visibility</p:attrName>
                                        </p:attrNameLst>
                                      </p:cBhvr>
                                      <p:to>
                                        <p:strVal val="visible"/>
                                      </p:to>
                                    </p:set>
                                    <p:anim calcmode="lin" valueType="num">
                                      <p:cBhvr additive="base">
                                        <p:cTn id="62" dur="500" fill="hold"/>
                                        <p:tgtEl>
                                          <p:spTgt spid="34"/>
                                        </p:tgtEl>
                                        <p:attrNameLst>
                                          <p:attrName>ppt_x</p:attrName>
                                        </p:attrNameLst>
                                      </p:cBhvr>
                                      <p:tavLst>
                                        <p:tav tm="0">
                                          <p:val>
                                            <p:strVal val="#ppt_x"/>
                                          </p:val>
                                        </p:tav>
                                        <p:tav tm="100000">
                                          <p:val>
                                            <p:strVal val="#ppt_x"/>
                                          </p:val>
                                        </p:tav>
                                      </p:tavLst>
                                    </p:anim>
                                    <p:anim calcmode="lin" valueType="num">
                                      <p:cBhvr additive="base">
                                        <p:cTn id="63"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16"/>
                                        </p:tgtEl>
                                        <p:attrNameLst>
                                          <p:attrName>style.visibility</p:attrName>
                                        </p:attrNameLst>
                                      </p:cBhvr>
                                      <p:to>
                                        <p:strVal val="visible"/>
                                      </p:to>
                                    </p:set>
                                    <p:anim calcmode="lin" valueType="num">
                                      <p:cBhvr additive="base">
                                        <p:cTn id="68" dur="500" fill="hold"/>
                                        <p:tgtEl>
                                          <p:spTgt spid="16"/>
                                        </p:tgtEl>
                                        <p:attrNameLst>
                                          <p:attrName>ppt_x</p:attrName>
                                        </p:attrNameLst>
                                      </p:cBhvr>
                                      <p:tavLst>
                                        <p:tav tm="0">
                                          <p:val>
                                            <p:strVal val="#ppt_x"/>
                                          </p:val>
                                        </p:tav>
                                        <p:tav tm="100000">
                                          <p:val>
                                            <p:strVal val="#ppt_x"/>
                                          </p:val>
                                        </p:tav>
                                      </p:tavLst>
                                    </p:anim>
                                    <p:anim calcmode="lin" valueType="num">
                                      <p:cBhvr additive="base">
                                        <p:cTn id="69" dur="500" fill="hold"/>
                                        <p:tgtEl>
                                          <p:spTgt spid="16"/>
                                        </p:tgtEl>
                                        <p:attrNameLst>
                                          <p:attrName>ppt_y</p:attrName>
                                        </p:attrNameLst>
                                      </p:cBhvr>
                                      <p:tavLst>
                                        <p:tav tm="0">
                                          <p:val>
                                            <p:strVal val="1+#ppt_h/2"/>
                                          </p:val>
                                        </p:tav>
                                        <p:tav tm="100000">
                                          <p:val>
                                            <p:strVal val="#ppt_y"/>
                                          </p:val>
                                        </p:tav>
                                      </p:tavLst>
                                    </p:anim>
                                  </p:childTnLst>
                                </p:cTn>
                              </p:par>
                              <p:par>
                                <p:cTn id="70" presetID="2" presetClass="entr" presetSubtype="4" fill="hold" nodeType="withEffect">
                                  <p:stCondLst>
                                    <p:cond delay="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500" fill="hold"/>
                                        <p:tgtEl>
                                          <p:spTgt spid="18"/>
                                        </p:tgtEl>
                                        <p:attrNameLst>
                                          <p:attrName>ppt_x</p:attrName>
                                        </p:attrNameLst>
                                      </p:cBhvr>
                                      <p:tavLst>
                                        <p:tav tm="0">
                                          <p:val>
                                            <p:strVal val="#ppt_x"/>
                                          </p:val>
                                        </p:tav>
                                        <p:tav tm="100000">
                                          <p:val>
                                            <p:strVal val="#ppt_x"/>
                                          </p:val>
                                        </p:tav>
                                      </p:tavLst>
                                    </p:anim>
                                    <p:anim calcmode="lin" valueType="num">
                                      <p:cBhvr additive="base">
                                        <p:cTn id="73" dur="500" fill="hold"/>
                                        <p:tgtEl>
                                          <p:spTgt spid="18"/>
                                        </p:tgtEl>
                                        <p:attrNameLst>
                                          <p:attrName>ppt_y</p:attrName>
                                        </p:attrNameLst>
                                      </p:cBhvr>
                                      <p:tavLst>
                                        <p:tav tm="0">
                                          <p:val>
                                            <p:strVal val="1+#ppt_h/2"/>
                                          </p:val>
                                        </p:tav>
                                        <p:tav tm="100000">
                                          <p:val>
                                            <p:strVal val="#ppt_y"/>
                                          </p:val>
                                        </p:tav>
                                      </p:tavLst>
                                    </p:anim>
                                  </p:childTnLst>
                                </p:cTn>
                              </p:par>
                              <p:par>
                                <p:cTn id="74" presetID="2" presetClass="entr" presetSubtype="4" fill="hold" nodeType="withEffect">
                                  <p:stCondLst>
                                    <p:cond delay="0"/>
                                  </p:stCondLst>
                                  <p:childTnLst>
                                    <p:set>
                                      <p:cBhvr>
                                        <p:cTn id="75" dur="1" fill="hold">
                                          <p:stCondLst>
                                            <p:cond delay="0"/>
                                          </p:stCondLst>
                                        </p:cTn>
                                        <p:tgtEl>
                                          <p:spTgt spid="46"/>
                                        </p:tgtEl>
                                        <p:attrNameLst>
                                          <p:attrName>style.visibility</p:attrName>
                                        </p:attrNameLst>
                                      </p:cBhvr>
                                      <p:to>
                                        <p:strVal val="visible"/>
                                      </p:to>
                                    </p:set>
                                    <p:anim calcmode="lin" valueType="num">
                                      <p:cBhvr additive="base">
                                        <p:cTn id="76" dur="500" fill="hold"/>
                                        <p:tgtEl>
                                          <p:spTgt spid="46"/>
                                        </p:tgtEl>
                                        <p:attrNameLst>
                                          <p:attrName>ppt_x</p:attrName>
                                        </p:attrNameLst>
                                      </p:cBhvr>
                                      <p:tavLst>
                                        <p:tav tm="0">
                                          <p:val>
                                            <p:strVal val="#ppt_x"/>
                                          </p:val>
                                        </p:tav>
                                        <p:tav tm="100000">
                                          <p:val>
                                            <p:strVal val="#ppt_x"/>
                                          </p:val>
                                        </p:tav>
                                      </p:tavLst>
                                    </p:anim>
                                    <p:anim calcmode="lin" valueType="num">
                                      <p:cBhvr additive="base">
                                        <p:cTn id="77" dur="500" fill="hold"/>
                                        <p:tgtEl>
                                          <p:spTgt spid="46"/>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0"/>
                                  </p:stCondLst>
                                  <p:childTnLst>
                                    <p:set>
                                      <p:cBhvr>
                                        <p:cTn id="79" dur="1" fill="hold">
                                          <p:stCondLst>
                                            <p:cond delay="0"/>
                                          </p:stCondLst>
                                        </p:cTn>
                                        <p:tgtEl>
                                          <p:spTgt spid="36"/>
                                        </p:tgtEl>
                                        <p:attrNameLst>
                                          <p:attrName>style.visibility</p:attrName>
                                        </p:attrNameLst>
                                      </p:cBhvr>
                                      <p:to>
                                        <p:strVal val="visible"/>
                                      </p:to>
                                    </p:set>
                                    <p:anim calcmode="lin" valueType="num">
                                      <p:cBhvr additive="base">
                                        <p:cTn id="80" dur="500" fill="hold"/>
                                        <p:tgtEl>
                                          <p:spTgt spid="36"/>
                                        </p:tgtEl>
                                        <p:attrNameLst>
                                          <p:attrName>ppt_x</p:attrName>
                                        </p:attrNameLst>
                                      </p:cBhvr>
                                      <p:tavLst>
                                        <p:tav tm="0">
                                          <p:val>
                                            <p:strVal val="#ppt_x"/>
                                          </p:val>
                                        </p:tav>
                                        <p:tav tm="100000">
                                          <p:val>
                                            <p:strVal val="#ppt_x"/>
                                          </p:val>
                                        </p:tav>
                                      </p:tavLst>
                                    </p:anim>
                                    <p:anim calcmode="lin" valueType="num">
                                      <p:cBhvr additive="base">
                                        <p:cTn id="81" dur="500" fill="hold"/>
                                        <p:tgtEl>
                                          <p:spTgt spid="36"/>
                                        </p:tgtEl>
                                        <p:attrNameLst>
                                          <p:attrName>ppt_y</p:attrName>
                                        </p:attrNameLst>
                                      </p:cBhvr>
                                      <p:tavLst>
                                        <p:tav tm="0">
                                          <p:val>
                                            <p:strVal val="1+#ppt_h/2"/>
                                          </p:val>
                                        </p:tav>
                                        <p:tav tm="100000">
                                          <p:val>
                                            <p:strVal val="#ppt_y"/>
                                          </p:val>
                                        </p:tav>
                                      </p:tavLst>
                                    </p:anim>
                                  </p:childTnLst>
                                </p:cTn>
                              </p:par>
                              <p:par>
                                <p:cTn id="82" presetID="2" presetClass="entr" presetSubtype="4" fill="hold" grpId="0" nodeType="withEffect">
                                  <p:stCondLst>
                                    <p:cond delay="0"/>
                                  </p:stCondLst>
                                  <p:childTnLst>
                                    <p:set>
                                      <p:cBhvr>
                                        <p:cTn id="83" dur="1" fill="hold">
                                          <p:stCondLst>
                                            <p:cond delay="0"/>
                                          </p:stCondLst>
                                        </p:cTn>
                                        <p:tgtEl>
                                          <p:spTgt spid="37"/>
                                        </p:tgtEl>
                                        <p:attrNameLst>
                                          <p:attrName>style.visibility</p:attrName>
                                        </p:attrNameLst>
                                      </p:cBhvr>
                                      <p:to>
                                        <p:strVal val="visible"/>
                                      </p:to>
                                    </p:set>
                                    <p:anim calcmode="lin" valueType="num">
                                      <p:cBhvr additive="base">
                                        <p:cTn id="84" dur="500" fill="hold"/>
                                        <p:tgtEl>
                                          <p:spTgt spid="37"/>
                                        </p:tgtEl>
                                        <p:attrNameLst>
                                          <p:attrName>ppt_x</p:attrName>
                                        </p:attrNameLst>
                                      </p:cBhvr>
                                      <p:tavLst>
                                        <p:tav tm="0">
                                          <p:val>
                                            <p:strVal val="#ppt_x"/>
                                          </p:val>
                                        </p:tav>
                                        <p:tav tm="100000">
                                          <p:val>
                                            <p:strVal val="#ppt_x"/>
                                          </p:val>
                                        </p:tav>
                                      </p:tavLst>
                                    </p:anim>
                                    <p:anim calcmode="lin" valueType="num">
                                      <p:cBhvr additive="base">
                                        <p:cTn id="85"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42" presetClass="entr" presetSubtype="0" fill="hold" nodeType="clickEffect">
                                  <p:stCondLst>
                                    <p:cond delay="0"/>
                                  </p:stCondLst>
                                  <p:childTnLst>
                                    <p:set>
                                      <p:cBhvr>
                                        <p:cTn id="89" dur="1" fill="hold">
                                          <p:stCondLst>
                                            <p:cond delay="0"/>
                                          </p:stCondLst>
                                        </p:cTn>
                                        <p:tgtEl>
                                          <p:spTgt spid="19"/>
                                        </p:tgtEl>
                                        <p:attrNameLst>
                                          <p:attrName>style.visibility</p:attrName>
                                        </p:attrNameLst>
                                      </p:cBhvr>
                                      <p:to>
                                        <p:strVal val="visible"/>
                                      </p:to>
                                    </p:set>
                                    <p:animEffect transition="in" filter="fade">
                                      <p:cBhvr>
                                        <p:cTn id="90" dur="1000"/>
                                        <p:tgtEl>
                                          <p:spTgt spid="19"/>
                                        </p:tgtEl>
                                      </p:cBhvr>
                                    </p:animEffect>
                                    <p:anim calcmode="lin" valueType="num">
                                      <p:cBhvr>
                                        <p:cTn id="91" dur="1000" fill="hold"/>
                                        <p:tgtEl>
                                          <p:spTgt spid="19"/>
                                        </p:tgtEl>
                                        <p:attrNameLst>
                                          <p:attrName>ppt_x</p:attrName>
                                        </p:attrNameLst>
                                      </p:cBhvr>
                                      <p:tavLst>
                                        <p:tav tm="0">
                                          <p:val>
                                            <p:strVal val="#ppt_x"/>
                                          </p:val>
                                        </p:tav>
                                        <p:tav tm="100000">
                                          <p:val>
                                            <p:strVal val="#ppt_x"/>
                                          </p:val>
                                        </p:tav>
                                      </p:tavLst>
                                    </p:anim>
                                    <p:anim calcmode="lin" valueType="num">
                                      <p:cBhvr>
                                        <p:cTn id="92" dur="1000" fill="hold"/>
                                        <p:tgtEl>
                                          <p:spTgt spid="19"/>
                                        </p:tgtEl>
                                        <p:attrNameLst>
                                          <p:attrName>ppt_y</p:attrName>
                                        </p:attrNameLst>
                                      </p:cBhvr>
                                      <p:tavLst>
                                        <p:tav tm="0">
                                          <p:val>
                                            <p:strVal val="#ppt_y+.1"/>
                                          </p:val>
                                        </p:tav>
                                        <p:tav tm="100000">
                                          <p:val>
                                            <p:strVal val="#ppt_y"/>
                                          </p:val>
                                        </p:tav>
                                      </p:tavLst>
                                    </p:anim>
                                  </p:childTnLst>
                                </p:cTn>
                              </p:par>
                              <p:par>
                                <p:cTn id="93" presetID="42" presetClass="entr" presetSubtype="0" fill="hold" nodeType="withEffect">
                                  <p:stCondLst>
                                    <p:cond delay="0"/>
                                  </p:stCondLst>
                                  <p:childTnLst>
                                    <p:set>
                                      <p:cBhvr>
                                        <p:cTn id="94" dur="1" fill="hold">
                                          <p:stCondLst>
                                            <p:cond delay="0"/>
                                          </p:stCondLst>
                                        </p:cTn>
                                        <p:tgtEl>
                                          <p:spTgt spid="21"/>
                                        </p:tgtEl>
                                        <p:attrNameLst>
                                          <p:attrName>style.visibility</p:attrName>
                                        </p:attrNameLst>
                                      </p:cBhvr>
                                      <p:to>
                                        <p:strVal val="visible"/>
                                      </p:to>
                                    </p:set>
                                    <p:animEffect transition="in" filter="fade">
                                      <p:cBhvr>
                                        <p:cTn id="95" dur="1000"/>
                                        <p:tgtEl>
                                          <p:spTgt spid="21"/>
                                        </p:tgtEl>
                                      </p:cBhvr>
                                    </p:animEffect>
                                    <p:anim calcmode="lin" valueType="num">
                                      <p:cBhvr>
                                        <p:cTn id="96" dur="1000" fill="hold"/>
                                        <p:tgtEl>
                                          <p:spTgt spid="21"/>
                                        </p:tgtEl>
                                        <p:attrNameLst>
                                          <p:attrName>ppt_x</p:attrName>
                                        </p:attrNameLst>
                                      </p:cBhvr>
                                      <p:tavLst>
                                        <p:tav tm="0">
                                          <p:val>
                                            <p:strVal val="#ppt_x"/>
                                          </p:val>
                                        </p:tav>
                                        <p:tav tm="100000">
                                          <p:val>
                                            <p:strVal val="#ppt_x"/>
                                          </p:val>
                                        </p:tav>
                                      </p:tavLst>
                                    </p:anim>
                                    <p:anim calcmode="lin" valueType="num">
                                      <p:cBhvr>
                                        <p:cTn id="97" dur="1000" fill="hold"/>
                                        <p:tgtEl>
                                          <p:spTgt spid="21"/>
                                        </p:tgtEl>
                                        <p:attrNameLst>
                                          <p:attrName>ppt_y</p:attrName>
                                        </p:attrNameLst>
                                      </p:cBhvr>
                                      <p:tavLst>
                                        <p:tav tm="0">
                                          <p:val>
                                            <p:strVal val="#ppt_y+.1"/>
                                          </p:val>
                                        </p:tav>
                                        <p:tav tm="100000">
                                          <p:val>
                                            <p:strVal val="#ppt_y"/>
                                          </p:val>
                                        </p:tav>
                                      </p:tavLst>
                                    </p:anim>
                                  </p:childTnLst>
                                </p:cTn>
                              </p:par>
                              <p:par>
                                <p:cTn id="98" presetID="42" presetClass="entr" presetSubtype="0" fill="hold" nodeType="with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fade">
                                      <p:cBhvr>
                                        <p:cTn id="100" dur="1000"/>
                                        <p:tgtEl>
                                          <p:spTgt spid="22"/>
                                        </p:tgtEl>
                                      </p:cBhvr>
                                    </p:animEffect>
                                    <p:anim calcmode="lin" valueType="num">
                                      <p:cBhvr>
                                        <p:cTn id="101" dur="1000" fill="hold"/>
                                        <p:tgtEl>
                                          <p:spTgt spid="22"/>
                                        </p:tgtEl>
                                        <p:attrNameLst>
                                          <p:attrName>ppt_x</p:attrName>
                                        </p:attrNameLst>
                                      </p:cBhvr>
                                      <p:tavLst>
                                        <p:tav tm="0">
                                          <p:val>
                                            <p:strVal val="#ppt_x"/>
                                          </p:val>
                                        </p:tav>
                                        <p:tav tm="100000">
                                          <p:val>
                                            <p:strVal val="#ppt_x"/>
                                          </p:val>
                                        </p:tav>
                                      </p:tavLst>
                                    </p:anim>
                                    <p:anim calcmode="lin" valueType="num">
                                      <p:cBhvr>
                                        <p:cTn id="102" dur="1000" fill="hold"/>
                                        <p:tgtEl>
                                          <p:spTgt spid="22"/>
                                        </p:tgtEl>
                                        <p:attrNameLst>
                                          <p:attrName>ppt_y</p:attrName>
                                        </p:attrNameLst>
                                      </p:cBhvr>
                                      <p:tavLst>
                                        <p:tav tm="0">
                                          <p:val>
                                            <p:strVal val="#ppt_y+.1"/>
                                          </p:val>
                                        </p:tav>
                                        <p:tav tm="100000">
                                          <p:val>
                                            <p:strVal val="#ppt_y"/>
                                          </p:val>
                                        </p:tav>
                                      </p:tavLst>
                                    </p:anim>
                                  </p:childTnLst>
                                </p:cTn>
                              </p:par>
                              <p:par>
                                <p:cTn id="103" presetID="42" presetClass="entr" presetSubtype="0" fill="hold" nodeType="with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fade">
                                      <p:cBhvr>
                                        <p:cTn id="105" dur="1000"/>
                                        <p:tgtEl>
                                          <p:spTgt spid="23"/>
                                        </p:tgtEl>
                                      </p:cBhvr>
                                    </p:animEffect>
                                    <p:anim calcmode="lin" valueType="num">
                                      <p:cBhvr>
                                        <p:cTn id="106" dur="1000" fill="hold"/>
                                        <p:tgtEl>
                                          <p:spTgt spid="23"/>
                                        </p:tgtEl>
                                        <p:attrNameLst>
                                          <p:attrName>ppt_x</p:attrName>
                                        </p:attrNameLst>
                                      </p:cBhvr>
                                      <p:tavLst>
                                        <p:tav tm="0">
                                          <p:val>
                                            <p:strVal val="#ppt_x"/>
                                          </p:val>
                                        </p:tav>
                                        <p:tav tm="100000">
                                          <p:val>
                                            <p:strVal val="#ppt_x"/>
                                          </p:val>
                                        </p:tav>
                                      </p:tavLst>
                                    </p:anim>
                                    <p:anim calcmode="lin" valueType="num">
                                      <p:cBhvr>
                                        <p:cTn id="107" dur="1000" fill="hold"/>
                                        <p:tgtEl>
                                          <p:spTgt spid="23"/>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9" dur="1" fill="hold">
                                          <p:stCondLst>
                                            <p:cond delay="0"/>
                                          </p:stCondLst>
                                        </p:cTn>
                                        <p:tgtEl>
                                          <p:spTgt spid="47"/>
                                        </p:tgtEl>
                                        <p:attrNameLst>
                                          <p:attrName>style.visibility</p:attrName>
                                        </p:attrNameLst>
                                      </p:cBhvr>
                                      <p:to>
                                        <p:strVal val="visible"/>
                                      </p:to>
                                    </p:set>
                                    <p:animEffect transition="in" filter="fade">
                                      <p:cBhvr>
                                        <p:cTn id="110" dur="1000"/>
                                        <p:tgtEl>
                                          <p:spTgt spid="47"/>
                                        </p:tgtEl>
                                      </p:cBhvr>
                                    </p:animEffect>
                                    <p:anim calcmode="lin" valueType="num">
                                      <p:cBhvr>
                                        <p:cTn id="111" dur="1000" fill="hold"/>
                                        <p:tgtEl>
                                          <p:spTgt spid="47"/>
                                        </p:tgtEl>
                                        <p:attrNameLst>
                                          <p:attrName>ppt_x</p:attrName>
                                        </p:attrNameLst>
                                      </p:cBhvr>
                                      <p:tavLst>
                                        <p:tav tm="0">
                                          <p:val>
                                            <p:strVal val="#ppt_x"/>
                                          </p:val>
                                        </p:tav>
                                        <p:tav tm="100000">
                                          <p:val>
                                            <p:strVal val="#ppt_x"/>
                                          </p:val>
                                        </p:tav>
                                      </p:tavLst>
                                    </p:anim>
                                    <p:anim calcmode="lin" valueType="num">
                                      <p:cBhvr>
                                        <p:cTn id="112" dur="1000" fill="hold"/>
                                        <p:tgtEl>
                                          <p:spTgt spid="47"/>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1000"/>
                                        <p:tgtEl>
                                          <p:spTgt spid="39"/>
                                        </p:tgtEl>
                                      </p:cBhvr>
                                    </p:animEffect>
                                    <p:anim calcmode="lin" valueType="num">
                                      <p:cBhvr>
                                        <p:cTn id="116" dur="1000" fill="hold"/>
                                        <p:tgtEl>
                                          <p:spTgt spid="39"/>
                                        </p:tgtEl>
                                        <p:attrNameLst>
                                          <p:attrName>ppt_x</p:attrName>
                                        </p:attrNameLst>
                                      </p:cBhvr>
                                      <p:tavLst>
                                        <p:tav tm="0">
                                          <p:val>
                                            <p:strVal val="#ppt_x"/>
                                          </p:val>
                                        </p:tav>
                                        <p:tav tm="100000">
                                          <p:val>
                                            <p:strVal val="#ppt_x"/>
                                          </p:val>
                                        </p:tav>
                                      </p:tavLst>
                                    </p:anim>
                                    <p:anim calcmode="lin" valueType="num">
                                      <p:cBhvr>
                                        <p:cTn id="117" dur="1000" fill="hold"/>
                                        <p:tgtEl>
                                          <p:spTgt spid="39"/>
                                        </p:tgtEl>
                                        <p:attrNameLst>
                                          <p:attrName>ppt_y</p:attrName>
                                        </p:attrNameLst>
                                      </p:cBhvr>
                                      <p:tavLst>
                                        <p:tav tm="0">
                                          <p:val>
                                            <p:strVal val="#ppt_y+.1"/>
                                          </p:val>
                                        </p:tav>
                                        <p:tav tm="100000">
                                          <p:val>
                                            <p:strVal val="#ppt_y"/>
                                          </p:val>
                                        </p:tav>
                                      </p:tavLst>
                                    </p:anim>
                                  </p:childTnLst>
                                </p:cTn>
                              </p:par>
                              <p:par>
                                <p:cTn id="118" presetID="42" presetClass="entr" presetSubtype="0" fill="hold" grpId="0" nodeType="withEffect">
                                  <p:stCondLst>
                                    <p:cond delay="0"/>
                                  </p:stCondLst>
                                  <p:childTnLst>
                                    <p:set>
                                      <p:cBhvr>
                                        <p:cTn id="119" dur="1" fill="hold">
                                          <p:stCondLst>
                                            <p:cond delay="0"/>
                                          </p:stCondLst>
                                        </p:cTn>
                                        <p:tgtEl>
                                          <p:spTgt spid="40"/>
                                        </p:tgtEl>
                                        <p:attrNameLst>
                                          <p:attrName>style.visibility</p:attrName>
                                        </p:attrNameLst>
                                      </p:cBhvr>
                                      <p:to>
                                        <p:strVal val="visible"/>
                                      </p:to>
                                    </p:set>
                                    <p:animEffect transition="in" filter="fade">
                                      <p:cBhvr>
                                        <p:cTn id="120" dur="1000"/>
                                        <p:tgtEl>
                                          <p:spTgt spid="40"/>
                                        </p:tgtEl>
                                      </p:cBhvr>
                                    </p:animEffect>
                                    <p:anim calcmode="lin" valueType="num">
                                      <p:cBhvr>
                                        <p:cTn id="121" dur="1000" fill="hold"/>
                                        <p:tgtEl>
                                          <p:spTgt spid="40"/>
                                        </p:tgtEl>
                                        <p:attrNameLst>
                                          <p:attrName>ppt_x</p:attrName>
                                        </p:attrNameLst>
                                      </p:cBhvr>
                                      <p:tavLst>
                                        <p:tav tm="0">
                                          <p:val>
                                            <p:strVal val="#ppt_x"/>
                                          </p:val>
                                        </p:tav>
                                        <p:tav tm="100000">
                                          <p:val>
                                            <p:strVal val="#ppt_x"/>
                                          </p:val>
                                        </p:tav>
                                      </p:tavLst>
                                    </p:anim>
                                    <p:anim calcmode="lin" valueType="num">
                                      <p:cBhvr>
                                        <p:cTn id="122" dur="1000" fill="hold"/>
                                        <p:tgtEl>
                                          <p:spTgt spid="40"/>
                                        </p:tgtEl>
                                        <p:attrNameLst>
                                          <p:attrName>ppt_y</p:attrName>
                                        </p:attrNameLst>
                                      </p:cBhvr>
                                      <p:tavLst>
                                        <p:tav tm="0">
                                          <p:val>
                                            <p:strVal val="#ppt_y+.1"/>
                                          </p:val>
                                        </p:tav>
                                        <p:tav tm="100000">
                                          <p:val>
                                            <p:strVal val="#ppt_y"/>
                                          </p:val>
                                        </p:tav>
                                      </p:tavLst>
                                    </p:anim>
                                  </p:childTnLst>
                                </p:cTn>
                              </p:par>
                              <p:par>
                                <p:cTn id="123" presetID="42" presetClass="entr" presetSubtype="0" fill="hold" grpId="0" nodeType="withEffect">
                                  <p:stCondLst>
                                    <p:cond delay="0"/>
                                  </p:stCondLst>
                                  <p:childTnLst>
                                    <p:set>
                                      <p:cBhvr>
                                        <p:cTn id="124" dur="1" fill="hold">
                                          <p:stCondLst>
                                            <p:cond delay="0"/>
                                          </p:stCondLst>
                                        </p:cTn>
                                        <p:tgtEl>
                                          <p:spTgt spid="41"/>
                                        </p:tgtEl>
                                        <p:attrNameLst>
                                          <p:attrName>style.visibility</p:attrName>
                                        </p:attrNameLst>
                                      </p:cBhvr>
                                      <p:to>
                                        <p:strVal val="visible"/>
                                      </p:to>
                                    </p:set>
                                    <p:animEffect transition="in" filter="fade">
                                      <p:cBhvr>
                                        <p:cTn id="125" dur="1000"/>
                                        <p:tgtEl>
                                          <p:spTgt spid="41"/>
                                        </p:tgtEl>
                                      </p:cBhvr>
                                    </p:animEffect>
                                    <p:anim calcmode="lin" valueType="num">
                                      <p:cBhvr>
                                        <p:cTn id="126" dur="1000" fill="hold"/>
                                        <p:tgtEl>
                                          <p:spTgt spid="41"/>
                                        </p:tgtEl>
                                        <p:attrNameLst>
                                          <p:attrName>ppt_x</p:attrName>
                                        </p:attrNameLst>
                                      </p:cBhvr>
                                      <p:tavLst>
                                        <p:tav tm="0">
                                          <p:val>
                                            <p:strVal val="#ppt_x"/>
                                          </p:val>
                                        </p:tav>
                                        <p:tav tm="100000">
                                          <p:val>
                                            <p:strVal val="#ppt_x"/>
                                          </p:val>
                                        </p:tav>
                                      </p:tavLst>
                                    </p:anim>
                                    <p:anim calcmode="lin" valueType="num">
                                      <p:cBhvr>
                                        <p:cTn id="127"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30" grpId="0" animBg="1"/>
      <p:bldP spid="31" grpId="0" animBg="1"/>
      <p:bldP spid="33" grpId="0" animBg="1"/>
      <p:bldP spid="34" grpId="0" animBg="1"/>
      <p:bldP spid="36" grpId="0" animBg="1"/>
      <p:bldP spid="37" grpId="0" animBg="1"/>
      <p:bldP spid="39" grpId="0" animBg="1"/>
      <p:bldP spid="40" grpId="0" animBg="1"/>
      <p:bldP spid="4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10287000" y="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952500" y="5429250"/>
            <a:ext cx="1905000" cy="1905000"/>
          </a:xfrm>
          <a:prstGeom prst="rect">
            <a:avLst/>
          </a:prstGeom>
        </p:spPr>
      </p:pic>
      <p:pic>
        <p:nvPicPr>
          <p:cNvPr id="5" name="Image 3" descr="preencoded.png"/>
          <p:cNvPicPr>
            <a:picLocks noChangeAspect="1"/>
          </p:cNvPicPr>
          <p:nvPr/>
        </p:nvPicPr>
        <p:blipFill>
          <a:blip r:embed="rId6"/>
          <a:stretch>
            <a:fillRect/>
          </a:stretch>
        </p:blipFill>
        <p:spPr>
          <a:xfrm>
            <a:off x="0" y="0"/>
            <a:ext cx="12192000" cy="685800"/>
          </a:xfrm>
          <a:prstGeom prst="rect">
            <a:avLst/>
          </a:prstGeom>
        </p:spPr>
      </p:pic>
      <p:pic>
        <p:nvPicPr>
          <p:cNvPr id="6" name="Image 4" descr="preencoded.png"/>
          <p:cNvPicPr>
            <a:picLocks noChangeAspect="1"/>
          </p:cNvPicPr>
          <p:nvPr/>
        </p:nvPicPr>
        <p:blipFill>
          <a:blip r:embed="rId7"/>
          <a:stretch>
            <a:fillRect/>
          </a:stretch>
        </p:blipFill>
        <p:spPr>
          <a:xfrm>
            <a:off x="381000" y="1409699"/>
            <a:ext cx="3606701" cy="4138929"/>
          </a:xfrm>
          <a:prstGeom prst="rect">
            <a:avLst/>
          </a:prstGeom>
        </p:spPr>
      </p:pic>
      <p:pic>
        <p:nvPicPr>
          <p:cNvPr id="9" name="Image 7" descr="preencoded.png"/>
          <p:cNvPicPr>
            <a:picLocks noChangeAspect="1"/>
          </p:cNvPicPr>
          <p:nvPr/>
        </p:nvPicPr>
        <p:blipFill>
          <a:blip r:embed="rId8"/>
          <a:stretch>
            <a:fillRect/>
          </a:stretch>
        </p:blipFill>
        <p:spPr>
          <a:xfrm>
            <a:off x="568960" y="2400300"/>
            <a:ext cx="152400" cy="152400"/>
          </a:xfrm>
          <a:prstGeom prst="rect">
            <a:avLst/>
          </a:prstGeom>
        </p:spPr>
      </p:pic>
      <p:pic>
        <p:nvPicPr>
          <p:cNvPr id="10" name="Image 8" descr="preencoded.png"/>
          <p:cNvPicPr>
            <a:picLocks noChangeAspect="1"/>
          </p:cNvPicPr>
          <p:nvPr/>
        </p:nvPicPr>
        <p:blipFill>
          <a:blip r:embed="rId8"/>
          <a:stretch>
            <a:fillRect/>
          </a:stretch>
        </p:blipFill>
        <p:spPr>
          <a:xfrm>
            <a:off x="568960" y="2933700"/>
            <a:ext cx="152400" cy="152400"/>
          </a:xfrm>
          <a:prstGeom prst="rect">
            <a:avLst/>
          </a:prstGeom>
        </p:spPr>
      </p:pic>
      <p:pic>
        <p:nvPicPr>
          <p:cNvPr id="11" name="Image 9" descr="preencoded.png"/>
          <p:cNvPicPr>
            <a:picLocks noChangeAspect="1"/>
          </p:cNvPicPr>
          <p:nvPr/>
        </p:nvPicPr>
        <p:blipFill>
          <a:blip r:embed="rId8"/>
          <a:stretch>
            <a:fillRect/>
          </a:stretch>
        </p:blipFill>
        <p:spPr>
          <a:xfrm>
            <a:off x="579120" y="3289300"/>
            <a:ext cx="152400" cy="152400"/>
          </a:xfrm>
          <a:prstGeom prst="rect">
            <a:avLst/>
          </a:prstGeom>
        </p:spPr>
      </p:pic>
      <p:pic>
        <p:nvPicPr>
          <p:cNvPr id="12" name="Image 10" descr="preencoded.png"/>
          <p:cNvPicPr>
            <a:picLocks noChangeAspect="1"/>
          </p:cNvPicPr>
          <p:nvPr/>
        </p:nvPicPr>
        <p:blipFill>
          <a:blip r:embed="rId9"/>
          <a:stretch>
            <a:fillRect/>
          </a:stretch>
        </p:blipFill>
        <p:spPr>
          <a:xfrm>
            <a:off x="4292501" y="1409699"/>
            <a:ext cx="3606850" cy="4138929"/>
          </a:xfrm>
          <a:prstGeom prst="rect">
            <a:avLst/>
          </a:prstGeom>
        </p:spPr>
      </p:pic>
      <p:pic>
        <p:nvPicPr>
          <p:cNvPr id="14" name="Image 12" descr="preencoded.png"/>
          <p:cNvPicPr>
            <a:picLocks noChangeAspect="1"/>
          </p:cNvPicPr>
          <p:nvPr/>
        </p:nvPicPr>
        <p:blipFill>
          <a:blip r:embed="rId10"/>
          <a:stretch>
            <a:fillRect/>
          </a:stretch>
        </p:blipFill>
        <p:spPr>
          <a:xfrm>
            <a:off x="4399180" y="2401551"/>
            <a:ext cx="158769" cy="158769"/>
          </a:xfrm>
          <a:prstGeom prst="rect">
            <a:avLst/>
          </a:prstGeom>
        </p:spPr>
      </p:pic>
      <p:pic>
        <p:nvPicPr>
          <p:cNvPr id="15" name="Image 13" descr="preencoded.png"/>
          <p:cNvPicPr>
            <a:picLocks noChangeAspect="1"/>
          </p:cNvPicPr>
          <p:nvPr/>
        </p:nvPicPr>
        <p:blipFill>
          <a:blip r:embed="rId10"/>
          <a:stretch>
            <a:fillRect/>
          </a:stretch>
        </p:blipFill>
        <p:spPr>
          <a:xfrm>
            <a:off x="4399180" y="2807951"/>
            <a:ext cx="158769" cy="158769"/>
          </a:xfrm>
          <a:prstGeom prst="rect">
            <a:avLst/>
          </a:prstGeom>
        </p:spPr>
      </p:pic>
      <p:pic>
        <p:nvPicPr>
          <p:cNvPr id="16" name="Image 14" descr="preencoded.png"/>
          <p:cNvPicPr>
            <a:picLocks noChangeAspect="1"/>
          </p:cNvPicPr>
          <p:nvPr/>
        </p:nvPicPr>
        <p:blipFill>
          <a:blip r:embed="rId10"/>
          <a:stretch>
            <a:fillRect/>
          </a:stretch>
        </p:blipFill>
        <p:spPr>
          <a:xfrm>
            <a:off x="4399180" y="3234671"/>
            <a:ext cx="158769" cy="158769"/>
          </a:xfrm>
          <a:prstGeom prst="rect">
            <a:avLst/>
          </a:prstGeom>
        </p:spPr>
      </p:pic>
      <p:pic>
        <p:nvPicPr>
          <p:cNvPr id="17" name="Image 15" descr="preencoded.png"/>
          <p:cNvPicPr>
            <a:picLocks noChangeAspect="1"/>
          </p:cNvPicPr>
          <p:nvPr/>
        </p:nvPicPr>
        <p:blipFill>
          <a:blip r:embed="rId11"/>
          <a:stretch>
            <a:fillRect/>
          </a:stretch>
        </p:blipFill>
        <p:spPr>
          <a:xfrm>
            <a:off x="8204150" y="1409699"/>
            <a:ext cx="3606701" cy="4138929"/>
          </a:xfrm>
          <a:prstGeom prst="rect">
            <a:avLst/>
          </a:prstGeom>
        </p:spPr>
      </p:pic>
      <p:pic>
        <p:nvPicPr>
          <p:cNvPr id="20" name="Image 18" descr="preencoded.png"/>
          <p:cNvPicPr>
            <a:picLocks noChangeAspect="1"/>
          </p:cNvPicPr>
          <p:nvPr/>
        </p:nvPicPr>
        <p:blipFill>
          <a:blip r:embed="rId12"/>
          <a:stretch>
            <a:fillRect/>
          </a:stretch>
        </p:blipFill>
        <p:spPr>
          <a:xfrm>
            <a:off x="8371790" y="2400300"/>
            <a:ext cx="152400" cy="152400"/>
          </a:xfrm>
          <a:prstGeom prst="rect">
            <a:avLst/>
          </a:prstGeom>
        </p:spPr>
      </p:pic>
      <p:pic>
        <p:nvPicPr>
          <p:cNvPr id="21" name="Image 19" descr="preencoded.png"/>
          <p:cNvPicPr>
            <a:picLocks noChangeAspect="1"/>
          </p:cNvPicPr>
          <p:nvPr/>
        </p:nvPicPr>
        <p:blipFill>
          <a:blip r:embed="rId12"/>
          <a:stretch>
            <a:fillRect/>
          </a:stretch>
        </p:blipFill>
        <p:spPr>
          <a:xfrm>
            <a:off x="8371790" y="2745740"/>
            <a:ext cx="152400" cy="152400"/>
          </a:xfrm>
          <a:prstGeom prst="rect">
            <a:avLst/>
          </a:prstGeom>
        </p:spPr>
      </p:pic>
      <p:pic>
        <p:nvPicPr>
          <p:cNvPr id="22" name="Image 20" descr="preencoded.png"/>
          <p:cNvPicPr>
            <a:picLocks noChangeAspect="1"/>
          </p:cNvPicPr>
          <p:nvPr/>
        </p:nvPicPr>
        <p:blipFill>
          <a:blip r:embed="rId12"/>
          <a:stretch>
            <a:fillRect/>
          </a:stretch>
        </p:blipFill>
        <p:spPr>
          <a:xfrm>
            <a:off x="8371790" y="3091180"/>
            <a:ext cx="152400" cy="152400"/>
          </a:xfrm>
          <a:prstGeom prst="rect">
            <a:avLst/>
          </a:prstGeom>
        </p:spPr>
      </p:pic>
      <p:sp>
        <p:nvSpPr>
          <p:cNvPr id="23" name="Text 0"/>
          <p:cNvSpPr/>
          <p:nvPr/>
        </p:nvSpPr>
        <p:spPr>
          <a:xfrm>
            <a:off x="381000" y="152400"/>
            <a:ext cx="11430000" cy="381000"/>
          </a:xfrm>
          <a:prstGeom prst="rect">
            <a:avLst/>
          </a:prstGeom>
          <a:noFill/>
          <a:ln/>
        </p:spPr>
        <p:txBody>
          <a:bodyPr vert="horz" wrap="square" lIns="0" tIns="0" rIns="0" bIns="0" rtlCol="0" anchor="t"/>
          <a:lstStyle/>
          <a:p>
            <a:pPr marL="0" indent="0">
              <a:lnSpc>
                <a:spcPts val="3000"/>
              </a:lnSpc>
              <a:buNone/>
            </a:pPr>
            <a:r>
              <a:rPr lang="en-US" sz="3600" b="1" dirty="0">
                <a:solidFill>
                  <a:srgbClr val="FFFFFF"/>
                </a:solidFill>
                <a:latin typeface="ui-sans-serif" pitchFamily="34" charset="0"/>
                <a:ea typeface="ui-sans-serif" pitchFamily="34" charset="-122"/>
                <a:cs typeface="ui-sans-serif" pitchFamily="34" charset="-120"/>
              </a:rPr>
              <a:t>Key Performance Indicators</a:t>
            </a:r>
            <a:endParaRPr lang="en-US" sz="3600" dirty="0"/>
          </a:p>
        </p:txBody>
      </p:sp>
      <p:sp>
        <p:nvSpPr>
          <p:cNvPr id="24" name="Text 1"/>
          <p:cNvSpPr/>
          <p:nvPr/>
        </p:nvSpPr>
        <p:spPr>
          <a:xfrm>
            <a:off x="381000" y="914400"/>
            <a:ext cx="11429851" cy="419100"/>
          </a:xfrm>
          <a:prstGeom prst="rect">
            <a:avLst/>
          </a:prstGeom>
          <a:noFill/>
          <a:ln/>
        </p:spPr>
        <p:txBody>
          <a:bodyPr vert="horz" wrap="square" lIns="0" tIns="0" rIns="0" bIns="0" rtlCol="0" anchor="t"/>
          <a:lstStyle/>
          <a:p>
            <a:pPr marL="0" indent="0">
              <a:lnSpc>
                <a:spcPts val="2100"/>
              </a:lnSpc>
              <a:buNone/>
            </a:pPr>
            <a:r>
              <a:rPr lang="en-US" dirty="0">
                <a:solidFill>
                  <a:srgbClr val="374151"/>
                </a:solidFill>
                <a:latin typeface="ui-sans-serif" pitchFamily="34" charset="0"/>
                <a:ea typeface="ui-sans-serif" pitchFamily="34" charset="-122"/>
                <a:cs typeface="ui-sans-serif" pitchFamily="34" charset="-120"/>
              </a:rPr>
              <a:t>To ensure successful execution of our export plan, we'll track performance against these critical metrics:</a:t>
            </a:r>
            <a:endParaRPr lang="en-US" dirty="0"/>
          </a:p>
        </p:txBody>
      </p:sp>
      <p:grpSp>
        <p:nvGrpSpPr>
          <p:cNvPr id="39" name="Group 38">
            <a:extLst>
              <a:ext uri="{FF2B5EF4-FFF2-40B4-BE49-F238E27FC236}">
                <a16:creationId xmlns:a16="http://schemas.microsoft.com/office/drawing/2014/main" id="{723E110C-B243-4B5D-2926-F4121033D912}"/>
              </a:ext>
            </a:extLst>
          </p:cNvPr>
          <p:cNvGrpSpPr/>
          <p:nvPr/>
        </p:nvGrpSpPr>
        <p:grpSpPr>
          <a:xfrm>
            <a:off x="609600" y="1455420"/>
            <a:ext cx="2763976" cy="571500"/>
            <a:chOff x="609600" y="1455420"/>
            <a:chExt cx="2763976" cy="571500"/>
          </a:xfrm>
        </p:grpSpPr>
        <p:pic>
          <p:nvPicPr>
            <p:cNvPr id="7" name="Image 5" descr="preencoded.png"/>
            <p:cNvPicPr>
              <a:picLocks noChangeAspect="1"/>
            </p:cNvPicPr>
            <p:nvPr/>
          </p:nvPicPr>
          <p:blipFill>
            <a:blip r:embed="rId13"/>
            <a:stretch>
              <a:fillRect/>
            </a:stretch>
          </p:blipFill>
          <p:spPr>
            <a:xfrm>
              <a:off x="609600" y="1455420"/>
              <a:ext cx="571500" cy="571500"/>
            </a:xfrm>
            <a:prstGeom prst="rect">
              <a:avLst/>
            </a:prstGeom>
          </p:spPr>
        </p:pic>
        <p:pic>
          <p:nvPicPr>
            <p:cNvPr id="8" name="Image 6" descr="preencoded.png"/>
            <p:cNvPicPr>
              <a:picLocks noChangeAspect="1"/>
            </p:cNvPicPr>
            <p:nvPr/>
          </p:nvPicPr>
          <p:blipFill>
            <a:blip r:embed="rId14"/>
            <a:stretch>
              <a:fillRect/>
            </a:stretch>
          </p:blipFill>
          <p:spPr>
            <a:xfrm>
              <a:off x="752475" y="1569720"/>
              <a:ext cx="285750" cy="342900"/>
            </a:xfrm>
            <a:prstGeom prst="rect">
              <a:avLst/>
            </a:prstGeom>
          </p:spPr>
        </p:pic>
        <p:sp>
          <p:nvSpPr>
            <p:cNvPr id="25" name="Text 2"/>
            <p:cNvSpPr/>
            <p:nvPr/>
          </p:nvSpPr>
          <p:spPr>
            <a:xfrm>
              <a:off x="1304925" y="1539240"/>
              <a:ext cx="2068651" cy="304800"/>
            </a:xfrm>
            <a:prstGeom prst="rect">
              <a:avLst/>
            </a:prstGeom>
            <a:noFill/>
            <a:ln/>
          </p:spPr>
          <p:txBody>
            <a:bodyPr vert="horz" wrap="square" lIns="0" tIns="0" rIns="0" bIns="0" rtlCol="0" anchor="t"/>
            <a:lstStyle/>
            <a:p>
              <a:pPr marL="0" indent="0">
                <a:lnSpc>
                  <a:spcPts val="2400"/>
                </a:lnSpc>
                <a:buNone/>
              </a:pPr>
              <a:r>
                <a:rPr lang="en-US" sz="2000" b="1" dirty="0">
                  <a:solidFill>
                    <a:srgbClr val="1F2937"/>
                  </a:solidFill>
                  <a:latin typeface="ui-sans-serif" pitchFamily="34" charset="0"/>
                  <a:ea typeface="ui-sans-serif" pitchFamily="34" charset="-122"/>
                  <a:cs typeface="ui-sans-serif" pitchFamily="34" charset="-120"/>
                </a:rPr>
                <a:t>Sales Volume</a:t>
              </a:r>
              <a:endParaRPr lang="en-US" sz="2000" dirty="0"/>
            </a:p>
          </p:txBody>
        </p:sp>
      </p:grpSp>
      <p:sp>
        <p:nvSpPr>
          <p:cNvPr id="26" name="Text 3"/>
          <p:cNvSpPr/>
          <p:nvPr/>
        </p:nvSpPr>
        <p:spPr>
          <a:xfrm>
            <a:off x="797560" y="2362200"/>
            <a:ext cx="2920752" cy="4191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Monitor monthly and quarterly unit sales</a:t>
            </a:r>
            <a:endParaRPr lang="en-US" sz="1400" dirty="0"/>
          </a:p>
        </p:txBody>
      </p:sp>
      <p:sp>
        <p:nvSpPr>
          <p:cNvPr id="27" name="Text 4"/>
          <p:cNvSpPr/>
          <p:nvPr/>
        </p:nvSpPr>
        <p:spPr>
          <a:xfrm>
            <a:off x="797560" y="2895600"/>
            <a:ext cx="2920752" cy="2286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Assess market acceptance</a:t>
            </a:r>
            <a:endParaRPr lang="en-US" sz="1400" dirty="0"/>
          </a:p>
        </p:txBody>
      </p:sp>
      <p:sp>
        <p:nvSpPr>
          <p:cNvPr id="28" name="Text 5"/>
          <p:cNvSpPr/>
          <p:nvPr/>
        </p:nvSpPr>
        <p:spPr>
          <a:xfrm>
            <a:off x="807720" y="3251200"/>
            <a:ext cx="2920752" cy="28575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Track growth trends</a:t>
            </a:r>
            <a:endParaRPr lang="en-US" sz="1400" dirty="0"/>
          </a:p>
        </p:txBody>
      </p:sp>
      <p:grpSp>
        <p:nvGrpSpPr>
          <p:cNvPr id="40" name="Group 39">
            <a:extLst>
              <a:ext uri="{FF2B5EF4-FFF2-40B4-BE49-F238E27FC236}">
                <a16:creationId xmlns:a16="http://schemas.microsoft.com/office/drawing/2014/main" id="{39F2F526-D01D-51A5-0DC2-FF36CD2B818E}"/>
              </a:ext>
            </a:extLst>
          </p:cNvPr>
          <p:cNvGrpSpPr/>
          <p:nvPr/>
        </p:nvGrpSpPr>
        <p:grpSpPr>
          <a:xfrm>
            <a:off x="4468609" y="1497329"/>
            <a:ext cx="3202142" cy="464819"/>
            <a:chOff x="4468609" y="1497329"/>
            <a:chExt cx="3202142" cy="464819"/>
          </a:xfrm>
        </p:grpSpPr>
        <p:pic>
          <p:nvPicPr>
            <p:cNvPr id="13" name="Image 11" descr="preencoded.png"/>
            <p:cNvPicPr>
              <a:picLocks noChangeAspect="1"/>
            </p:cNvPicPr>
            <p:nvPr/>
          </p:nvPicPr>
          <p:blipFill>
            <a:blip r:embed="rId15"/>
            <a:stretch>
              <a:fillRect/>
            </a:stretch>
          </p:blipFill>
          <p:spPr>
            <a:xfrm>
              <a:off x="4468609" y="1497329"/>
              <a:ext cx="490642" cy="464819"/>
            </a:xfrm>
            <a:prstGeom prst="rect">
              <a:avLst/>
            </a:prstGeom>
          </p:spPr>
        </p:pic>
        <p:sp>
          <p:nvSpPr>
            <p:cNvPr id="29" name="Text 6"/>
            <p:cNvSpPr/>
            <p:nvPr/>
          </p:nvSpPr>
          <p:spPr>
            <a:xfrm>
              <a:off x="5188000" y="1516380"/>
              <a:ext cx="2482751" cy="342900"/>
            </a:xfrm>
            <a:prstGeom prst="rect">
              <a:avLst/>
            </a:prstGeom>
            <a:noFill/>
            <a:ln/>
          </p:spPr>
          <p:txBody>
            <a:bodyPr vert="horz" wrap="square" lIns="0" tIns="0" rIns="0" bIns="0" rtlCol="0" anchor="t"/>
            <a:lstStyle/>
            <a:p>
              <a:pPr marL="0" indent="0">
                <a:lnSpc>
                  <a:spcPts val="2400"/>
                </a:lnSpc>
                <a:buNone/>
              </a:pPr>
              <a:r>
                <a:rPr lang="en-US" sz="2000" b="1" dirty="0">
                  <a:solidFill>
                    <a:srgbClr val="1F2937"/>
                  </a:solidFill>
                  <a:latin typeface="ui-sans-serif" pitchFamily="34" charset="0"/>
                  <a:ea typeface="ui-sans-serif" pitchFamily="34" charset="-122"/>
                  <a:cs typeface="ui-sans-serif" pitchFamily="34" charset="-120"/>
                </a:rPr>
                <a:t>Customer Acquisition</a:t>
              </a:r>
              <a:endParaRPr lang="en-US" sz="2000" dirty="0"/>
            </a:p>
          </p:txBody>
        </p:sp>
      </p:grpSp>
      <p:sp>
        <p:nvSpPr>
          <p:cNvPr id="30" name="Text 7"/>
          <p:cNvSpPr/>
          <p:nvPr/>
        </p:nvSpPr>
        <p:spPr>
          <a:xfrm>
            <a:off x="4627781" y="2357120"/>
            <a:ext cx="3042970" cy="2286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Track new distributors</a:t>
            </a:r>
            <a:endParaRPr lang="en-US" sz="1400" dirty="0"/>
          </a:p>
        </p:txBody>
      </p:sp>
      <p:sp>
        <p:nvSpPr>
          <p:cNvPr id="31" name="Text 8"/>
          <p:cNvSpPr/>
          <p:nvPr/>
        </p:nvSpPr>
        <p:spPr>
          <a:xfrm>
            <a:off x="4627781" y="2763520"/>
            <a:ext cx="3042970" cy="2286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Monitor retailer partnerships</a:t>
            </a:r>
            <a:endParaRPr lang="en-US" sz="1400" dirty="0"/>
          </a:p>
        </p:txBody>
      </p:sp>
      <p:sp>
        <p:nvSpPr>
          <p:cNvPr id="32" name="Text 9"/>
          <p:cNvSpPr/>
          <p:nvPr/>
        </p:nvSpPr>
        <p:spPr>
          <a:xfrm>
            <a:off x="4627781" y="3190240"/>
            <a:ext cx="3042970" cy="2286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Gauge market penetration</a:t>
            </a:r>
            <a:endParaRPr lang="en-US" sz="1400" dirty="0"/>
          </a:p>
        </p:txBody>
      </p:sp>
      <p:grpSp>
        <p:nvGrpSpPr>
          <p:cNvPr id="41" name="Group 40">
            <a:extLst>
              <a:ext uri="{FF2B5EF4-FFF2-40B4-BE49-F238E27FC236}">
                <a16:creationId xmlns:a16="http://schemas.microsoft.com/office/drawing/2014/main" id="{BCE3A4FD-BC5E-6627-F3EA-FF00C7E14E03}"/>
              </a:ext>
            </a:extLst>
          </p:cNvPr>
          <p:cNvGrpSpPr/>
          <p:nvPr/>
        </p:nvGrpSpPr>
        <p:grpSpPr>
          <a:xfrm>
            <a:off x="8432750" y="1455420"/>
            <a:ext cx="3318093" cy="571500"/>
            <a:chOff x="8432750" y="1455420"/>
            <a:chExt cx="3318093" cy="571500"/>
          </a:xfrm>
        </p:grpSpPr>
        <p:pic>
          <p:nvPicPr>
            <p:cNvPr id="18" name="Image 16" descr="preencoded.png"/>
            <p:cNvPicPr>
              <a:picLocks noChangeAspect="1"/>
            </p:cNvPicPr>
            <p:nvPr/>
          </p:nvPicPr>
          <p:blipFill>
            <a:blip r:embed="rId16"/>
            <a:stretch>
              <a:fillRect/>
            </a:stretch>
          </p:blipFill>
          <p:spPr>
            <a:xfrm>
              <a:off x="8432750" y="1455420"/>
              <a:ext cx="571500" cy="571500"/>
            </a:xfrm>
            <a:prstGeom prst="rect">
              <a:avLst/>
            </a:prstGeom>
          </p:spPr>
        </p:pic>
        <p:pic>
          <p:nvPicPr>
            <p:cNvPr id="19" name="Image 17" descr="preencoded.png"/>
            <p:cNvPicPr>
              <a:picLocks noChangeAspect="1"/>
            </p:cNvPicPr>
            <p:nvPr/>
          </p:nvPicPr>
          <p:blipFill>
            <a:blip r:embed="rId17"/>
            <a:stretch>
              <a:fillRect/>
            </a:stretch>
          </p:blipFill>
          <p:spPr>
            <a:xfrm>
              <a:off x="8556575" y="1569720"/>
              <a:ext cx="323850" cy="342900"/>
            </a:xfrm>
            <a:prstGeom prst="rect">
              <a:avLst/>
            </a:prstGeom>
          </p:spPr>
        </p:pic>
        <p:sp>
          <p:nvSpPr>
            <p:cNvPr id="33" name="Text 10"/>
            <p:cNvSpPr/>
            <p:nvPr/>
          </p:nvSpPr>
          <p:spPr>
            <a:xfrm>
              <a:off x="9232850" y="1539240"/>
              <a:ext cx="2517993" cy="304800"/>
            </a:xfrm>
            <a:prstGeom prst="rect">
              <a:avLst/>
            </a:prstGeom>
            <a:noFill/>
            <a:ln/>
          </p:spPr>
          <p:txBody>
            <a:bodyPr vert="horz" wrap="square" lIns="0" tIns="0" rIns="0" bIns="0" rtlCol="0" anchor="t"/>
            <a:lstStyle/>
            <a:p>
              <a:pPr marL="0" indent="0">
                <a:lnSpc>
                  <a:spcPts val="2400"/>
                </a:lnSpc>
                <a:buNone/>
              </a:pPr>
              <a:r>
                <a:rPr lang="en-US" sz="2000" b="1" dirty="0">
                  <a:solidFill>
                    <a:srgbClr val="1F2937"/>
                  </a:solidFill>
                  <a:latin typeface="ui-sans-serif" pitchFamily="34" charset="0"/>
                  <a:ea typeface="ui-sans-serif" pitchFamily="34" charset="-122"/>
                  <a:cs typeface="ui-sans-serif" pitchFamily="34" charset="-120"/>
                </a:rPr>
                <a:t>Budget Tracking</a:t>
              </a:r>
              <a:endParaRPr lang="en-US" sz="2000" dirty="0"/>
            </a:p>
          </p:txBody>
        </p:sp>
      </p:grpSp>
      <p:sp>
        <p:nvSpPr>
          <p:cNvPr id="34" name="Text 11"/>
          <p:cNvSpPr/>
          <p:nvPr/>
        </p:nvSpPr>
        <p:spPr>
          <a:xfrm>
            <a:off x="8600390" y="2362200"/>
            <a:ext cx="3150453" cy="24384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Compare actual vs. budgeted spend</a:t>
            </a:r>
            <a:endParaRPr lang="en-US" sz="1400" dirty="0"/>
          </a:p>
        </p:txBody>
      </p:sp>
      <p:sp>
        <p:nvSpPr>
          <p:cNvPr id="35" name="Text 12"/>
          <p:cNvSpPr/>
          <p:nvPr/>
        </p:nvSpPr>
        <p:spPr>
          <a:xfrm>
            <a:off x="8600389" y="2707640"/>
            <a:ext cx="3150453" cy="2286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Ensure financial discipline</a:t>
            </a:r>
            <a:endParaRPr lang="en-US" sz="1400" dirty="0"/>
          </a:p>
        </p:txBody>
      </p:sp>
      <p:sp>
        <p:nvSpPr>
          <p:cNvPr id="36" name="Text 13"/>
          <p:cNvSpPr/>
          <p:nvPr/>
        </p:nvSpPr>
        <p:spPr>
          <a:xfrm>
            <a:off x="8600390" y="3053080"/>
            <a:ext cx="3150452" cy="228600"/>
          </a:xfrm>
          <a:prstGeom prst="rect">
            <a:avLst/>
          </a:prstGeom>
          <a:noFill/>
          <a:ln/>
        </p:spPr>
        <p:txBody>
          <a:bodyPr vert="horz" wrap="square" lIns="0" tIns="0" rIns="0" bIns="0" rtlCol="0" anchor="t"/>
          <a:lstStyle/>
          <a:p>
            <a:pPr marL="0" indent="0" algn="l">
              <a:lnSpc>
                <a:spcPts val="1800"/>
              </a:lnSpc>
              <a:buNone/>
            </a:pPr>
            <a:r>
              <a:rPr lang="en-US" sz="1400" dirty="0">
                <a:solidFill>
                  <a:srgbClr val="374151"/>
                </a:solidFill>
                <a:latin typeface="ui-sans-serif" pitchFamily="34" charset="0"/>
                <a:ea typeface="ui-sans-serif" pitchFamily="34" charset="-122"/>
                <a:cs typeface="ui-sans-serif" pitchFamily="34" charset="-120"/>
              </a:rPr>
              <a:t>Identify budget deviations</a:t>
            </a:r>
            <a:endParaRPr lang="en-US" sz="1400" dirty="0"/>
          </a:p>
        </p:txBody>
      </p:sp>
      <p:sp>
        <p:nvSpPr>
          <p:cNvPr id="37" name="Text 14"/>
          <p:cNvSpPr/>
          <p:nvPr/>
        </p:nvSpPr>
        <p:spPr>
          <a:xfrm>
            <a:off x="381000" y="6024879"/>
            <a:ext cx="11429851" cy="361951"/>
          </a:xfrm>
          <a:prstGeom prst="rect">
            <a:avLst/>
          </a:prstGeom>
          <a:noFill/>
          <a:ln/>
        </p:spPr>
        <p:txBody>
          <a:bodyPr vert="horz" wrap="square" lIns="0" tIns="0" rIns="0" bIns="0" rtlCol="0" anchor="ctr"/>
          <a:lstStyle/>
          <a:p>
            <a:pPr marL="0" indent="0" algn="ctr">
              <a:lnSpc>
                <a:spcPts val="1800"/>
              </a:lnSpc>
              <a:buNone/>
            </a:pPr>
            <a:r>
              <a:rPr lang="en-US" i="1" dirty="0">
                <a:solidFill>
                  <a:srgbClr val="374151"/>
                </a:solidFill>
                <a:latin typeface="ui-sans-serif" pitchFamily="34" charset="0"/>
                <a:ea typeface="ui-sans-serif" pitchFamily="34" charset="-122"/>
                <a:cs typeface="ui-sans-serif" pitchFamily="34" charset="-120"/>
              </a:rPr>
              <a:t>These KPIs will be reviewed monthly to ensure our export plan stays on track for success.</a:t>
            </a:r>
            <a:endParaRPr lang="en-US" dirty="0"/>
          </a:p>
        </p:txBody>
      </p:sp>
      <p:sp>
        <p:nvSpPr>
          <p:cNvPr id="38" name="Text 15"/>
          <p:cNvSpPr/>
          <p:nvPr/>
        </p:nvSpPr>
        <p:spPr>
          <a:xfrm>
            <a:off x="11274921" y="6477000"/>
            <a:ext cx="643295"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14 / 16</a:t>
            </a:r>
            <a:endParaRPr lang="en-US" sz="1200" dirty="0"/>
          </a:p>
        </p:txBody>
      </p:sp>
      <p:pic>
        <p:nvPicPr>
          <p:cNvPr id="42" name="Picture 41" descr="A blue letters on a black background&#10;&#10;AI-generated content may be incorrect.">
            <a:extLst>
              <a:ext uri="{FF2B5EF4-FFF2-40B4-BE49-F238E27FC236}">
                <a16:creationId xmlns:a16="http://schemas.microsoft.com/office/drawing/2014/main" id="{54A31A4D-9A01-6D03-5FAC-46E78989FCDA}"/>
              </a:ext>
            </a:extLst>
          </p:cNvPr>
          <p:cNvPicPr>
            <a:picLocks noChangeAspect="1"/>
          </p:cNvPicPr>
          <p:nvPr/>
        </p:nvPicPr>
        <p:blipFill>
          <a:blip r:embed="rId18"/>
          <a:stretch>
            <a:fillRect/>
          </a:stretch>
        </p:blipFill>
        <p:spPr>
          <a:xfrm>
            <a:off x="10825377" y="233170"/>
            <a:ext cx="1052680" cy="2606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9"/>
                                        </p:tgtEl>
                                        <p:attrNameLst>
                                          <p:attrName>style.visibility</p:attrName>
                                        </p:attrNameLst>
                                      </p:cBhvr>
                                      <p:to>
                                        <p:strVal val="visible"/>
                                      </p:to>
                                    </p:set>
                                    <p:anim calcmode="lin" valueType="num">
                                      <p:cBhvr additive="base">
                                        <p:cTn id="23" dur="500" fill="hold"/>
                                        <p:tgtEl>
                                          <p:spTgt spid="39"/>
                                        </p:tgtEl>
                                        <p:attrNameLst>
                                          <p:attrName>ppt_x</p:attrName>
                                        </p:attrNameLst>
                                      </p:cBhvr>
                                      <p:tavLst>
                                        <p:tav tm="0">
                                          <p:val>
                                            <p:strVal val="#ppt_x"/>
                                          </p:val>
                                        </p:tav>
                                        <p:tav tm="100000">
                                          <p:val>
                                            <p:strVal val="#ppt_x"/>
                                          </p:val>
                                        </p:tav>
                                      </p:tavLst>
                                    </p:anim>
                                    <p:anim calcmode="lin" valueType="num">
                                      <p:cBhvr additive="base">
                                        <p:cTn id="24" dur="500" fill="hold"/>
                                        <p:tgtEl>
                                          <p:spTgt spid="3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additive="base">
                                        <p:cTn id="27" dur="500" fill="hold"/>
                                        <p:tgtEl>
                                          <p:spTgt spid="26"/>
                                        </p:tgtEl>
                                        <p:attrNameLst>
                                          <p:attrName>ppt_x</p:attrName>
                                        </p:attrNameLst>
                                      </p:cBhvr>
                                      <p:tavLst>
                                        <p:tav tm="0">
                                          <p:val>
                                            <p:strVal val="#ppt_x"/>
                                          </p:val>
                                        </p:tav>
                                        <p:tav tm="100000">
                                          <p:val>
                                            <p:strVal val="#ppt_x"/>
                                          </p:val>
                                        </p:tav>
                                      </p:tavLst>
                                    </p:anim>
                                    <p:anim calcmode="lin" valueType="num">
                                      <p:cBhvr additive="base">
                                        <p:cTn id="28" dur="500" fill="hold"/>
                                        <p:tgtEl>
                                          <p:spTgt spid="2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additive="base">
                                        <p:cTn id="31" dur="500" fill="hold"/>
                                        <p:tgtEl>
                                          <p:spTgt spid="27"/>
                                        </p:tgtEl>
                                        <p:attrNameLst>
                                          <p:attrName>ppt_x</p:attrName>
                                        </p:attrNameLst>
                                      </p:cBhvr>
                                      <p:tavLst>
                                        <p:tav tm="0">
                                          <p:val>
                                            <p:strVal val="#ppt_x"/>
                                          </p:val>
                                        </p:tav>
                                        <p:tav tm="100000">
                                          <p:val>
                                            <p:strVal val="#ppt_x"/>
                                          </p:val>
                                        </p:tav>
                                      </p:tavLst>
                                    </p:anim>
                                    <p:anim calcmode="lin" valueType="num">
                                      <p:cBhvr additive="base">
                                        <p:cTn id="32" dur="500" fill="hold"/>
                                        <p:tgtEl>
                                          <p:spTgt spid="27"/>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 calcmode="lin" valueType="num">
                                      <p:cBhvr additive="base">
                                        <p:cTn id="35" dur="500" fill="hold"/>
                                        <p:tgtEl>
                                          <p:spTgt spid="28"/>
                                        </p:tgtEl>
                                        <p:attrNameLst>
                                          <p:attrName>ppt_x</p:attrName>
                                        </p:attrNameLst>
                                      </p:cBhvr>
                                      <p:tavLst>
                                        <p:tav tm="0">
                                          <p:val>
                                            <p:strVal val="#ppt_x"/>
                                          </p:val>
                                        </p:tav>
                                        <p:tav tm="100000">
                                          <p:val>
                                            <p:strVal val="#ppt_x"/>
                                          </p:val>
                                        </p:tav>
                                      </p:tavLst>
                                    </p:anim>
                                    <p:anim calcmode="lin" valueType="num">
                                      <p:cBhvr additive="base">
                                        <p:cTn id="36"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ppt_x"/>
                                          </p:val>
                                        </p:tav>
                                        <p:tav tm="100000">
                                          <p:val>
                                            <p:strVal val="#ppt_x"/>
                                          </p:val>
                                        </p:tav>
                                      </p:tavLst>
                                    </p:anim>
                                    <p:anim calcmode="lin" valueType="num">
                                      <p:cBhvr additive="base">
                                        <p:cTn id="46" dur="500" fill="hold"/>
                                        <p:tgtEl>
                                          <p:spTgt spid="14"/>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ppt_x"/>
                                          </p:val>
                                        </p:tav>
                                        <p:tav tm="100000">
                                          <p:val>
                                            <p:strVal val="#ppt_x"/>
                                          </p:val>
                                        </p:tav>
                                      </p:tavLst>
                                    </p:anim>
                                    <p:anim calcmode="lin" valueType="num">
                                      <p:cBhvr additive="base">
                                        <p:cTn id="50" dur="500" fill="hold"/>
                                        <p:tgtEl>
                                          <p:spTgt spid="15"/>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500" fill="hold"/>
                                        <p:tgtEl>
                                          <p:spTgt spid="16"/>
                                        </p:tgtEl>
                                        <p:attrNameLst>
                                          <p:attrName>ppt_x</p:attrName>
                                        </p:attrNameLst>
                                      </p:cBhvr>
                                      <p:tavLst>
                                        <p:tav tm="0">
                                          <p:val>
                                            <p:strVal val="#ppt_x"/>
                                          </p:val>
                                        </p:tav>
                                        <p:tav tm="100000">
                                          <p:val>
                                            <p:strVal val="#ppt_x"/>
                                          </p:val>
                                        </p:tav>
                                      </p:tavLst>
                                    </p:anim>
                                    <p:anim calcmode="lin" valueType="num">
                                      <p:cBhvr additive="base">
                                        <p:cTn id="54" dur="500" fill="hold"/>
                                        <p:tgtEl>
                                          <p:spTgt spid="16"/>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40"/>
                                        </p:tgtEl>
                                        <p:attrNameLst>
                                          <p:attrName>style.visibility</p:attrName>
                                        </p:attrNameLst>
                                      </p:cBhvr>
                                      <p:to>
                                        <p:strVal val="visible"/>
                                      </p:to>
                                    </p:set>
                                    <p:anim calcmode="lin" valueType="num">
                                      <p:cBhvr additive="base">
                                        <p:cTn id="57" dur="500" fill="hold"/>
                                        <p:tgtEl>
                                          <p:spTgt spid="40"/>
                                        </p:tgtEl>
                                        <p:attrNameLst>
                                          <p:attrName>ppt_x</p:attrName>
                                        </p:attrNameLst>
                                      </p:cBhvr>
                                      <p:tavLst>
                                        <p:tav tm="0">
                                          <p:val>
                                            <p:strVal val="#ppt_x"/>
                                          </p:val>
                                        </p:tav>
                                        <p:tav tm="100000">
                                          <p:val>
                                            <p:strVal val="#ppt_x"/>
                                          </p:val>
                                        </p:tav>
                                      </p:tavLst>
                                    </p:anim>
                                    <p:anim calcmode="lin" valueType="num">
                                      <p:cBhvr additive="base">
                                        <p:cTn id="58" dur="500" fill="hold"/>
                                        <p:tgtEl>
                                          <p:spTgt spid="40"/>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anim calcmode="lin" valueType="num">
                                      <p:cBhvr additive="base">
                                        <p:cTn id="61" dur="500" fill="hold"/>
                                        <p:tgtEl>
                                          <p:spTgt spid="30"/>
                                        </p:tgtEl>
                                        <p:attrNameLst>
                                          <p:attrName>ppt_x</p:attrName>
                                        </p:attrNameLst>
                                      </p:cBhvr>
                                      <p:tavLst>
                                        <p:tav tm="0">
                                          <p:val>
                                            <p:strVal val="#ppt_x"/>
                                          </p:val>
                                        </p:tav>
                                        <p:tav tm="100000">
                                          <p:val>
                                            <p:strVal val="#ppt_x"/>
                                          </p:val>
                                        </p:tav>
                                      </p:tavLst>
                                    </p:anim>
                                    <p:anim calcmode="lin" valueType="num">
                                      <p:cBhvr additive="base">
                                        <p:cTn id="62" dur="500" fill="hold"/>
                                        <p:tgtEl>
                                          <p:spTgt spid="30"/>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 calcmode="lin" valueType="num">
                                      <p:cBhvr additive="base">
                                        <p:cTn id="65" dur="500" fill="hold"/>
                                        <p:tgtEl>
                                          <p:spTgt spid="31"/>
                                        </p:tgtEl>
                                        <p:attrNameLst>
                                          <p:attrName>ppt_x</p:attrName>
                                        </p:attrNameLst>
                                      </p:cBhvr>
                                      <p:tavLst>
                                        <p:tav tm="0">
                                          <p:val>
                                            <p:strVal val="#ppt_x"/>
                                          </p:val>
                                        </p:tav>
                                        <p:tav tm="100000">
                                          <p:val>
                                            <p:strVal val="#ppt_x"/>
                                          </p:val>
                                        </p:tav>
                                      </p:tavLst>
                                    </p:anim>
                                    <p:anim calcmode="lin" valueType="num">
                                      <p:cBhvr additive="base">
                                        <p:cTn id="66" dur="500" fill="hold"/>
                                        <p:tgtEl>
                                          <p:spTgt spid="31"/>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anim calcmode="lin" valueType="num">
                                      <p:cBhvr additive="base">
                                        <p:cTn id="69" dur="500" fill="hold"/>
                                        <p:tgtEl>
                                          <p:spTgt spid="32"/>
                                        </p:tgtEl>
                                        <p:attrNameLst>
                                          <p:attrName>ppt_x</p:attrName>
                                        </p:attrNameLst>
                                      </p:cBhvr>
                                      <p:tavLst>
                                        <p:tav tm="0">
                                          <p:val>
                                            <p:strVal val="#ppt_x"/>
                                          </p:val>
                                        </p:tav>
                                        <p:tav tm="100000">
                                          <p:val>
                                            <p:strVal val="#ppt_x"/>
                                          </p:val>
                                        </p:tav>
                                      </p:tavLst>
                                    </p:anim>
                                    <p:anim calcmode="lin" valueType="num">
                                      <p:cBhvr additive="base">
                                        <p:cTn id="70"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17"/>
                                        </p:tgtEl>
                                        <p:attrNameLst>
                                          <p:attrName>style.visibility</p:attrName>
                                        </p:attrNameLst>
                                      </p:cBhvr>
                                      <p:to>
                                        <p:strVal val="visible"/>
                                      </p:to>
                                    </p:set>
                                    <p:anim calcmode="lin" valueType="num">
                                      <p:cBhvr additive="base">
                                        <p:cTn id="75" dur="500" fill="hold"/>
                                        <p:tgtEl>
                                          <p:spTgt spid="17"/>
                                        </p:tgtEl>
                                        <p:attrNameLst>
                                          <p:attrName>ppt_x</p:attrName>
                                        </p:attrNameLst>
                                      </p:cBhvr>
                                      <p:tavLst>
                                        <p:tav tm="0">
                                          <p:val>
                                            <p:strVal val="#ppt_x"/>
                                          </p:val>
                                        </p:tav>
                                        <p:tav tm="100000">
                                          <p:val>
                                            <p:strVal val="#ppt_x"/>
                                          </p:val>
                                        </p:tav>
                                      </p:tavLst>
                                    </p:anim>
                                    <p:anim calcmode="lin" valueType="num">
                                      <p:cBhvr additive="base">
                                        <p:cTn id="76" dur="500" fill="hold"/>
                                        <p:tgtEl>
                                          <p:spTgt spid="17"/>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20"/>
                                        </p:tgtEl>
                                        <p:attrNameLst>
                                          <p:attrName>style.visibility</p:attrName>
                                        </p:attrNameLst>
                                      </p:cBhvr>
                                      <p:to>
                                        <p:strVal val="visible"/>
                                      </p:to>
                                    </p:set>
                                    <p:anim calcmode="lin" valueType="num">
                                      <p:cBhvr additive="base">
                                        <p:cTn id="79" dur="500" fill="hold"/>
                                        <p:tgtEl>
                                          <p:spTgt spid="20"/>
                                        </p:tgtEl>
                                        <p:attrNameLst>
                                          <p:attrName>ppt_x</p:attrName>
                                        </p:attrNameLst>
                                      </p:cBhvr>
                                      <p:tavLst>
                                        <p:tav tm="0">
                                          <p:val>
                                            <p:strVal val="#ppt_x"/>
                                          </p:val>
                                        </p:tav>
                                        <p:tav tm="100000">
                                          <p:val>
                                            <p:strVal val="#ppt_x"/>
                                          </p:val>
                                        </p:tav>
                                      </p:tavLst>
                                    </p:anim>
                                    <p:anim calcmode="lin" valueType="num">
                                      <p:cBhvr additive="base">
                                        <p:cTn id="80" dur="500" fill="hold"/>
                                        <p:tgtEl>
                                          <p:spTgt spid="20"/>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21"/>
                                        </p:tgtEl>
                                        <p:attrNameLst>
                                          <p:attrName>style.visibility</p:attrName>
                                        </p:attrNameLst>
                                      </p:cBhvr>
                                      <p:to>
                                        <p:strVal val="visible"/>
                                      </p:to>
                                    </p:set>
                                    <p:anim calcmode="lin" valueType="num">
                                      <p:cBhvr additive="base">
                                        <p:cTn id="83" dur="500" fill="hold"/>
                                        <p:tgtEl>
                                          <p:spTgt spid="21"/>
                                        </p:tgtEl>
                                        <p:attrNameLst>
                                          <p:attrName>ppt_x</p:attrName>
                                        </p:attrNameLst>
                                      </p:cBhvr>
                                      <p:tavLst>
                                        <p:tav tm="0">
                                          <p:val>
                                            <p:strVal val="#ppt_x"/>
                                          </p:val>
                                        </p:tav>
                                        <p:tav tm="100000">
                                          <p:val>
                                            <p:strVal val="#ppt_x"/>
                                          </p:val>
                                        </p:tav>
                                      </p:tavLst>
                                    </p:anim>
                                    <p:anim calcmode="lin" valueType="num">
                                      <p:cBhvr additive="base">
                                        <p:cTn id="84" dur="500" fill="hold"/>
                                        <p:tgtEl>
                                          <p:spTgt spid="21"/>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22"/>
                                        </p:tgtEl>
                                        <p:attrNameLst>
                                          <p:attrName>style.visibility</p:attrName>
                                        </p:attrNameLst>
                                      </p:cBhvr>
                                      <p:to>
                                        <p:strVal val="visible"/>
                                      </p:to>
                                    </p:set>
                                    <p:anim calcmode="lin" valueType="num">
                                      <p:cBhvr additive="base">
                                        <p:cTn id="87" dur="500" fill="hold"/>
                                        <p:tgtEl>
                                          <p:spTgt spid="22"/>
                                        </p:tgtEl>
                                        <p:attrNameLst>
                                          <p:attrName>ppt_x</p:attrName>
                                        </p:attrNameLst>
                                      </p:cBhvr>
                                      <p:tavLst>
                                        <p:tav tm="0">
                                          <p:val>
                                            <p:strVal val="#ppt_x"/>
                                          </p:val>
                                        </p:tav>
                                        <p:tav tm="100000">
                                          <p:val>
                                            <p:strVal val="#ppt_x"/>
                                          </p:val>
                                        </p:tav>
                                      </p:tavLst>
                                    </p:anim>
                                    <p:anim calcmode="lin" valueType="num">
                                      <p:cBhvr additive="base">
                                        <p:cTn id="88" dur="500" fill="hold"/>
                                        <p:tgtEl>
                                          <p:spTgt spid="22"/>
                                        </p:tgtEl>
                                        <p:attrNameLst>
                                          <p:attrName>ppt_y</p:attrName>
                                        </p:attrNameLst>
                                      </p:cBhvr>
                                      <p:tavLst>
                                        <p:tav tm="0">
                                          <p:val>
                                            <p:strVal val="1+#ppt_h/2"/>
                                          </p:val>
                                        </p:tav>
                                        <p:tav tm="100000">
                                          <p:val>
                                            <p:strVal val="#ppt_y"/>
                                          </p:val>
                                        </p:tav>
                                      </p:tavLst>
                                    </p:anim>
                                  </p:childTnLst>
                                </p:cTn>
                              </p:par>
                              <p:par>
                                <p:cTn id="89" presetID="2" presetClass="entr" presetSubtype="4" fill="hold" nodeType="withEffect">
                                  <p:stCondLst>
                                    <p:cond delay="0"/>
                                  </p:stCondLst>
                                  <p:childTnLst>
                                    <p:set>
                                      <p:cBhvr>
                                        <p:cTn id="90" dur="1" fill="hold">
                                          <p:stCondLst>
                                            <p:cond delay="0"/>
                                          </p:stCondLst>
                                        </p:cTn>
                                        <p:tgtEl>
                                          <p:spTgt spid="41"/>
                                        </p:tgtEl>
                                        <p:attrNameLst>
                                          <p:attrName>style.visibility</p:attrName>
                                        </p:attrNameLst>
                                      </p:cBhvr>
                                      <p:to>
                                        <p:strVal val="visible"/>
                                      </p:to>
                                    </p:set>
                                    <p:anim calcmode="lin" valueType="num">
                                      <p:cBhvr additive="base">
                                        <p:cTn id="91" dur="500" fill="hold"/>
                                        <p:tgtEl>
                                          <p:spTgt spid="41"/>
                                        </p:tgtEl>
                                        <p:attrNameLst>
                                          <p:attrName>ppt_x</p:attrName>
                                        </p:attrNameLst>
                                      </p:cBhvr>
                                      <p:tavLst>
                                        <p:tav tm="0">
                                          <p:val>
                                            <p:strVal val="#ppt_x"/>
                                          </p:val>
                                        </p:tav>
                                        <p:tav tm="100000">
                                          <p:val>
                                            <p:strVal val="#ppt_x"/>
                                          </p:val>
                                        </p:tav>
                                      </p:tavLst>
                                    </p:anim>
                                    <p:anim calcmode="lin" valueType="num">
                                      <p:cBhvr additive="base">
                                        <p:cTn id="92" dur="500" fill="hold"/>
                                        <p:tgtEl>
                                          <p:spTgt spid="41"/>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34"/>
                                        </p:tgtEl>
                                        <p:attrNameLst>
                                          <p:attrName>style.visibility</p:attrName>
                                        </p:attrNameLst>
                                      </p:cBhvr>
                                      <p:to>
                                        <p:strVal val="visible"/>
                                      </p:to>
                                    </p:set>
                                    <p:anim calcmode="lin" valueType="num">
                                      <p:cBhvr additive="base">
                                        <p:cTn id="95" dur="500" fill="hold"/>
                                        <p:tgtEl>
                                          <p:spTgt spid="34"/>
                                        </p:tgtEl>
                                        <p:attrNameLst>
                                          <p:attrName>ppt_x</p:attrName>
                                        </p:attrNameLst>
                                      </p:cBhvr>
                                      <p:tavLst>
                                        <p:tav tm="0">
                                          <p:val>
                                            <p:strVal val="#ppt_x"/>
                                          </p:val>
                                        </p:tav>
                                        <p:tav tm="100000">
                                          <p:val>
                                            <p:strVal val="#ppt_x"/>
                                          </p:val>
                                        </p:tav>
                                      </p:tavLst>
                                    </p:anim>
                                    <p:anim calcmode="lin" valueType="num">
                                      <p:cBhvr additive="base">
                                        <p:cTn id="96" dur="500" fill="hold"/>
                                        <p:tgtEl>
                                          <p:spTgt spid="34"/>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35"/>
                                        </p:tgtEl>
                                        <p:attrNameLst>
                                          <p:attrName>style.visibility</p:attrName>
                                        </p:attrNameLst>
                                      </p:cBhvr>
                                      <p:to>
                                        <p:strVal val="visible"/>
                                      </p:to>
                                    </p:set>
                                    <p:anim calcmode="lin" valueType="num">
                                      <p:cBhvr additive="base">
                                        <p:cTn id="99" dur="500" fill="hold"/>
                                        <p:tgtEl>
                                          <p:spTgt spid="35"/>
                                        </p:tgtEl>
                                        <p:attrNameLst>
                                          <p:attrName>ppt_x</p:attrName>
                                        </p:attrNameLst>
                                      </p:cBhvr>
                                      <p:tavLst>
                                        <p:tav tm="0">
                                          <p:val>
                                            <p:strVal val="#ppt_x"/>
                                          </p:val>
                                        </p:tav>
                                        <p:tav tm="100000">
                                          <p:val>
                                            <p:strVal val="#ppt_x"/>
                                          </p:val>
                                        </p:tav>
                                      </p:tavLst>
                                    </p:anim>
                                    <p:anim calcmode="lin" valueType="num">
                                      <p:cBhvr additive="base">
                                        <p:cTn id="100" dur="500" fill="hold"/>
                                        <p:tgtEl>
                                          <p:spTgt spid="35"/>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 calcmode="lin" valueType="num">
                                      <p:cBhvr additive="base">
                                        <p:cTn id="103" dur="500" fill="hold"/>
                                        <p:tgtEl>
                                          <p:spTgt spid="36"/>
                                        </p:tgtEl>
                                        <p:attrNameLst>
                                          <p:attrName>ppt_x</p:attrName>
                                        </p:attrNameLst>
                                      </p:cBhvr>
                                      <p:tavLst>
                                        <p:tav tm="0">
                                          <p:val>
                                            <p:strVal val="#ppt_x"/>
                                          </p:val>
                                        </p:tav>
                                        <p:tav tm="100000">
                                          <p:val>
                                            <p:strVal val="#ppt_x"/>
                                          </p:val>
                                        </p:tav>
                                      </p:tavLst>
                                    </p:anim>
                                    <p:anim calcmode="lin" valueType="num">
                                      <p:cBhvr additive="base">
                                        <p:cTn id="10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16" presetClass="entr" presetSubtype="21" fill="hold" grpId="0" nodeType="clickEffect">
                                  <p:stCondLst>
                                    <p:cond delay="0"/>
                                  </p:stCondLst>
                                  <p:childTnLst>
                                    <p:set>
                                      <p:cBhvr>
                                        <p:cTn id="108" dur="1" fill="hold">
                                          <p:stCondLst>
                                            <p:cond delay="0"/>
                                          </p:stCondLst>
                                        </p:cTn>
                                        <p:tgtEl>
                                          <p:spTgt spid="37"/>
                                        </p:tgtEl>
                                        <p:attrNameLst>
                                          <p:attrName>style.visibility</p:attrName>
                                        </p:attrNameLst>
                                      </p:cBhvr>
                                      <p:to>
                                        <p:strVal val="visible"/>
                                      </p:to>
                                    </p:set>
                                    <p:animEffect transition="in" filter="barn(inVertical)">
                                      <p:cBhvr>
                                        <p:cTn id="10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30" grpId="0" animBg="1"/>
      <p:bldP spid="31" grpId="0" animBg="1"/>
      <p:bldP spid="32" grpId="0" animBg="1"/>
      <p:bldP spid="34" grpId="0" animBg="1"/>
      <p:bldP spid="35" grpId="0" animBg="1"/>
      <p:bldP spid="36" grpId="0" animBg="1"/>
      <p:bldP spid="3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10287000" y="0"/>
            <a:ext cx="1905000" cy="1905000"/>
          </a:xfrm>
          <a:prstGeom prst="rect">
            <a:avLst/>
          </a:prstGeom>
        </p:spPr>
      </p:pic>
      <p:pic>
        <p:nvPicPr>
          <p:cNvPr id="5" name="Image 3" descr="preencoded.png"/>
          <p:cNvPicPr>
            <a:picLocks noChangeAspect="1"/>
          </p:cNvPicPr>
          <p:nvPr/>
        </p:nvPicPr>
        <p:blipFill>
          <a:blip r:embed="rId5"/>
          <a:stretch>
            <a:fillRect/>
          </a:stretch>
        </p:blipFill>
        <p:spPr>
          <a:xfrm>
            <a:off x="0" y="0"/>
            <a:ext cx="12192000" cy="685800"/>
          </a:xfrm>
          <a:prstGeom prst="rect">
            <a:avLst/>
          </a:prstGeom>
        </p:spPr>
      </p:pic>
      <p:pic>
        <p:nvPicPr>
          <p:cNvPr id="6" name="Image 4" descr="preencoded.png"/>
          <p:cNvPicPr>
            <a:picLocks noChangeAspect="1"/>
          </p:cNvPicPr>
          <p:nvPr/>
        </p:nvPicPr>
        <p:blipFill>
          <a:blip r:embed="rId6"/>
          <a:stretch>
            <a:fillRect/>
          </a:stretch>
        </p:blipFill>
        <p:spPr>
          <a:xfrm>
            <a:off x="304800" y="990600"/>
            <a:ext cx="5676900" cy="2783840"/>
          </a:xfrm>
          <a:prstGeom prst="rect">
            <a:avLst/>
          </a:prstGeom>
        </p:spPr>
      </p:pic>
      <p:pic>
        <p:nvPicPr>
          <p:cNvPr id="8" name="Image 6" descr="preencoded.png"/>
          <p:cNvPicPr>
            <a:picLocks noChangeAspect="1"/>
          </p:cNvPicPr>
          <p:nvPr/>
        </p:nvPicPr>
        <p:blipFill>
          <a:blip r:embed="rId6"/>
          <a:stretch>
            <a:fillRect/>
          </a:stretch>
        </p:blipFill>
        <p:spPr>
          <a:xfrm>
            <a:off x="6210300" y="990600"/>
            <a:ext cx="5676900" cy="2783840"/>
          </a:xfrm>
          <a:prstGeom prst="rect">
            <a:avLst/>
          </a:prstGeom>
        </p:spPr>
      </p:pic>
      <p:pic>
        <p:nvPicPr>
          <p:cNvPr id="13" name="Image 11" descr="preencoded.png"/>
          <p:cNvPicPr>
            <a:picLocks noChangeAspect="1"/>
          </p:cNvPicPr>
          <p:nvPr/>
        </p:nvPicPr>
        <p:blipFill>
          <a:blip r:embed="rId7"/>
          <a:stretch>
            <a:fillRect/>
          </a:stretch>
        </p:blipFill>
        <p:spPr>
          <a:xfrm>
            <a:off x="304800" y="3926840"/>
            <a:ext cx="11582400" cy="2397760"/>
          </a:xfrm>
          <a:prstGeom prst="rect">
            <a:avLst/>
          </a:prstGeom>
        </p:spPr>
      </p:pic>
      <p:sp>
        <p:nvSpPr>
          <p:cNvPr id="21" name="Text 0"/>
          <p:cNvSpPr/>
          <p:nvPr/>
        </p:nvSpPr>
        <p:spPr>
          <a:xfrm>
            <a:off x="381000" y="152400"/>
            <a:ext cx="11430000" cy="381000"/>
          </a:xfrm>
          <a:prstGeom prst="rect">
            <a:avLst/>
          </a:prstGeom>
          <a:noFill/>
          <a:ln/>
        </p:spPr>
        <p:txBody>
          <a:bodyPr vert="horz" wrap="square" lIns="0" tIns="0" rIns="0" bIns="0" rtlCol="0" anchor="t"/>
          <a:lstStyle/>
          <a:p>
            <a:pPr marL="0" indent="0">
              <a:lnSpc>
                <a:spcPts val="3000"/>
              </a:lnSpc>
              <a:buNone/>
            </a:pPr>
            <a:r>
              <a:rPr lang="en-US" sz="3600" b="1" dirty="0">
                <a:solidFill>
                  <a:srgbClr val="FFFFFF"/>
                </a:solidFill>
                <a:latin typeface="ui-sans-serif" pitchFamily="34" charset="0"/>
                <a:ea typeface="ui-sans-serif" pitchFamily="34" charset="-122"/>
                <a:cs typeface="ui-sans-serif" pitchFamily="34" charset="-120"/>
              </a:rPr>
              <a:t>Investment Requirements</a:t>
            </a:r>
            <a:endParaRPr lang="en-US" sz="3600" dirty="0"/>
          </a:p>
        </p:txBody>
      </p:sp>
      <p:grpSp>
        <p:nvGrpSpPr>
          <p:cNvPr id="42" name="Group 41">
            <a:extLst>
              <a:ext uri="{FF2B5EF4-FFF2-40B4-BE49-F238E27FC236}">
                <a16:creationId xmlns:a16="http://schemas.microsoft.com/office/drawing/2014/main" id="{D63BB835-080C-F9AD-FBB7-D9E8BC13FCC5}"/>
              </a:ext>
            </a:extLst>
          </p:cNvPr>
          <p:cNvGrpSpPr/>
          <p:nvPr/>
        </p:nvGrpSpPr>
        <p:grpSpPr>
          <a:xfrm>
            <a:off x="457200" y="1143000"/>
            <a:ext cx="5334000" cy="342900"/>
            <a:chOff x="457200" y="1143000"/>
            <a:chExt cx="5334000" cy="342900"/>
          </a:xfrm>
        </p:grpSpPr>
        <p:pic>
          <p:nvPicPr>
            <p:cNvPr id="7" name="Image 5" descr="preencoded.png"/>
            <p:cNvPicPr>
              <a:picLocks noChangeAspect="1"/>
            </p:cNvPicPr>
            <p:nvPr/>
          </p:nvPicPr>
          <p:blipFill>
            <a:blip r:embed="rId8"/>
            <a:stretch>
              <a:fillRect/>
            </a:stretch>
          </p:blipFill>
          <p:spPr>
            <a:xfrm>
              <a:off x="457200" y="1143000"/>
              <a:ext cx="285750" cy="342900"/>
            </a:xfrm>
            <a:prstGeom prst="rect">
              <a:avLst/>
            </a:prstGeom>
          </p:spPr>
        </p:pic>
        <p:sp>
          <p:nvSpPr>
            <p:cNvPr id="22" name="Text 1"/>
            <p:cNvSpPr/>
            <p:nvPr/>
          </p:nvSpPr>
          <p:spPr>
            <a:xfrm>
              <a:off x="895350" y="1162050"/>
              <a:ext cx="4895850" cy="304800"/>
            </a:xfrm>
            <a:prstGeom prst="rect">
              <a:avLst/>
            </a:prstGeom>
            <a:noFill/>
            <a:ln/>
          </p:spPr>
          <p:txBody>
            <a:bodyPr vert="horz" wrap="square" lIns="0" tIns="0" rIns="0" bIns="0" rtlCol="0" anchor="t"/>
            <a:lstStyle/>
            <a:p>
              <a:pPr marL="0" indent="0">
                <a:lnSpc>
                  <a:spcPts val="2400"/>
                </a:lnSpc>
                <a:buNone/>
              </a:pPr>
              <a:r>
                <a:rPr lang="en-US" sz="2000" b="1" dirty="0">
                  <a:solidFill>
                    <a:srgbClr val="1F2937"/>
                  </a:solidFill>
                  <a:latin typeface="ui-sans-serif" pitchFamily="34" charset="0"/>
                  <a:ea typeface="ui-sans-serif" pitchFamily="34" charset="-122"/>
                  <a:cs typeface="ui-sans-serif" pitchFamily="34" charset="-120"/>
                </a:rPr>
                <a:t>Export Opportunity Summary</a:t>
              </a:r>
              <a:endParaRPr lang="en-US" sz="2000" dirty="0"/>
            </a:p>
          </p:txBody>
        </p:sp>
      </p:grpSp>
      <p:sp>
        <p:nvSpPr>
          <p:cNvPr id="23" name="Text 2"/>
          <p:cNvSpPr/>
          <p:nvPr/>
        </p:nvSpPr>
        <p:spPr>
          <a:xfrm>
            <a:off x="495300" y="1673860"/>
            <a:ext cx="5410200" cy="304800"/>
          </a:xfrm>
          <a:prstGeom prst="rect">
            <a:avLst/>
          </a:prstGeom>
          <a:noFill/>
          <a:ln/>
        </p:spPr>
        <p:txBody>
          <a:bodyPr vert="horz" wrap="square" lIns="0" tIns="0" rIns="0" bIns="0" rtlCol="0" anchor="t"/>
          <a:lstStyle/>
          <a:p>
            <a:pPr marL="342900" indent="-342900" algn="l">
              <a:lnSpc>
                <a:spcPts val="2100"/>
              </a:lnSpc>
              <a:buSzPct val="100000"/>
              <a:buChar char="•"/>
            </a:pPr>
            <a:r>
              <a:rPr lang="en-US" sz="1400" dirty="0">
                <a:solidFill>
                  <a:srgbClr val="374151"/>
                </a:solidFill>
                <a:latin typeface="ui-sans-serif" pitchFamily="34" charset="0"/>
                <a:ea typeface="ui-sans-serif" pitchFamily="34" charset="-122"/>
                <a:cs typeface="ui-sans-serif" pitchFamily="34" charset="-120"/>
              </a:rPr>
              <a:t>Leveraging our unique [Your USP]</a:t>
            </a:r>
            <a:endParaRPr lang="en-US" sz="1400" dirty="0"/>
          </a:p>
        </p:txBody>
      </p:sp>
      <p:sp>
        <p:nvSpPr>
          <p:cNvPr id="24" name="Text 3"/>
          <p:cNvSpPr/>
          <p:nvPr/>
        </p:nvSpPr>
        <p:spPr>
          <a:xfrm>
            <a:off x="495300" y="2029460"/>
            <a:ext cx="5410200" cy="304800"/>
          </a:xfrm>
          <a:prstGeom prst="rect">
            <a:avLst/>
          </a:prstGeom>
          <a:noFill/>
          <a:ln/>
        </p:spPr>
        <p:txBody>
          <a:bodyPr vert="horz" wrap="square" lIns="0" tIns="0" rIns="0" bIns="0" rtlCol="0" anchor="t"/>
          <a:lstStyle/>
          <a:p>
            <a:pPr marL="342900" indent="-342900" algn="l">
              <a:lnSpc>
                <a:spcPts val="2100"/>
              </a:lnSpc>
              <a:buSzPct val="100000"/>
              <a:buChar char="•"/>
            </a:pPr>
            <a:r>
              <a:rPr lang="en-US" sz="1400" dirty="0">
                <a:solidFill>
                  <a:srgbClr val="374151"/>
                </a:solidFill>
                <a:latin typeface="ui-sans-serif" pitchFamily="34" charset="0"/>
                <a:ea typeface="ui-sans-serif" pitchFamily="34" charset="-122"/>
                <a:cs typeface="ui-sans-serif" pitchFamily="34" charset="-120"/>
              </a:rPr>
              <a:t>Well-defined strategy for market entry</a:t>
            </a:r>
            <a:endParaRPr lang="en-US" sz="1400" dirty="0"/>
          </a:p>
        </p:txBody>
      </p:sp>
      <p:sp>
        <p:nvSpPr>
          <p:cNvPr id="25" name="Text 4"/>
          <p:cNvSpPr/>
          <p:nvPr/>
        </p:nvSpPr>
        <p:spPr>
          <a:xfrm>
            <a:off x="495300" y="2395220"/>
            <a:ext cx="5410200" cy="304800"/>
          </a:xfrm>
          <a:prstGeom prst="rect">
            <a:avLst/>
          </a:prstGeom>
          <a:noFill/>
          <a:ln/>
        </p:spPr>
        <p:txBody>
          <a:bodyPr vert="horz" wrap="square" lIns="0" tIns="0" rIns="0" bIns="0" rtlCol="0" anchor="t"/>
          <a:lstStyle/>
          <a:p>
            <a:pPr marL="342900" indent="-342900" algn="l">
              <a:lnSpc>
                <a:spcPts val="2100"/>
              </a:lnSpc>
              <a:buSzPct val="100000"/>
              <a:buChar char="•"/>
            </a:pPr>
            <a:r>
              <a:rPr lang="en-US" sz="1400" dirty="0">
                <a:solidFill>
                  <a:srgbClr val="374151"/>
                </a:solidFill>
                <a:latin typeface="ui-sans-serif" pitchFamily="34" charset="0"/>
                <a:ea typeface="ui-sans-serif" pitchFamily="34" charset="-122"/>
                <a:cs typeface="ui-sans-serif" pitchFamily="34" charset="-120"/>
              </a:rPr>
              <a:t>Proven product adaptation approach</a:t>
            </a:r>
            <a:endParaRPr lang="en-US" sz="1400" dirty="0"/>
          </a:p>
        </p:txBody>
      </p:sp>
      <p:sp>
        <p:nvSpPr>
          <p:cNvPr id="26" name="Text 5"/>
          <p:cNvSpPr/>
          <p:nvPr/>
        </p:nvSpPr>
        <p:spPr>
          <a:xfrm>
            <a:off x="495300" y="2781300"/>
            <a:ext cx="5410200" cy="304800"/>
          </a:xfrm>
          <a:prstGeom prst="rect">
            <a:avLst/>
          </a:prstGeom>
          <a:noFill/>
          <a:ln/>
        </p:spPr>
        <p:txBody>
          <a:bodyPr vert="horz" wrap="square" lIns="0" tIns="0" rIns="0" bIns="0" rtlCol="0" anchor="t"/>
          <a:lstStyle/>
          <a:p>
            <a:pPr marL="342900" indent="-342900" algn="l">
              <a:lnSpc>
                <a:spcPts val="2100"/>
              </a:lnSpc>
              <a:buSzPct val="100000"/>
              <a:buChar char="•"/>
            </a:pPr>
            <a:r>
              <a:rPr lang="en-US" sz="1400" dirty="0">
                <a:solidFill>
                  <a:srgbClr val="374151"/>
                </a:solidFill>
                <a:latin typeface="ui-sans-serif" pitchFamily="34" charset="0"/>
                <a:ea typeface="ui-sans-serif" pitchFamily="34" charset="-122"/>
                <a:cs typeface="ui-sans-serif" pitchFamily="34" charset="-120"/>
              </a:rPr>
              <a:t>Projected significant growth over 3 years</a:t>
            </a:r>
            <a:endParaRPr lang="en-US" sz="1400" dirty="0"/>
          </a:p>
        </p:txBody>
      </p:sp>
      <p:grpSp>
        <p:nvGrpSpPr>
          <p:cNvPr id="43" name="Group 42">
            <a:extLst>
              <a:ext uri="{FF2B5EF4-FFF2-40B4-BE49-F238E27FC236}">
                <a16:creationId xmlns:a16="http://schemas.microsoft.com/office/drawing/2014/main" id="{D3E06225-CB3D-F919-AF4F-F62417A85989}"/>
              </a:ext>
            </a:extLst>
          </p:cNvPr>
          <p:cNvGrpSpPr/>
          <p:nvPr/>
        </p:nvGrpSpPr>
        <p:grpSpPr>
          <a:xfrm>
            <a:off x="6362700" y="1143000"/>
            <a:ext cx="5372100" cy="342900"/>
            <a:chOff x="6362700" y="1143000"/>
            <a:chExt cx="5372100" cy="342900"/>
          </a:xfrm>
        </p:grpSpPr>
        <p:pic>
          <p:nvPicPr>
            <p:cNvPr id="9" name="Image 7" descr="preencoded.png"/>
            <p:cNvPicPr>
              <a:picLocks noChangeAspect="1"/>
            </p:cNvPicPr>
            <p:nvPr/>
          </p:nvPicPr>
          <p:blipFill>
            <a:blip r:embed="rId9"/>
            <a:stretch>
              <a:fillRect/>
            </a:stretch>
          </p:blipFill>
          <p:spPr>
            <a:xfrm>
              <a:off x="6362700" y="1143000"/>
              <a:ext cx="323850" cy="342900"/>
            </a:xfrm>
            <a:prstGeom prst="rect">
              <a:avLst/>
            </a:prstGeom>
          </p:spPr>
        </p:pic>
        <p:sp>
          <p:nvSpPr>
            <p:cNvPr id="27" name="Text 6"/>
            <p:cNvSpPr/>
            <p:nvPr/>
          </p:nvSpPr>
          <p:spPr>
            <a:xfrm>
              <a:off x="6838950" y="1162050"/>
              <a:ext cx="4895850" cy="304800"/>
            </a:xfrm>
            <a:prstGeom prst="rect">
              <a:avLst/>
            </a:prstGeom>
            <a:noFill/>
            <a:ln/>
          </p:spPr>
          <p:txBody>
            <a:bodyPr vert="horz" wrap="square" lIns="0" tIns="0" rIns="0" bIns="0" rtlCol="0" anchor="t"/>
            <a:lstStyle/>
            <a:p>
              <a:pPr marL="0" indent="0">
                <a:lnSpc>
                  <a:spcPts val="2400"/>
                </a:lnSpc>
                <a:buNone/>
              </a:pPr>
              <a:r>
                <a:rPr lang="en-US" sz="2000" b="1" dirty="0">
                  <a:solidFill>
                    <a:srgbClr val="1F2937"/>
                  </a:solidFill>
                  <a:latin typeface="ui-sans-serif" pitchFamily="34" charset="0"/>
                  <a:ea typeface="ui-sans-serif" pitchFamily="34" charset="-122"/>
                  <a:cs typeface="ui-sans-serif" pitchFamily="34" charset="-120"/>
                </a:rPr>
                <a:t>Investment Request</a:t>
              </a:r>
              <a:endParaRPr lang="en-US" sz="2000" dirty="0"/>
            </a:p>
          </p:txBody>
        </p:sp>
      </p:grpSp>
      <p:grpSp>
        <p:nvGrpSpPr>
          <p:cNvPr id="41" name="Group 40">
            <a:extLst>
              <a:ext uri="{FF2B5EF4-FFF2-40B4-BE49-F238E27FC236}">
                <a16:creationId xmlns:a16="http://schemas.microsoft.com/office/drawing/2014/main" id="{790EC828-E8B1-3462-A28A-CC0E443FB9E3}"/>
              </a:ext>
            </a:extLst>
          </p:cNvPr>
          <p:cNvGrpSpPr/>
          <p:nvPr/>
        </p:nvGrpSpPr>
        <p:grpSpPr>
          <a:xfrm>
            <a:off x="6362700" y="1673860"/>
            <a:ext cx="5448300" cy="266700"/>
            <a:chOff x="6362700" y="1673860"/>
            <a:chExt cx="5448300" cy="266700"/>
          </a:xfrm>
        </p:grpSpPr>
        <p:pic>
          <p:nvPicPr>
            <p:cNvPr id="10" name="Image 8" descr="preencoded.png"/>
            <p:cNvPicPr>
              <a:picLocks noChangeAspect="1"/>
            </p:cNvPicPr>
            <p:nvPr/>
          </p:nvPicPr>
          <p:blipFill>
            <a:blip r:embed="rId10"/>
            <a:stretch>
              <a:fillRect/>
            </a:stretch>
          </p:blipFill>
          <p:spPr>
            <a:xfrm>
              <a:off x="6362700" y="1673860"/>
              <a:ext cx="219075" cy="266700"/>
            </a:xfrm>
            <a:prstGeom prst="rect">
              <a:avLst/>
            </a:prstGeom>
          </p:spPr>
        </p:pic>
        <p:sp>
          <p:nvSpPr>
            <p:cNvPr id="28" name="Text 7"/>
            <p:cNvSpPr/>
            <p:nvPr/>
          </p:nvSpPr>
          <p:spPr>
            <a:xfrm>
              <a:off x="6696075" y="1673860"/>
              <a:ext cx="5114925" cy="266700"/>
            </a:xfrm>
            <a:prstGeom prst="rect">
              <a:avLst/>
            </a:prstGeom>
            <a:noFill/>
            <a:ln/>
          </p:spPr>
          <p:txBody>
            <a:bodyPr vert="horz" wrap="square" lIns="0" tIns="0" rIns="0" bIns="0" rtlCol="0" anchor="t"/>
            <a:lstStyle/>
            <a:p>
              <a:pPr marL="0" indent="0">
                <a:lnSpc>
                  <a:spcPts val="2100"/>
                </a:lnSpc>
                <a:buNone/>
              </a:pPr>
              <a:r>
                <a:rPr lang="en-US" sz="1600" b="1" dirty="0">
                  <a:solidFill>
                    <a:srgbClr val="374151"/>
                  </a:solidFill>
                  <a:latin typeface="ui-sans-serif" pitchFamily="34" charset="0"/>
                  <a:ea typeface="ui-sans-serif" pitchFamily="34" charset="-122"/>
                  <a:cs typeface="ui-sans-serif" pitchFamily="34" charset="-120"/>
                </a:rPr>
                <a:t>Funding:</a:t>
              </a:r>
              <a:r>
                <a:rPr lang="en-US" sz="1600" dirty="0">
                  <a:solidFill>
                    <a:srgbClr val="374151"/>
                  </a:solidFill>
                  <a:latin typeface="ui-sans-serif" pitchFamily="34" charset="0"/>
                  <a:ea typeface="ui-sans-serif" pitchFamily="34" charset="-122"/>
                  <a:cs typeface="ui-sans-serif" pitchFamily="34" charset="-120"/>
                </a:rPr>
                <a:t> </a:t>
              </a:r>
              <a:r>
                <a:rPr lang="en-US" sz="1400" dirty="0">
                  <a:solidFill>
                    <a:srgbClr val="374151"/>
                  </a:solidFill>
                  <a:latin typeface="ui-sans-serif" pitchFamily="34" charset="0"/>
                  <a:ea typeface="ui-sans-serif" pitchFamily="34" charset="-122"/>
                  <a:cs typeface="ui-sans-serif" pitchFamily="34" charset="-120"/>
                </a:rPr>
                <a:t>[Specific amount] for marketing &amp; logistics</a:t>
              </a:r>
              <a:endParaRPr lang="en-US" sz="1400" dirty="0"/>
            </a:p>
          </p:txBody>
        </p:sp>
      </p:grpSp>
      <p:grpSp>
        <p:nvGrpSpPr>
          <p:cNvPr id="40" name="Group 39">
            <a:extLst>
              <a:ext uri="{FF2B5EF4-FFF2-40B4-BE49-F238E27FC236}">
                <a16:creationId xmlns:a16="http://schemas.microsoft.com/office/drawing/2014/main" id="{CBB00126-F15B-1272-FBED-4267CFD0B387}"/>
              </a:ext>
            </a:extLst>
          </p:cNvPr>
          <p:cNvGrpSpPr/>
          <p:nvPr/>
        </p:nvGrpSpPr>
        <p:grpSpPr>
          <a:xfrm>
            <a:off x="6362700" y="2311400"/>
            <a:ext cx="5448300" cy="304800"/>
            <a:chOff x="6362700" y="2016760"/>
            <a:chExt cx="5448300" cy="304800"/>
          </a:xfrm>
        </p:grpSpPr>
        <p:pic>
          <p:nvPicPr>
            <p:cNvPr id="11" name="Image 9" descr="preencoded.png"/>
            <p:cNvPicPr>
              <a:picLocks noChangeAspect="1"/>
            </p:cNvPicPr>
            <p:nvPr/>
          </p:nvPicPr>
          <p:blipFill>
            <a:blip r:embed="rId11"/>
            <a:stretch>
              <a:fillRect/>
            </a:stretch>
          </p:blipFill>
          <p:spPr>
            <a:xfrm>
              <a:off x="6362700" y="2016760"/>
              <a:ext cx="238125" cy="266700"/>
            </a:xfrm>
            <a:prstGeom prst="rect">
              <a:avLst/>
            </a:prstGeom>
          </p:spPr>
        </p:pic>
        <p:sp>
          <p:nvSpPr>
            <p:cNvPr id="29" name="Text 8"/>
            <p:cNvSpPr/>
            <p:nvPr/>
          </p:nvSpPr>
          <p:spPr>
            <a:xfrm>
              <a:off x="6715125" y="2016760"/>
              <a:ext cx="5095875" cy="304800"/>
            </a:xfrm>
            <a:prstGeom prst="rect">
              <a:avLst/>
            </a:prstGeom>
            <a:noFill/>
            <a:ln/>
          </p:spPr>
          <p:txBody>
            <a:bodyPr vert="horz" wrap="square" lIns="0" tIns="0" rIns="0" bIns="0" rtlCol="0" anchor="t"/>
            <a:lstStyle/>
            <a:p>
              <a:pPr marL="0" indent="0">
                <a:lnSpc>
                  <a:spcPts val="2100"/>
                </a:lnSpc>
                <a:buNone/>
              </a:pPr>
              <a:r>
                <a:rPr lang="en-US" sz="1600" b="1" dirty="0">
                  <a:solidFill>
                    <a:srgbClr val="374151"/>
                  </a:solidFill>
                  <a:latin typeface="ui-sans-serif" pitchFamily="34" charset="0"/>
                  <a:ea typeface="ui-sans-serif" pitchFamily="34" charset="-122"/>
                  <a:cs typeface="ui-sans-serif" pitchFamily="34" charset="-120"/>
                </a:rPr>
                <a:t>Resources:</a:t>
              </a:r>
              <a:r>
                <a:rPr lang="en-US" sz="1600" dirty="0">
                  <a:solidFill>
                    <a:srgbClr val="374151"/>
                  </a:solidFill>
                  <a:latin typeface="ui-sans-serif" pitchFamily="34" charset="0"/>
                  <a:ea typeface="ui-sans-serif" pitchFamily="34" charset="-122"/>
                  <a:cs typeface="ui-sans-serif" pitchFamily="34" charset="-120"/>
                </a:rPr>
                <a:t> </a:t>
              </a:r>
              <a:r>
                <a:rPr lang="en-US" sz="1400" dirty="0">
                  <a:solidFill>
                    <a:srgbClr val="374151"/>
                  </a:solidFill>
                  <a:latin typeface="ui-sans-serif" pitchFamily="34" charset="0"/>
                  <a:ea typeface="ui-sans-serif" pitchFamily="34" charset="-122"/>
                  <a:cs typeface="ui-sans-serif" pitchFamily="34" charset="-120"/>
                </a:rPr>
                <a:t>Distribution channels in target market</a:t>
              </a:r>
              <a:endParaRPr lang="en-US" sz="1400" dirty="0"/>
            </a:p>
          </p:txBody>
        </p:sp>
      </p:grpSp>
      <p:grpSp>
        <p:nvGrpSpPr>
          <p:cNvPr id="39" name="Group 38">
            <a:extLst>
              <a:ext uri="{FF2B5EF4-FFF2-40B4-BE49-F238E27FC236}">
                <a16:creationId xmlns:a16="http://schemas.microsoft.com/office/drawing/2014/main" id="{71DF7E7E-8324-152A-F29E-67320FAB4FC0}"/>
              </a:ext>
            </a:extLst>
          </p:cNvPr>
          <p:cNvGrpSpPr/>
          <p:nvPr/>
        </p:nvGrpSpPr>
        <p:grpSpPr>
          <a:xfrm>
            <a:off x="6362700" y="3009900"/>
            <a:ext cx="5448299" cy="266700"/>
            <a:chOff x="6362700" y="3009900"/>
            <a:chExt cx="5448299" cy="266700"/>
          </a:xfrm>
        </p:grpSpPr>
        <p:pic>
          <p:nvPicPr>
            <p:cNvPr id="12" name="Image 10" descr="preencoded.png"/>
            <p:cNvPicPr>
              <a:picLocks noChangeAspect="1"/>
            </p:cNvPicPr>
            <p:nvPr/>
          </p:nvPicPr>
          <p:blipFill>
            <a:blip r:embed="rId12"/>
            <a:stretch>
              <a:fillRect/>
            </a:stretch>
          </p:blipFill>
          <p:spPr>
            <a:xfrm>
              <a:off x="6362700" y="3009900"/>
              <a:ext cx="238125" cy="266700"/>
            </a:xfrm>
            <a:prstGeom prst="rect">
              <a:avLst/>
            </a:prstGeom>
          </p:spPr>
        </p:pic>
        <p:sp>
          <p:nvSpPr>
            <p:cNvPr id="30" name="Text 9"/>
            <p:cNvSpPr/>
            <p:nvPr/>
          </p:nvSpPr>
          <p:spPr>
            <a:xfrm>
              <a:off x="6715125" y="3009900"/>
              <a:ext cx="5095874" cy="228600"/>
            </a:xfrm>
            <a:prstGeom prst="rect">
              <a:avLst/>
            </a:prstGeom>
            <a:noFill/>
            <a:ln/>
          </p:spPr>
          <p:txBody>
            <a:bodyPr vert="horz" wrap="square" lIns="0" tIns="0" rIns="0" bIns="0" rtlCol="0" anchor="t"/>
            <a:lstStyle/>
            <a:p>
              <a:pPr marL="0" indent="0">
                <a:lnSpc>
                  <a:spcPts val="2100"/>
                </a:lnSpc>
                <a:buNone/>
              </a:pPr>
              <a:r>
                <a:rPr lang="en-US" sz="1600" b="1" dirty="0">
                  <a:solidFill>
                    <a:srgbClr val="374151"/>
                  </a:solidFill>
                  <a:latin typeface="ui-sans-serif" pitchFamily="34" charset="0"/>
                  <a:ea typeface="ui-sans-serif" pitchFamily="34" charset="-122"/>
                  <a:cs typeface="ui-sans-serif" pitchFamily="34" charset="-120"/>
                </a:rPr>
                <a:t>Support:</a:t>
              </a:r>
              <a:r>
                <a:rPr lang="en-US" sz="1600" dirty="0">
                  <a:solidFill>
                    <a:srgbClr val="374151"/>
                  </a:solidFill>
                  <a:latin typeface="ui-sans-serif" pitchFamily="34" charset="0"/>
                  <a:ea typeface="ui-sans-serif" pitchFamily="34" charset="-122"/>
                  <a:cs typeface="ui-sans-serif" pitchFamily="34" charset="-120"/>
                </a:rPr>
                <a:t> </a:t>
              </a:r>
              <a:r>
                <a:rPr lang="en-US" sz="1400" dirty="0">
                  <a:solidFill>
                    <a:srgbClr val="374151"/>
                  </a:solidFill>
                  <a:latin typeface="ui-sans-serif" pitchFamily="34" charset="0"/>
                  <a:ea typeface="ui-sans-serif" pitchFamily="34" charset="-122"/>
                  <a:cs typeface="ui-sans-serif" pitchFamily="34" charset="-120"/>
                </a:rPr>
                <a:t>Access to trade mission opportunities</a:t>
              </a:r>
              <a:endParaRPr lang="en-US" sz="1400" dirty="0"/>
            </a:p>
          </p:txBody>
        </p:sp>
      </p:grpSp>
      <p:grpSp>
        <p:nvGrpSpPr>
          <p:cNvPr id="44" name="Group 43">
            <a:extLst>
              <a:ext uri="{FF2B5EF4-FFF2-40B4-BE49-F238E27FC236}">
                <a16:creationId xmlns:a16="http://schemas.microsoft.com/office/drawing/2014/main" id="{51C912D2-1105-EEE2-8F65-97ACCCDB03C7}"/>
              </a:ext>
            </a:extLst>
          </p:cNvPr>
          <p:cNvGrpSpPr/>
          <p:nvPr/>
        </p:nvGrpSpPr>
        <p:grpSpPr>
          <a:xfrm>
            <a:off x="457200" y="4079240"/>
            <a:ext cx="5542062" cy="342900"/>
            <a:chOff x="457200" y="4079240"/>
            <a:chExt cx="5542062" cy="342900"/>
          </a:xfrm>
        </p:grpSpPr>
        <p:pic>
          <p:nvPicPr>
            <p:cNvPr id="14" name="Image 12" descr="preencoded.png"/>
            <p:cNvPicPr>
              <a:picLocks noChangeAspect="1"/>
            </p:cNvPicPr>
            <p:nvPr/>
          </p:nvPicPr>
          <p:blipFill>
            <a:blip r:embed="rId13"/>
            <a:stretch>
              <a:fillRect/>
            </a:stretch>
          </p:blipFill>
          <p:spPr>
            <a:xfrm>
              <a:off x="457200" y="4079240"/>
              <a:ext cx="323850" cy="342900"/>
            </a:xfrm>
            <a:prstGeom prst="rect">
              <a:avLst/>
            </a:prstGeom>
          </p:spPr>
        </p:pic>
        <p:sp>
          <p:nvSpPr>
            <p:cNvPr id="31" name="Text 10"/>
            <p:cNvSpPr/>
            <p:nvPr/>
          </p:nvSpPr>
          <p:spPr>
            <a:xfrm>
              <a:off x="933450" y="4098290"/>
              <a:ext cx="5065812" cy="304800"/>
            </a:xfrm>
            <a:prstGeom prst="rect">
              <a:avLst/>
            </a:prstGeom>
            <a:noFill/>
            <a:ln/>
          </p:spPr>
          <p:txBody>
            <a:bodyPr vert="horz" wrap="square" lIns="0" tIns="0" rIns="0" bIns="0" rtlCol="0" anchor="t"/>
            <a:lstStyle/>
            <a:p>
              <a:pPr marL="0" indent="0">
                <a:lnSpc>
                  <a:spcPts val="2400"/>
                </a:lnSpc>
                <a:buNone/>
              </a:pPr>
              <a:r>
                <a:rPr lang="en-US" sz="2000" b="1" dirty="0">
                  <a:solidFill>
                    <a:srgbClr val="1F2937"/>
                  </a:solidFill>
                  <a:latin typeface="ui-sans-serif" pitchFamily="34" charset="0"/>
                  <a:ea typeface="ui-sans-serif" pitchFamily="34" charset="-122"/>
                  <a:cs typeface="ui-sans-serif" pitchFamily="34" charset="-120"/>
                </a:rPr>
                <a:t>Expected Returns on Investment</a:t>
              </a:r>
              <a:endParaRPr lang="en-US" sz="2000" dirty="0"/>
            </a:p>
          </p:txBody>
        </p:sp>
      </p:grpSp>
      <p:grpSp>
        <p:nvGrpSpPr>
          <p:cNvPr id="45" name="Group 44">
            <a:extLst>
              <a:ext uri="{FF2B5EF4-FFF2-40B4-BE49-F238E27FC236}">
                <a16:creationId xmlns:a16="http://schemas.microsoft.com/office/drawing/2014/main" id="{3701198F-10BB-E820-FAEE-EAB3989DE4CA}"/>
              </a:ext>
            </a:extLst>
          </p:cNvPr>
          <p:cNvGrpSpPr/>
          <p:nvPr/>
        </p:nvGrpSpPr>
        <p:grpSpPr>
          <a:xfrm>
            <a:off x="457200" y="4498340"/>
            <a:ext cx="3657600" cy="952500"/>
            <a:chOff x="457200" y="4498340"/>
            <a:chExt cx="3657600" cy="952500"/>
          </a:xfrm>
        </p:grpSpPr>
        <p:pic>
          <p:nvPicPr>
            <p:cNvPr id="15" name="Image 13" descr="preencoded.png"/>
            <p:cNvPicPr>
              <a:picLocks noChangeAspect="1"/>
            </p:cNvPicPr>
            <p:nvPr/>
          </p:nvPicPr>
          <p:blipFill>
            <a:blip r:embed="rId14"/>
            <a:stretch>
              <a:fillRect/>
            </a:stretch>
          </p:blipFill>
          <p:spPr>
            <a:xfrm>
              <a:off x="1981200" y="4498340"/>
              <a:ext cx="609600" cy="609600"/>
            </a:xfrm>
            <a:prstGeom prst="rect">
              <a:avLst/>
            </a:prstGeom>
          </p:spPr>
        </p:pic>
        <p:pic>
          <p:nvPicPr>
            <p:cNvPr id="16" name="Image 14" descr="preencoded.png"/>
            <p:cNvPicPr>
              <a:picLocks noChangeAspect="1"/>
            </p:cNvPicPr>
            <p:nvPr/>
          </p:nvPicPr>
          <p:blipFill>
            <a:blip r:embed="rId15"/>
            <a:stretch>
              <a:fillRect/>
            </a:stretch>
          </p:blipFill>
          <p:spPr>
            <a:xfrm>
              <a:off x="2200275" y="4650740"/>
              <a:ext cx="171450" cy="304800"/>
            </a:xfrm>
            <a:prstGeom prst="rect">
              <a:avLst/>
            </a:prstGeom>
          </p:spPr>
        </p:pic>
        <p:sp>
          <p:nvSpPr>
            <p:cNvPr id="32" name="Text 11"/>
            <p:cNvSpPr/>
            <p:nvPr/>
          </p:nvSpPr>
          <p:spPr>
            <a:xfrm>
              <a:off x="457200" y="5184140"/>
              <a:ext cx="3657600" cy="266700"/>
            </a:xfrm>
            <a:prstGeom prst="rect">
              <a:avLst/>
            </a:prstGeom>
            <a:noFill/>
            <a:ln/>
          </p:spPr>
          <p:txBody>
            <a:bodyPr vert="horz" wrap="square" lIns="0" tIns="0" rIns="0" bIns="0" rtlCol="0" anchor="t"/>
            <a:lstStyle/>
            <a:p>
              <a:pPr marL="0" indent="0" algn="ctr">
                <a:lnSpc>
                  <a:spcPts val="2100"/>
                </a:lnSpc>
                <a:buNone/>
              </a:pPr>
              <a:r>
                <a:rPr lang="en-US" b="1" dirty="0">
                  <a:solidFill>
                    <a:srgbClr val="374151"/>
                  </a:solidFill>
                  <a:latin typeface="ui-sans-serif" pitchFamily="34" charset="0"/>
                  <a:ea typeface="ui-sans-serif" pitchFamily="34" charset="-122"/>
                  <a:cs typeface="ui-sans-serif" pitchFamily="34" charset="-120"/>
                </a:rPr>
                <a:t>Revenue Growth</a:t>
              </a:r>
              <a:endParaRPr lang="en-US" dirty="0"/>
            </a:p>
          </p:txBody>
        </p:sp>
      </p:grpSp>
      <p:sp>
        <p:nvSpPr>
          <p:cNvPr id="33" name="Text 12"/>
          <p:cNvSpPr/>
          <p:nvPr/>
        </p:nvSpPr>
        <p:spPr>
          <a:xfrm>
            <a:off x="457200" y="5590540"/>
            <a:ext cx="3657600" cy="304800"/>
          </a:xfrm>
          <a:prstGeom prst="rect">
            <a:avLst/>
          </a:prstGeom>
          <a:noFill/>
          <a:ln/>
        </p:spPr>
        <p:txBody>
          <a:bodyPr vert="horz" wrap="square" lIns="0" tIns="0" rIns="0" bIns="0" rtlCol="0" anchor="t"/>
          <a:lstStyle/>
          <a:p>
            <a:pPr marL="0" indent="0" algn="ctr">
              <a:lnSpc>
                <a:spcPts val="1500"/>
              </a:lnSpc>
              <a:buNone/>
            </a:pPr>
            <a:r>
              <a:rPr lang="en-US" sz="1400" dirty="0">
                <a:solidFill>
                  <a:srgbClr val="4B5563"/>
                </a:solidFill>
                <a:latin typeface="ui-sans-serif" pitchFamily="34" charset="0"/>
                <a:ea typeface="ui-sans-serif" pitchFamily="34" charset="-122"/>
                <a:cs typeface="ui-sans-serif" pitchFamily="34" charset="-120"/>
              </a:rPr>
              <a:t>Projected [X]% growth over 3 years</a:t>
            </a:r>
            <a:endParaRPr lang="en-US" sz="1400" dirty="0"/>
          </a:p>
        </p:txBody>
      </p:sp>
      <p:grpSp>
        <p:nvGrpSpPr>
          <p:cNvPr id="46" name="Group 45">
            <a:extLst>
              <a:ext uri="{FF2B5EF4-FFF2-40B4-BE49-F238E27FC236}">
                <a16:creationId xmlns:a16="http://schemas.microsoft.com/office/drawing/2014/main" id="{4D6EE75F-BA17-3B10-40E7-407F57C9D1BA}"/>
              </a:ext>
            </a:extLst>
          </p:cNvPr>
          <p:cNvGrpSpPr/>
          <p:nvPr/>
        </p:nvGrpSpPr>
        <p:grpSpPr>
          <a:xfrm>
            <a:off x="4267200" y="4498340"/>
            <a:ext cx="3657600" cy="952500"/>
            <a:chOff x="4267200" y="4498340"/>
            <a:chExt cx="3657600" cy="952500"/>
          </a:xfrm>
        </p:grpSpPr>
        <p:pic>
          <p:nvPicPr>
            <p:cNvPr id="17" name="Image 15" descr="preencoded.png"/>
            <p:cNvPicPr>
              <a:picLocks noChangeAspect="1"/>
            </p:cNvPicPr>
            <p:nvPr/>
          </p:nvPicPr>
          <p:blipFill>
            <a:blip r:embed="rId16"/>
            <a:stretch>
              <a:fillRect/>
            </a:stretch>
          </p:blipFill>
          <p:spPr>
            <a:xfrm>
              <a:off x="5791200" y="4498340"/>
              <a:ext cx="609600" cy="609600"/>
            </a:xfrm>
            <a:prstGeom prst="rect">
              <a:avLst/>
            </a:prstGeom>
          </p:spPr>
        </p:pic>
        <p:pic>
          <p:nvPicPr>
            <p:cNvPr id="18" name="Image 16" descr="preencoded.png"/>
            <p:cNvPicPr>
              <a:picLocks noChangeAspect="1"/>
            </p:cNvPicPr>
            <p:nvPr/>
          </p:nvPicPr>
          <p:blipFill>
            <a:blip r:embed="rId17"/>
            <a:stretch>
              <a:fillRect/>
            </a:stretch>
          </p:blipFill>
          <p:spPr>
            <a:xfrm>
              <a:off x="5953125" y="4650740"/>
              <a:ext cx="285750" cy="304800"/>
            </a:xfrm>
            <a:prstGeom prst="rect">
              <a:avLst/>
            </a:prstGeom>
          </p:spPr>
        </p:pic>
        <p:sp>
          <p:nvSpPr>
            <p:cNvPr id="34" name="Text 13"/>
            <p:cNvSpPr/>
            <p:nvPr/>
          </p:nvSpPr>
          <p:spPr>
            <a:xfrm>
              <a:off x="4267200" y="5184140"/>
              <a:ext cx="3657600" cy="266700"/>
            </a:xfrm>
            <a:prstGeom prst="rect">
              <a:avLst/>
            </a:prstGeom>
            <a:noFill/>
            <a:ln/>
          </p:spPr>
          <p:txBody>
            <a:bodyPr vert="horz" wrap="square" lIns="0" tIns="0" rIns="0" bIns="0" rtlCol="0" anchor="t"/>
            <a:lstStyle/>
            <a:p>
              <a:pPr marL="0" indent="0" algn="ctr">
                <a:lnSpc>
                  <a:spcPts val="2100"/>
                </a:lnSpc>
                <a:buNone/>
              </a:pPr>
              <a:r>
                <a:rPr lang="en-US" b="1" dirty="0">
                  <a:solidFill>
                    <a:srgbClr val="374151"/>
                  </a:solidFill>
                  <a:latin typeface="ui-sans-serif" pitchFamily="34" charset="0"/>
                  <a:ea typeface="ui-sans-serif" pitchFamily="34" charset="-122"/>
                  <a:cs typeface="ui-sans-serif" pitchFamily="34" charset="-120"/>
                </a:rPr>
                <a:t>Market Share</a:t>
              </a:r>
              <a:endParaRPr lang="en-US" dirty="0"/>
            </a:p>
          </p:txBody>
        </p:sp>
      </p:grpSp>
      <p:sp>
        <p:nvSpPr>
          <p:cNvPr id="35" name="Text 14"/>
          <p:cNvSpPr/>
          <p:nvPr/>
        </p:nvSpPr>
        <p:spPr>
          <a:xfrm>
            <a:off x="4267200" y="5590540"/>
            <a:ext cx="3657600" cy="228600"/>
          </a:xfrm>
          <a:prstGeom prst="rect">
            <a:avLst/>
          </a:prstGeom>
          <a:noFill/>
          <a:ln/>
        </p:spPr>
        <p:txBody>
          <a:bodyPr vert="horz" wrap="square" lIns="0" tIns="0" rIns="0" bIns="0" rtlCol="0" anchor="t"/>
          <a:lstStyle/>
          <a:p>
            <a:pPr marL="0" indent="0" algn="ctr">
              <a:lnSpc>
                <a:spcPts val="1500"/>
              </a:lnSpc>
              <a:buNone/>
            </a:pPr>
            <a:r>
              <a:rPr lang="en-US" sz="1400" dirty="0">
                <a:solidFill>
                  <a:srgbClr val="4B5563"/>
                </a:solidFill>
                <a:latin typeface="ui-sans-serif" pitchFamily="34" charset="0"/>
                <a:ea typeface="ui-sans-serif" pitchFamily="34" charset="-122"/>
                <a:cs typeface="ui-sans-serif" pitchFamily="34" charset="-120"/>
              </a:rPr>
              <a:t>Anticipated [X]% market penetration</a:t>
            </a:r>
            <a:endParaRPr lang="en-US" sz="1400" dirty="0"/>
          </a:p>
        </p:txBody>
      </p:sp>
      <p:grpSp>
        <p:nvGrpSpPr>
          <p:cNvPr id="47" name="Group 46">
            <a:extLst>
              <a:ext uri="{FF2B5EF4-FFF2-40B4-BE49-F238E27FC236}">
                <a16:creationId xmlns:a16="http://schemas.microsoft.com/office/drawing/2014/main" id="{C2774F40-95D9-8EEE-41A6-5A7460889100}"/>
              </a:ext>
            </a:extLst>
          </p:cNvPr>
          <p:cNvGrpSpPr/>
          <p:nvPr/>
        </p:nvGrpSpPr>
        <p:grpSpPr>
          <a:xfrm>
            <a:off x="8077200" y="4498340"/>
            <a:ext cx="3657600" cy="952500"/>
            <a:chOff x="8077200" y="4498340"/>
            <a:chExt cx="3657600" cy="952500"/>
          </a:xfrm>
        </p:grpSpPr>
        <p:pic>
          <p:nvPicPr>
            <p:cNvPr id="19" name="Image 17" descr="preencoded.png"/>
            <p:cNvPicPr>
              <a:picLocks noChangeAspect="1"/>
            </p:cNvPicPr>
            <p:nvPr/>
          </p:nvPicPr>
          <p:blipFill>
            <a:blip r:embed="rId18"/>
            <a:stretch>
              <a:fillRect/>
            </a:stretch>
          </p:blipFill>
          <p:spPr>
            <a:xfrm>
              <a:off x="9601200" y="4498340"/>
              <a:ext cx="609600" cy="609600"/>
            </a:xfrm>
            <a:prstGeom prst="rect">
              <a:avLst/>
            </a:prstGeom>
          </p:spPr>
        </p:pic>
        <p:pic>
          <p:nvPicPr>
            <p:cNvPr id="20" name="Image 18" descr="preencoded.png"/>
            <p:cNvPicPr>
              <a:picLocks noChangeAspect="1"/>
            </p:cNvPicPr>
            <p:nvPr/>
          </p:nvPicPr>
          <p:blipFill>
            <a:blip r:embed="rId19"/>
            <a:stretch>
              <a:fillRect/>
            </a:stretch>
          </p:blipFill>
          <p:spPr>
            <a:xfrm>
              <a:off x="9791700" y="4650740"/>
              <a:ext cx="228600" cy="304800"/>
            </a:xfrm>
            <a:prstGeom prst="rect">
              <a:avLst/>
            </a:prstGeom>
          </p:spPr>
        </p:pic>
        <p:sp>
          <p:nvSpPr>
            <p:cNvPr id="36" name="Text 15"/>
            <p:cNvSpPr/>
            <p:nvPr/>
          </p:nvSpPr>
          <p:spPr>
            <a:xfrm>
              <a:off x="8077200" y="5184140"/>
              <a:ext cx="3657600" cy="266700"/>
            </a:xfrm>
            <a:prstGeom prst="rect">
              <a:avLst/>
            </a:prstGeom>
            <a:noFill/>
            <a:ln/>
          </p:spPr>
          <p:txBody>
            <a:bodyPr vert="horz" wrap="square" lIns="0" tIns="0" rIns="0" bIns="0" rtlCol="0" anchor="t"/>
            <a:lstStyle/>
            <a:p>
              <a:pPr marL="0" indent="0" algn="ctr">
                <a:lnSpc>
                  <a:spcPts val="2100"/>
                </a:lnSpc>
                <a:buNone/>
              </a:pPr>
              <a:r>
                <a:rPr lang="en-US" b="1" dirty="0">
                  <a:solidFill>
                    <a:srgbClr val="374151"/>
                  </a:solidFill>
                  <a:latin typeface="ui-sans-serif" pitchFamily="34" charset="0"/>
                  <a:ea typeface="ui-sans-serif" pitchFamily="34" charset="-122"/>
                  <a:cs typeface="ui-sans-serif" pitchFamily="34" charset="-120"/>
                </a:rPr>
                <a:t>Sustainability</a:t>
              </a:r>
              <a:endParaRPr lang="en-US" dirty="0"/>
            </a:p>
          </p:txBody>
        </p:sp>
      </p:grpSp>
      <p:sp>
        <p:nvSpPr>
          <p:cNvPr id="37" name="Text 16"/>
          <p:cNvSpPr/>
          <p:nvPr/>
        </p:nvSpPr>
        <p:spPr>
          <a:xfrm>
            <a:off x="8077200" y="5590540"/>
            <a:ext cx="3657600" cy="266700"/>
          </a:xfrm>
          <a:prstGeom prst="rect">
            <a:avLst/>
          </a:prstGeom>
          <a:noFill/>
          <a:ln/>
        </p:spPr>
        <p:txBody>
          <a:bodyPr vert="horz" wrap="square" lIns="0" tIns="0" rIns="0" bIns="0" rtlCol="0" anchor="t"/>
          <a:lstStyle/>
          <a:p>
            <a:pPr marL="0" indent="0" algn="ctr">
              <a:lnSpc>
                <a:spcPts val="1500"/>
              </a:lnSpc>
              <a:buNone/>
            </a:pPr>
            <a:r>
              <a:rPr lang="en-US" sz="1400" dirty="0">
                <a:solidFill>
                  <a:srgbClr val="4B5563"/>
                </a:solidFill>
                <a:latin typeface="ui-sans-serif" pitchFamily="34" charset="0"/>
                <a:ea typeface="ui-sans-serif" pitchFamily="34" charset="-122"/>
                <a:cs typeface="ui-sans-serif" pitchFamily="34" charset="-120"/>
              </a:rPr>
              <a:t>Long-term market presence &amp; profitability</a:t>
            </a:r>
            <a:endParaRPr lang="en-US" sz="1400" dirty="0"/>
          </a:p>
        </p:txBody>
      </p:sp>
      <p:sp>
        <p:nvSpPr>
          <p:cNvPr id="38" name="Text 17"/>
          <p:cNvSpPr/>
          <p:nvPr/>
        </p:nvSpPr>
        <p:spPr>
          <a:xfrm>
            <a:off x="11274921" y="6477000"/>
            <a:ext cx="643295"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15 / 16</a:t>
            </a:r>
            <a:endParaRPr lang="en-US" sz="1200" dirty="0"/>
          </a:p>
        </p:txBody>
      </p:sp>
      <p:pic>
        <p:nvPicPr>
          <p:cNvPr id="48" name="Picture 47" descr="A blue letters on a black background&#10;&#10;AI-generated content may be incorrect.">
            <a:extLst>
              <a:ext uri="{FF2B5EF4-FFF2-40B4-BE49-F238E27FC236}">
                <a16:creationId xmlns:a16="http://schemas.microsoft.com/office/drawing/2014/main" id="{842995F3-2EF2-1815-75B2-7E69BF52B9D8}"/>
              </a:ext>
            </a:extLst>
          </p:cNvPr>
          <p:cNvPicPr>
            <a:picLocks noChangeAspect="1"/>
          </p:cNvPicPr>
          <p:nvPr/>
        </p:nvPicPr>
        <p:blipFill>
          <a:blip r:embed="rId20"/>
          <a:stretch>
            <a:fillRect/>
          </a:stretch>
        </p:blipFill>
        <p:spPr>
          <a:xfrm>
            <a:off x="10825377" y="233170"/>
            <a:ext cx="1052680" cy="2606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2"/>
                                        </p:tgtEl>
                                        <p:attrNameLst>
                                          <p:attrName>style.visibility</p:attrName>
                                        </p:attrNameLst>
                                      </p:cBhvr>
                                      <p:to>
                                        <p:strVal val="visible"/>
                                      </p:to>
                                    </p:set>
                                    <p:anim calcmode="lin" valueType="num">
                                      <p:cBhvr additive="base">
                                        <p:cTn id="11" dur="500" fill="hold"/>
                                        <p:tgtEl>
                                          <p:spTgt spid="42"/>
                                        </p:tgtEl>
                                        <p:attrNameLst>
                                          <p:attrName>ppt_x</p:attrName>
                                        </p:attrNameLst>
                                      </p:cBhvr>
                                      <p:tavLst>
                                        <p:tav tm="0">
                                          <p:val>
                                            <p:strVal val="#ppt_x"/>
                                          </p:val>
                                        </p:tav>
                                        <p:tav tm="100000">
                                          <p:val>
                                            <p:strVal val="#ppt_x"/>
                                          </p:val>
                                        </p:tav>
                                      </p:tavLst>
                                    </p:anim>
                                    <p:anim calcmode="lin" valueType="num">
                                      <p:cBhvr additive="base">
                                        <p:cTn id="12" dur="500" fill="hold"/>
                                        <p:tgtEl>
                                          <p:spTgt spid="4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500" fill="hold"/>
                                        <p:tgtEl>
                                          <p:spTgt spid="23"/>
                                        </p:tgtEl>
                                        <p:attrNameLst>
                                          <p:attrName>ppt_x</p:attrName>
                                        </p:attrNameLst>
                                      </p:cBhvr>
                                      <p:tavLst>
                                        <p:tav tm="0">
                                          <p:val>
                                            <p:strVal val="#ppt_x"/>
                                          </p:val>
                                        </p:tav>
                                        <p:tav tm="100000">
                                          <p:val>
                                            <p:strVal val="#ppt_x"/>
                                          </p:val>
                                        </p:tav>
                                      </p:tavLst>
                                    </p:anim>
                                    <p:anim calcmode="lin" valueType="num">
                                      <p:cBhvr additive="base">
                                        <p:cTn id="16" dur="500" fill="hold"/>
                                        <p:tgtEl>
                                          <p:spTgt spid="2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500" fill="hold"/>
                                        <p:tgtEl>
                                          <p:spTgt spid="24"/>
                                        </p:tgtEl>
                                        <p:attrNameLst>
                                          <p:attrName>ppt_x</p:attrName>
                                        </p:attrNameLst>
                                      </p:cBhvr>
                                      <p:tavLst>
                                        <p:tav tm="0">
                                          <p:val>
                                            <p:strVal val="#ppt_x"/>
                                          </p:val>
                                        </p:tav>
                                        <p:tav tm="100000">
                                          <p:val>
                                            <p:strVal val="#ppt_x"/>
                                          </p:val>
                                        </p:tav>
                                      </p:tavLst>
                                    </p:anim>
                                    <p:anim calcmode="lin" valueType="num">
                                      <p:cBhvr additive="base">
                                        <p:cTn id="20" dur="500" fill="hold"/>
                                        <p:tgtEl>
                                          <p:spTgt spid="2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 calcmode="lin" valueType="num">
                                      <p:cBhvr additive="base">
                                        <p:cTn id="23" dur="500" fill="hold"/>
                                        <p:tgtEl>
                                          <p:spTgt spid="25"/>
                                        </p:tgtEl>
                                        <p:attrNameLst>
                                          <p:attrName>ppt_x</p:attrName>
                                        </p:attrNameLst>
                                      </p:cBhvr>
                                      <p:tavLst>
                                        <p:tav tm="0">
                                          <p:val>
                                            <p:strVal val="#ppt_x"/>
                                          </p:val>
                                        </p:tav>
                                        <p:tav tm="100000">
                                          <p:val>
                                            <p:strVal val="#ppt_x"/>
                                          </p:val>
                                        </p:tav>
                                      </p:tavLst>
                                    </p:anim>
                                    <p:anim calcmode="lin" valueType="num">
                                      <p:cBhvr additive="base">
                                        <p:cTn id="24" dur="500" fill="hold"/>
                                        <p:tgtEl>
                                          <p:spTgt spid="2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additive="base">
                                        <p:cTn id="27" dur="500" fill="hold"/>
                                        <p:tgtEl>
                                          <p:spTgt spid="26"/>
                                        </p:tgtEl>
                                        <p:attrNameLst>
                                          <p:attrName>ppt_x</p:attrName>
                                        </p:attrNameLst>
                                      </p:cBhvr>
                                      <p:tavLst>
                                        <p:tav tm="0">
                                          <p:val>
                                            <p:strVal val="#ppt_x"/>
                                          </p:val>
                                        </p:tav>
                                        <p:tav tm="100000">
                                          <p:val>
                                            <p:strVal val="#ppt_x"/>
                                          </p:val>
                                        </p:tav>
                                      </p:tavLst>
                                    </p:anim>
                                    <p:anim calcmode="lin" valueType="num">
                                      <p:cBhvr additive="base">
                                        <p:cTn id="2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3"/>
                                        </p:tgtEl>
                                        <p:attrNameLst>
                                          <p:attrName>style.visibility</p:attrName>
                                        </p:attrNameLst>
                                      </p:cBhvr>
                                      <p:to>
                                        <p:strVal val="visible"/>
                                      </p:to>
                                    </p:set>
                                    <p:anim calcmode="lin" valueType="num">
                                      <p:cBhvr additive="base">
                                        <p:cTn id="37" dur="500" fill="hold"/>
                                        <p:tgtEl>
                                          <p:spTgt spid="43"/>
                                        </p:tgtEl>
                                        <p:attrNameLst>
                                          <p:attrName>ppt_x</p:attrName>
                                        </p:attrNameLst>
                                      </p:cBhvr>
                                      <p:tavLst>
                                        <p:tav tm="0">
                                          <p:val>
                                            <p:strVal val="#ppt_x"/>
                                          </p:val>
                                        </p:tav>
                                        <p:tav tm="100000">
                                          <p:val>
                                            <p:strVal val="#ppt_x"/>
                                          </p:val>
                                        </p:tav>
                                      </p:tavLst>
                                    </p:anim>
                                    <p:anim calcmode="lin" valueType="num">
                                      <p:cBhvr additive="base">
                                        <p:cTn id="38" dur="500" fill="hold"/>
                                        <p:tgtEl>
                                          <p:spTgt spid="43"/>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1"/>
                                        </p:tgtEl>
                                        <p:attrNameLst>
                                          <p:attrName>style.visibility</p:attrName>
                                        </p:attrNameLst>
                                      </p:cBhvr>
                                      <p:to>
                                        <p:strVal val="visible"/>
                                      </p:to>
                                    </p:set>
                                    <p:anim calcmode="lin" valueType="num">
                                      <p:cBhvr additive="base">
                                        <p:cTn id="41" dur="500" fill="hold"/>
                                        <p:tgtEl>
                                          <p:spTgt spid="41"/>
                                        </p:tgtEl>
                                        <p:attrNameLst>
                                          <p:attrName>ppt_x</p:attrName>
                                        </p:attrNameLst>
                                      </p:cBhvr>
                                      <p:tavLst>
                                        <p:tav tm="0">
                                          <p:val>
                                            <p:strVal val="#ppt_x"/>
                                          </p:val>
                                        </p:tav>
                                        <p:tav tm="100000">
                                          <p:val>
                                            <p:strVal val="#ppt_x"/>
                                          </p:val>
                                        </p:tav>
                                      </p:tavLst>
                                    </p:anim>
                                    <p:anim calcmode="lin" valueType="num">
                                      <p:cBhvr additive="base">
                                        <p:cTn id="42" dur="500" fill="hold"/>
                                        <p:tgtEl>
                                          <p:spTgt spid="41"/>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40"/>
                                        </p:tgtEl>
                                        <p:attrNameLst>
                                          <p:attrName>style.visibility</p:attrName>
                                        </p:attrNameLst>
                                      </p:cBhvr>
                                      <p:to>
                                        <p:strVal val="visible"/>
                                      </p:to>
                                    </p:set>
                                    <p:anim calcmode="lin" valueType="num">
                                      <p:cBhvr additive="base">
                                        <p:cTn id="45" dur="500" fill="hold"/>
                                        <p:tgtEl>
                                          <p:spTgt spid="40"/>
                                        </p:tgtEl>
                                        <p:attrNameLst>
                                          <p:attrName>ppt_x</p:attrName>
                                        </p:attrNameLst>
                                      </p:cBhvr>
                                      <p:tavLst>
                                        <p:tav tm="0">
                                          <p:val>
                                            <p:strVal val="#ppt_x"/>
                                          </p:val>
                                        </p:tav>
                                        <p:tav tm="100000">
                                          <p:val>
                                            <p:strVal val="#ppt_x"/>
                                          </p:val>
                                        </p:tav>
                                      </p:tavLst>
                                    </p:anim>
                                    <p:anim calcmode="lin" valueType="num">
                                      <p:cBhvr additive="base">
                                        <p:cTn id="46" dur="500" fill="hold"/>
                                        <p:tgtEl>
                                          <p:spTgt spid="40"/>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9"/>
                                        </p:tgtEl>
                                        <p:attrNameLst>
                                          <p:attrName>style.visibility</p:attrName>
                                        </p:attrNameLst>
                                      </p:cBhvr>
                                      <p:to>
                                        <p:strVal val="visible"/>
                                      </p:to>
                                    </p:set>
                                    <p:anim calcmode="lin" valueType="num">
                                      <p:cBhvr additive="base">
                                        <p:cTn id="49" dur="500" fill="hold"/>
                                        <p:tgtEl>
                                          <p:spTgt spid="39"/>
                                        </p:tgtEl>
                                        <p:attrNameLst>
                                          <p:attrName>ppt_x</p:attrName>
                                        </p:attrNameLst>
                                      </p:cBhvr>
                                      <p:tavLst>
                                        <p:tav tm="0">
                                          <p:val>
                                            <p:strVal val="#ppt_x"/>
                                          </p:val>
                                        </p:tav>
                                        <p:tav tm="100000">
                                          <p:val>
                                            <p:strVal val="#ppt_x"/>
                                          </p:val>
                                        </p:tav>
                                      </p:tavLst>
                                    </p:anim>
                                    <p:anim calcmode="lin" valueType="num">
                                      <p:cBhvr additive="base">
                                        <p:cTn id="50"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500" fill="hold"/>
                                        <p:tgtEl>
                                          <p:spTgt spid="13"/>
                                        </p:tgtEl>
                                        <p:attrNameLst>
                                          <p:attrName>ppt_x</p:attrName>
                                        </p:attrNameLst>
                                      </p:cBhvr>
                                      <p:tavLst>
                                        <p:tav tm="0">
                                          <p:val>
                                            <p:strVal val="#ppt_x"/>
                                          </p:val>
                                        </p:tav>
                                        <p:tav tm="100000">
                                          <p:val>
                                            <p:strVal val="#ppt_x"/>
                                          </p:val>
                                        </p:tav>
                                      </p:tavLst>
                                    </p:anim>
                                    <p:anim calcmode="lin" valueType="num">
                                      <p:cBhvr additive="base">
                                        <p:cTn id="56" dur="500" fill="hold"/>
                                        <p:tgtEl>
                                          <p:spTgt spid="13"/>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44"/>
                                        </p:tgtEl>
                                        <p:attrNameLst>
                                          <p:attrName>style.visibility</p:attrName>
                                        </p:attrNameLst>
                                      </p:cBhvr>
                                      <p:to>
                                        <p:strVal val="visible"/>
                                      </p:to>
                                    </p:set>
                                    <p:anim calcmode="lin" valueType="num">
                                      <p:cBhvr additive="base">
                                        <p:cTn id="59" dur="500" fill="hold"/>
                                        <p:tgtEl>
                                          <p:spTgt spid="44"/>
                                        </p:tgtEl>
                                        <p:attrNameLst>
                                          <p:attrName>ppt_x</p:attrName>
                                        </p:attrNameLst>
                                      </p:cBhvr>
                                      <p:tavLst>
                                        <p:tav tm="0">
                                          <p:val>
                                            <p:strVal val="#ppt_x"/>
                                          </p:val>
                                        </p:tav>
                                        <p:tav tm="100000">
                                          <p:val>
                                            <p:strVal val="#ppt_x"/>
                                          </p:val>
                                        </p:tav>
                                      </p:tavLst>
                                    </p:anim>
                                    <p:anim calcmode="lin" valueType="num">
                                      <p:cBhvr additive="base">
                                        <p:cTn id="60"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45"/>
                                        </p:tgtEl>
                                        <p:attrNameLst>
                                          <p:attrName>style.visibility</p:attrName>
                                        </p:attrNameLst>
                                      </p:cBhvr>
                                      <p:to>
                                        <p:strVal val="visible"/>
                                      </p:to>
                                    </p:set>
                                    <p:anim calcmode="lin" valueType="num">
                                      <p:cBhvr additive="base">
                                        <p:cTn id="65" dur="500" fill="hold"/>
                                        <p:tgtEl>
                                          <p:spTgt spid="45"/>
                                        </p:tgtEl>
                                        <p:attrNameLst>
                                          <p:attrName>ppt_x</p:attrName>
                                        </p:attrNameLst>
                                      </p:cBhvr>
                                      <p:tavLst>
                                        <p:tav tm="0">
                                          <p:val>
                                            <p:strVal val="#ppt_x"/>
                                          </p:val>
                                        </p:tav>
                                        <p:tav tm="100000">
                                          <p:val>
                                            <p:strVal val="#ppt_x"/>
                                          </p:val>
                                        </p:tav>
                                      </p:tavLst>
                                    </p:anim>
                                    <p:anim calcmode="lin" valueType="num">
                                      <p:cBhvr additive="base">
                                        <p:cTn id="66" dur="500" fill="hold"/>
                                        <p:tgtEl>
                                          <p:spTgt spid="45"/>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anim calcmode="lin" valueType="num">
                                      <p:cBhvr additive="base">
                                        <p:cTn id="69" dur="500" fill="hold"/>
                                        <p:tgtEl>
                                          <p:spTgt spid="33"/>
                                        </p:tgtEl>
                                        <p:attrNameLst>
                                          <p:attrName>ppt_x</p:attrName>
                                        </p:attrNameLst>
                                      </p:cBhvr>
                                      <p:tavLst>
                                        <p:tav tm="0">
                                          <p:val>
                                            <p:strVal val="#ppt_x"/>
                                          </p:val>
                                        </p:tav>
                                        <p:tav tm="100000">
                                          <p:val>
                                            <p:strVal val="#ppt_x"/>
                                          </p:val>
                                        </p:tav>
                                      </p:tavLst>
                                    </p:anim>
                                    <p:anim calcmode="lin" valueType="num">
                                      <p:cBhvr additive="base">
                                        <p:cTn id="70"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35"/>
                                        </p:tgtEl>
                                        <p:attrNameLst>
                                          <p:attrName>style.visibility</p:attrName>
                                        </p:attrNameLst>
                                      </p:cBhvr>
                                      <p:to>
                                        <p:strVal val="visible"/>
                                      </p:to>
                                    </p:set>
                                    <p:anim calcmode="lin" valueType="num">
                                      <p:cBhvr additive="base">
                                        <p:cTn id="75" dur="500" fill="hold"/>
                                        <p:tgtEl>
                                          <p:spTgt spid="35"/>
                                        </p:tgtEl>
                                        <p:attrNameLst>
                                          <p:attrName>ppt_x</p:attrName>
                                        </p:attrNameLst>
                                      </p:cBhvr>
                                      <p:tavLst>
                                        <p:tav tm="0">
                                          <p:val>
                                            <p:strVal val="#ppt_x"/>
                                          </p:val>
                                        </p:tav>
                                        <p:tav tm="100000">
                                          <p:val>
                                            <p:strVal val="#ppt_x"/>
                                          </p:val>
                                        </p:tav>
                                      </p:tavLst>
                                    </p:anim>
                                    <p:anim calcmode="lin" valueType="num">
                                      <p:cBhvr additive="base">
                                        <p:cTn id="76" dur="500" fill="hold"/>
                                        <p:tgtEl>
                                          <p:spTgt spid="35"/>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46"/>
                                        </p:tgtEl>
                                        <p:attrNameLst>
                                          <p:attrName>style.visibility</p:attrName>
                                        </p:attrNameLst>
                                      </p:cBhvr>
                                      <p:to>
                                        <p:strVal val="visible"/>
                                      </p:to>
                                    </p:set>
                                    <p:anim calcmode="lin" valueType="num">
                                      <p:cBhvr additive="base">
                                        <p:cTn id="79" dur="500" fill="hold"/>
                                        <p:tgtEl>
                                          <p:spTgt spid="46"/>
                                        </p:tgtEl>
                                        <p:attrNameLst>
                                          <p:attrName>ppt_x</p:attrName>
                                        </p:attrNameLst>
                                      </p:cBhvr>
                                      <p:tavLst>
                                        <p:tav tm="0">
                                          <p:val>
                                            <p:strVal val="#ppt_x"/>
                                          </p:val>
                                        </p:tav>
                                        <p:tav tm="100000">
                                          <p:val>
                                            <p:strVal val="#ppt_x"/>
                                          </p:val>
                                        </p:tav>
                                      </p:tavLst>
                                    </p:anim>
                                    <p:anim calcmode="lin" valueType="num">
                                      <p:cBhvr additive="base">
                                        <p:cTn id="80"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nodeType="clickEffect">
                                  <p:stCondLst>
                                    <p:cond delay="0"/>
                                  </p:stCondLst>
                                  <p:childTnLst>
                                    <p:set>
                                      <p:cBhvr>
                                        <p:cTn id="84" dur="1" fill="hold">
                                          <p:stCondLst>
                                            <p:cond delay="0"/>
                                          </p:stCondLst>
                                        </p:cTn>
                                        <p:tgtEl>
                                          <p:spTgt spid="47"/>
                                        </p:tgtEl>
                                        <p:attrNameLst>
                                          <p:attrName>style.visibility</p:attrName>
                                        </p:attrNameLst>
                                      </p:cBhvr>
                                      <p:to>
                                        <p:strVal val="visible"/>
                                      </p:to>
                                    </p:set>
                                    <p:animEffect transition="in" filter="fade">
                                      <p:cBhvr>
                                        <p:cTn id="85" dur="1000"/>
                                        <p:tgtEl>
                                          <p:spTgt spid="47"/>
                                        </p:tgtEl>
                                      </p:cBhvr>
                                    </p:animEffect>
                                    <p:anim calcmode="lin" valueType="num">
                                      <p:cBhvr>
                                        <p:cTn id="86" dur="1000" fill="hold"/>
                                        <p:tgtEl>
                                          <p:spTgt spid="47"/>
                                        </p:tgtEl>
                                        <p:attrNameLst>
                                          <p:attrName>ppt_x</p:attrName>
                                        </p:attrNameLst>
                                      </p:cBhvr>
                                      <p:tavLst>
                                        <p:tav tm="0">
                                          <p:val>
                                            <p:strVal val="#ppt_x"/>
                                          </p:val>
                                        </p:tav>
                                        <p:tav tm="100000">
                                          <p:val>
                                            <p:strVal val="#ppt_x"/>
                                          </p:val>
                                        </p:tav>
                                      </p:tavLst>
                                    </p:anim>
                                    <p:anim calcmode="lin" valueType="num">
                                      <p:cBhvr>
                                        <p:cTn id="87" dur="1000" fill="hold"/>
                                        <p:tgtEl>
                                          <p:spTgt spid="47"/>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37"/>
                                        </p:tgtEl>
                                        <p:attrNameLst>
                                          <p:attrName>style.visibility</p:attrName>
                                        </p:attrNameLst>
                                      </p:cBhvr>
                                      <p:to>
                                        <p:strVal val="visible"/>
                                      </p:to>
                                    </p:set>
                                    <p:animEffect transition="in" filter="fade">
                                      <p:cBhvr>
                                        <p:cTn id="90" dur="1000"/>
                                        <p:tgtEl>
                                          <p:spTgt spid="37"/>
                                        </p:tgtEl>
                                      </p:cBhvr>
                                    </p:animEffect>
                                    <p:anim calcmode="lin" valueType="num">
                                      <p:cBhvr>
                                        <p:cTn id="91" dur="1000" fill="hold"/>
                                        <p:tgtEl>
                                          <p:spTgt spid="37"/>
                                        </p:tgtEl>
                                        <p:attrNameLst>
                                          <p:attrName>ppt_x</p:attrName>
                                        </p:attrNameLst>
                                      </p:cBhvr>
                                      <p:tavLst>
                                        <p:tav tm="0">
                                          <p:val>
                                            <p:strVal val="#ppt_x"/>
                                          </p:val>
                                        </p:tav>
                                        <p:tav tm="100000">
                                          <p:val>
                                            <p:strVal val="#ppt_x"/>
                                          </p:val>
                                        </p:tav>
                                      </p:tavLst>
                                    </p:anim>
                                    <p:anim calcmode="lin" valueType="num">
                                      <p:cBhvr>
                                        <p:cTn id="92"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33" grpId="0" animBg="1"/>
      <p:bldP spid="35" grpId="0" animBg="1"/>
      <p:bldP spid="3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10287000" y="0"/>
            <a:ext cx="1905000" cy="1905000"/>
          </a:xfrm>
          <a:prstGeom prst="rect">
            <a:avLst/>
          </a:prstGeom>
        </p:spPr>
      </p:pic>
      <p:pic>
        <p:nvPicPr>
          <p:cNvPr id="4" name="Image 2" descr="preencoded.png"/>
          <p:cNvPicPr>
            <a:picLocks noChangeAspect="1"/>
          </p:cNvPicPr>
          <p:nvPr/>
        </p:nvPicPr>
        <p:blipFill>
          <a:blip r:embed="rId5"/>
          <a:stretch>
            <a:fillRect/>
          </a:stretch>
        </p:blipFill>
        <p:spPr>
          <a:xfrm>
            <a:off x="952500" y="5429250"/>
            <a:ext cx="1905000" cy="1905000"/>
          </a:xfrm>
          <a:prstGeom prst="rect">
            <a:avLst/>
          </a:prstGeom>
        </p:spPr>
      </p:pic>
      <p:pic>
        <p:nvPicPr>
          <p:cNvPr id="5" name="Image 3" descr="preencoded.png"/>
          <p:cNvPicPr>
            <a:picLocks noChangeAspect="1"/>
          </p:cNvPicPr>
          <p:nvPr/>
        </p:nvPicPr>
        <p:blipFill>
          <a:blip r:embed="rId6"/>
          <a:stretch>
            <a:fillRect/>
          </a:stretch>
        </p:blipFill>
        <p:spPr>
          <a:xfrm>
            <a:off x="0" y="0"/>
            <a:ext cx="12192000" cy="685800"/>
          </a:xfrm>
          <a:prstGeom prst="rect">
            <a:avLst/>
          </a:prstGeom>
        </p:spPr>
      </p:pic>
      <p:pic>
        <p:nvPicPr>
          <p:cNvPr id="6" name="Image 4" descr="preencoded.png"/>
          <p:cNvPicPr>
            <a:picLocks noChangeAspect="1"/>
          </p:cNvPicPr>
          <p:nvPr/>
        </p:nvPicPr>
        <p:blipFill>
          <a:blip r:embed="rId7"/>
          <a:stretch>
            <a:fillRect/>
          </a:stretch>
        </p:blipFill>
        <p:spPr>
          <a:xfrm>
            <a:off x="381000" y="1066800"/>
            <a:ext cx="5562600" cy="5232400"/>
          </a:xfrm>
          <a:prstGeom prst="rect">
            <a:avLst/>
          </a:prstGeom>
        </p:spPr>
      </p:pic>
      <p:pic>
        <p:nvPicPr>
          <p:cNvPr id="10" name="Image 8" descr="preencoded.png"/>
          <p:cNvPicPr>
            <a:picLocks noChangeAspect="1"/>
          </p:cNvPicPr>
          <p:nvPr/>
        </p:nvPicPr>
        <p:blipFill>
          <a:blip r:embed="rId7"/>
          <a:stretch>
            <a:fillRect/>
          </a:stretch>
        </p:blipFill>
        <p:spPr>
          <a:xfrm>
            <a:off x="6248400" y="1066800"/>
            <a:ext cx="5562600" cy="3067050"/>
          </a:xfrm>
          <a:prstGeom prst="rect">
            <a:avLst/>
          </a:prstGeom>
        </p:spPr>
      </p:pic>
      <p:pic>
        <p:nvPicPr>
          <p:cNvPr id="12" name="Image 10" descr="preencoded.png"/>
          <p:cNvPicPr>
            <a:picLocks noChangeAspect="1"/>
          </p:cNvPicPr>
          <p:nvPr/>
        </p:nvPicPr>
        <p:blipFill>
          <a:blip r:embed="rId8"/>
          <a:stretch>
            <a:fillRect/>
          </a:stretch>
        </p:blipFill>
        <p:spPr>
          <a:xfrm>
            <a:off x="6638925" y="1981200"/>
            <a:ext cx="171450" cy="266700"/>
          </a:xfrm>
          <a:prstGeom prst="rect">
            <a:avLst/>
          </a:prstGeom>
        </p:spPr>
      </p:pic>
      <p:pic>
        <p:nvPicPr>
          <p:cNvPr id="13" name="Image 11" descr="preencoded.png"/>
          <p:cNvPicPr>
            <a:picLocks noChangeAspect="1"/>
          </p:cNvPicPr>
          <p:nvPr/>
        </p:nvPicPr>
        <p:blipFill>
          <a:blip r:embed="rId9"/>
          <a:stretch>
            <a:fillRect/>
          </a:stretch>
        </p:blipFill>
        <p:spPr>
          <a:xfrm>
            <a:off x="6629400" y="2362200"/>
            <a:ext cx="190500" cy="266700"/>
          </a:xfrm>
          <a:prstGeom prst="rect">
            <a:avLst/>
          </a:prstGeom>
        </p:spPr>
      </p:pic>
      <p:pic>
        <p:nvPicPr>
          <p:cNvPr id="14" name="Image 12" descr="preencoded.png"/>
          <p:cNvPicPr>
            <a:picLocks noChangeAspect="1"/>
          </p:cNvPicPr>
          <p:nvPr/>
        </p:nvPicPr>
        <p:blipFill>
          <a:blip r:embed="rId10"/>
          <a:stretch>
            <a:fillRect/>
          </a:stretch>
        </p:blipFill>
        <p:spPr>
          <a:xfrm>
            <a:off x="6653213" y="2743200"/>
            <a:ext cx="142875" cy="266700"/>
          </a:xfrm>
          <a:prstGeom prst="rect">
            <a:avLst/>
          </a:prstGeom>
        </p:spPr>
      </p:pic>
      <p:pic>
        <p:nvPicPr>
          <p:cNvPr id="15" name="Image 13" descr="preencoded.png"/>
          <p:cNvPicPr>
            <a:picLocks noChangeAspect="1"/>
          </p:cNvPicPr>
          <p:nvPr/>
        </p:nvPicPr>
        <p:blipFill>
          <a:blip r:embed="rId11"/>
          <a:stretch>
            <a:fillRect/>
          </a:stretch>
        </p:blipFill>
        <p:spPr>
          <a:xfrm>
            <a:off x="6629400" y="3124200"/>
            <a:ext cx="190500" cy="266700"/>
          </a:xfrm>
          <a:prstGeom prst="rect">
            <a:avLst/>
          </a:prstGeom>
        </p:spPr>
      </p:pic>
      <p:pic>
        <p:nvPicPr>
          <p:cNvPr id="16" name="Image 14" descr="preencoded.png"/>
          <p:cNvPicPr>
            <a:picLocks noChangeAspect="1"/>
          </p:cNvPicPr>
          <p:nvPr/>
        </p:nvPicPr>
        <p:blipFill>
          <a:blip r:embed="rId12"/>
          <a:stretch>
            <a:fillRect/>
          </a:stretch>
        </p:blipFill>
        <p:spPr>
          <a:xfrm>
            <a:off x="6629400" y="3505200"/>
            <a:ext cx="190500" cy="266700"/>
          </a:xfrm>
          <a:prstGeom prst="rect">
            <a:avLst/>
          </a:prstGeom>
        </p:spPr>
      </p:pic>
      <p:sp>
        <p:nvSpPr>
          <p:cNvPr id="17" name="Text 0"/>
          <p:cNvSpPr/>
          <p:nvPr/>
        </p:nvSpPr>
        <p:spPr>
          <a:xfrm>
            <a:off x="381000" y="152400"/>
            <a:ext cx="11430000" cy="381000"/>
          </a:xfrm>
          <a:prstGeom prst="rect">
            <a:avLst/>
          </a:prstGeom>
          <a:noFill/>
          <a:ln/>
        </p:spPr>
        <p:txBody>
          <a:bodyPr vert="horz" wrap="square" lIns="0" tIns="0" rIns="0" bIns="0" rtlCol="0" anchor="t"/>
          <a:lstStyle/>
          <a:p>
            <a:pPr marL="0" indent="0">
              <a:lnSpc>
                <a:spcPts val="3000"/>
              </a:lnSpc>
              <a:buNone/>
            </a:pPr>
            <a:r>
              <a:rPr lang="en-US" sz="3600" b="1" dirty="0">
                <a:solidFill>
                  <a:srgbClr val="FFFFFF"/>
                </a:solidFill>
                <a:latin typeface="ui-sans-serif" pitchFamily="34" charset="0"/>
                <a:ea typeface="ui-sans-serif" pitchFamily="34" charset="-122"/>
                <a:cs typeface="ui-sans-serif" pitchFamily="34" charset="-120"/>
              </a:rPr>
              <a:t>Thank You &amp; Questions</a:t>
            </a:r>
            <a:endParaRPr lang="en-US" sz="3600" dirty="0"/>
          </a:p>
        </p:txBody>
      </p:sp>
      <p:grpSp>
        <p:nvGrpSpPr>
          <p:cNvPr id="30" name="Group 29">
            <a:extLst>
              <a:ext uri="{FF2B5EF4-FFF2-40B4-BE49-F238E27FC236}">
                <a16:creationId xmlns:a16="http://schemas.microsoft.com/office/drawing/2014/main" id="{54A67F4D-C52C-EF5A-46D0-D7C9F5EE9B54}"/>
              </a:ext>
            </a:extLst>
          </p:cNvPr>
          <p:cNvGrpSpPr/>
          <p:nvPr/>
        </p:nvGrpSpPr>
        <p:grpSpPr>
          <a:xfrm>
            <a:off x="647700" y="1371600"/>
            <a:ext cx="4991100" cy="400050"/>
            <a:chOff x="647700" y="1371600"/>
            <a:chExt cx="4991100" cy="400050"/>
          </a:xfrm>
        </p:grpSpPr>
        <p:pic>
          <p:nvPicPr>
            <p:cNvPr id="7" name="Image 5" descr="preencoded.png"/>
            <p:cNvPicPr>
              <a:picLocks noChangeAspect="1"/>
            </p:cNvPicPr>
            <p:nvPr/>
          </p:nvPicPr>
          <p:blipFill>
            <a:blip r:embed="rId13"/>
            <a:stretch>
              <a:fillRect/>
            </a:stretch>
          </p:blipFill>
          <p:spPr>
            <a:xfrm>
              <a:off x="647700" y="1390650"/>
              <a:ext cx="428625" cy="381000"/>
            </a:xfrm>
            <a:prstGeom prst="rect">
              <a:avLst/>
            </a:prstGeom>
          </p:spPr>
        </p:pic>
        <p:sp>
          <p:nvSpPr>
            <p:cNvPr id="18" name="Text 1"/>
            <p:cNvSpPr/>
            <p:nvPr/>
          </p:nvSpPr>
          <p:spPr>
            <a:xfrm>
              <a:off x="1266825" y="1371600"/>
              <a:ext cx="4371975" cy="381000"/>
            </a:xfrm>
            <a:prstGeom prst="rect">
              <a:avLst/>
            </a:prstGeom>
            <a:noFill/>
            <a:ln/>
          </p:spPr>
          <p:txBody>
            <a:bodyPr vert="horz" wrap="square" lIns="0" tIns="0" rIns="0" bIns="0" rtlCol="0" anchor="t"/>
            <a:lstStyle/>
            <a:p>
              <a:pPr marL="0" indent="0">
                <a:lnSpc>
                  <a:spcPts val="2700"/>
                </a:lnSpc>
                <a:buNone/>
              </a:pPr>
              <a:r>
                <a:rPr lang="en-US" sz="2400" b="1" dirty="0">
                  <a:solidFill>
                    <a:srgbClr val="1F2937"/>
                  </a:solidFill>
                  <a:latin typeface="ui-sans-serif" pitchFamily="34" charset="0"/>
                  <a:ea typeface="ui-sans-serif" pitchFamily="34" charset="-122"/>
                  <a:cs typeface="ui-sans-serif" pitchFamily="34" charset="-120"/>
                </a:rPr>
                <a:t>Thank You for Your Attention</a:t>
              </a:r>
              <a:endParaRPr lang="en-US" sz="2400" dirty="0"/>
            </a:p>
          </p:txBody>
        </p:sp>
      </p:grpSp>
      <p:sp>
        <p:nvSpPr>
          <p:cNvPr id="19" name="Text 2"/>
          <p:cNvSpPr/>
          <p:nvPr/>
        </p:nvSpPr>
        <p:spPr>
          <a:xfrm>
            <a:off x="685800" y="1981200"/>
            <a:ext cx="4953000" cy="1104900"/>
          </a:xfrm>
          <a:prstGeom prst="rect">
            <a:avLst/>
          </a:prstGeom>
          <a:noFill/>
          <a:ln/>
        </p:spPr>
        <p:txBody>
          <a:bodyPr vert="horz" wrap="square" lIns="0" tIns="0" rIns="0" bIns="0" rtlCol="0" anchor="t"/>
          <a:lstStyle/>
          <a:p>
            <a:pPr marL="0" indent="0">
              <a:lnSpc>
                <a:spcPts val="2100"/>
              </a:lnSpc>
              <a:buNone/>
            </a:pPr>
            <a:r>
              <a:rPr lang="en-US" sz="1600" dirty="0">
                <a:solidFill>
                  <a:srgbClr val="374151"/>
                </a:solidFill>
                <a:latin typeface="ui-sans-serif" pitchFamily="34" charset="0"/>
                <a:ea typeface="ui-sans-serif" pitchFamily="34" charset="-122"/>
                <a:cs typeface="ui-sans-serif" pitchFamily="34" charset="-120"/>
              </a:rPr>
              <a:t>We are confident in the viability and potential of this export initiative. We thank you for your time and attention.</a:t>
            </a:r>
            <a:endParaRPr lang="en-US" sz="1600" dirty="0"/>
          </a:p>
        </p:txBody>
      </p:sp>
      <p:sp>
        <p:nvSpPr>
          <p:cNvPr id="20" name="Text 3"/>
          <p:cNvSpPr/>
          <p:nvPr/>
        </p:nvSpPr>
        <p:spPr>
          <a:xfrm>
            <a:off x="647700" y="5050790"/>
            <a:ext cx="5181600" cy="3810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We are now open to any questions you may have.</a:t>
            </a:r>
            <a:endParaRPr lang="en-US" sz="1500" dirty="0"/>
          </a:p>
        </p:txBody>
      </p:sp>
      <p:grpSp>
        <p:nvGrpSpPr>
          <p:cNvPr id="29" name="Group 28">
            <a:extLst>
              <a:ext uri="{FF2B5EF4-FFF2-40B4-BE49-F238E27FC236}">
                <a16:creationId xmlns:a16="http://schemas.microsoft.com/office/drawing/2014/main" id="{354FE47C-A9A9-286E-B7C8-9C39F81F21A0}"/>
              </a:ext>
            </a:extLst>
          </p:cNvPr>
          <p:cNvGrpSpPr/>
          <p:nvPr/>
        </p:nvGrpSpPr>
        <p:grpSpPr>
          <a:xfrm>
            <a:off x="1555085" y="5670550"/>
            <a:ext cx="2935635" cy="495300"/>
            <a:chOff x="1555085" y="5670550"/>
            <a:chExt cx="2935635" cy="495300"/>
          </a:xfrm>
        </p:grpSpPr>
        <p:pic>
          <p:nvPicPr>
            <p:cNvPr id="8" name="Image 6" descr="preencoded.png"/>
            <p:cNvPicPr>
              <a:picLocks noChangeAspect="1"/>
            </p:cNvPicPr>
            <p:nvPr/>
          </p:nvPicPr>
          <p:blipFill>
            <a:blip r:embed="rId14"/>
            <a:stretch>
              <a:fillRect/>
            </a:stretch>
          </p:blipFill>
          <p:spPr>
            <a:xfrm>
              <a:off x="1555085" y="5670550"/>
              <a:ext cx="2935635" cy="495300"/>
            </a:xfrm>
            <a:prstGeom prst="rect">
              <a:avLst/>
            </a:prstGeom>
          </p:spPr>
        </p:pic>
        <p:pic>
          <p:nvPicPr>
            <p:cNvPr id="9" name="Image 7" descr="preencoded.png"/>
            <p:cNvPicPr>
              <a:picLocks noChangeAspect="1"/>
            </p:cNvPicPr>
            <p:nvPr/>
          </p:nvPicPr>
          <p:blipFill>
            <a:blip r:embed="rId15"/>
            <a:stretch>
              <a:fillRect/>
            </a:stretch>
          </p:blipFill>
          <p:spPr>
            <a:xfrm>
              <a:off x="1783685" y="5784850"/>
              <a:ext cx="190500" cy="266700"/>
            </a:xfrm>
            <a:prstGeom prst="rect">
              <a:avLst/>
            </a:prstGeom>
          </p:spPr>
        </p:pic>
        <p:sp>
          <p:nvSpPr>
            <p:cNvPr id="21" name="Text 4"/>
            <p:cNvSpPr/>
            <p:nvPr/>
          </p:nvSpPr>
          <p:spPr>
            <a:xfrm>
              <a:off x="2088485" y="5784850"/>
              <a:ext cx="2262912" cy="266700"/>
            </a:xfrm>
            <a:prstGeom prst="rect">
              <a:avLst/>
            </a:prstGeom>
            <a:noFill/>
            <a:ln/>
          </p:spPr>
          <p:txBody>
            <a:bodyPr vert="horz" wrap="square" lIns="0" tIns="0" rIns="0" bIns="0" rtlCol="0" anchor="t"/>
            <a:lstStyle/>
            <a:p>
              <a:pPr marL="0" indent="0">
                <a:lnSpc>
                  <a:spcPts val="2100"/>
                </a:lnSpc>
                <a:buNone/>
              </a:pPr>
              <a:r>
                <a:rPr lang="en-US" sz="1350" b="1" dirty="0">
                  <a:solidFill>
                    <a:srgbClr val="115E59"/>
                  </a:solidFill>
                  <a:latin typeface="ui-sans-serif" pitchFamily="34" charset="0"/>
                  <a:ea typeface="ui-sans-serif" pitchFamily="34" charset="-122"/>
                  <a:cs typeface="ui-sans-serif" pitchFamily="34" charset="-120"/>
                </a:rPr>
                <a:t>Q&amp;A Session: 15 minutes</a:t>
              </a:r>
              <a:endParaRPr lang="en-US" sz="1350" b="1" dirty="0"/>
            </a:p>
          </p:txBody>
        </p:sp>
      </p:grpSp>
      <p:grpSp>
        <p:nvGrpSpPr>
          <p:cNvPr id="31" name="Group 30">
            <a:extLst>
              <a:ext uri="{FF2B5EF4-FFF2-40B4-BE49-F238E27FC236}">
                <a16:creationId xmlns:a16="http://schemas.microsoft.com/office/drawing/2014/main" id="{7AEBF555-AB6B-B87D-96C8-3A186F03BD04}"/>
              </a:ext>
            </a:extLst>
          </p:cNvPr>
          <p:cNvGrpSpPr/>
          <p:nvPr/>
        </p:nvGrpSpPr>
        <p:grpSpPr>
          <a:xfrm>
            <a:off x="6553200" y="1371600"/>
            <a:ext cx="4431625" cy="381000"/>
            <a:chOff x="6553200" y="1371600"/>
            <a:chExt cx="4431625" cy="381000"/>
          </a:xfrm>
        </p:grpSpPr>
        <p:pic>
          <p:nvPicPr>
            <p:cNvPr id="11" name="Image 9" descr="preencoded.png"/>
            <p:cNvPicPr>
              <a:picLocks noChangeAspect="1"/>
            </p:cNvPicPr>
            <p:nvPr/>
          </p:nvPicPr>
          <p:blipFill>
            <a:blip r:embed="rId16"/>
            <a:stretch>
              <a:fillRect/>
            </a:stretch>
          </p:blipFill>
          <p:spPr>
            <a:xfrm>
              <a:off x="6553200" y="1371600"/>
              <a:ext cx="390525" cy="381000"/>
            </a:xfrm>
            <a:prstGeom prst="rect">
              <a:avLst/>
            </a:prstGeom>
          </p:spPr>
        </p:pic>
        <p:sp>
          <p:nvSpPr>
            <p:cNvPr id="22" name="Text 5"/>
            <p:cNvSpPr/>
            <p:nvPr/>
          </p:nvSpPr>
          <p:spPr>
            <a:xfrm>
              <a:off x="7096125" y="1390650"/>
              <a:ext cx="3888700" cy="342900"/>
            </a:xfrm>
            <a:prstGeom prst="rect">
              <a:avLst/>
            </a:prstGeom>
            <a:noFill/>
            <a:ln/>
          </p:spPr>
          <p:txBody>
            <a:bodyPr vert="horz" wrap="square" lIns="0" tIns="0" rIns="0" bIns="0" rtlCol="0" anchor="t"/>
            <a:lstStyle/>
            <a:p>
              <a:pPr marL="0" indent="0">
                <a:lnSpc>
                  <a:spcPts val="2700"/>
                </a:lnSpc>
                <a:buNone/>
              </a:pPr>
              <a:r>
                <a:rPr lang="en-US" sz="2400" b="1" dirty="0">
                  <a:solidFill>
                    <a:srgbClr val="1F2937"/>
                  </a:solidFill>
                  <a:latin typeface="ui-sans-serif" pitchFamily="34" charset="0"/>
                  <a:ea typeface="ui-sans-serif" pitchFamily="34" charset="-122"/>
                  <a:cs typeface="ui-sans-serif" pitchFamily="34" charset="-120"/>
                </a:rPr>
                <a:t>Contact</a:t>
              </a:r>
              <a:r>
                <a:rPr lang="en-US" sz="2250" b="1" dirty="0">
                  <a:solidFill>
                    <a:srgbClr val="1F2937"/>
                  </a:solidFill>
                  <a:latin typeface="ui-sans-serif" pitchFamily="34" charset="0"/>
                  <a:ea typeface="ui-sans-serif" pitchFamily="34" charset="-122"/>
                  <a:cs typeface="ui-sans-serif" pitchFamily="34" charset="-120"/>
                </a:rPr>
                <a:t> Information</a:t>
              </a:r>
              <a:endParaRPr lang="en-US" sz="2250" dirty="0"/>
            </a:p>
          </p:txBody>
        </p:sp>
      </p:grpSp>
      <p:sp>
        <p:nvSpPr>
          <p:cNvPr id="23" name="Text 6"/>
          <p:cNvSpPr/>
          <p:nvPr/>
        </p:nvSpPr>
        <p:spPr>
          <a:xfrm>
            <a:off x="6896100" y="1981200"/>
            <a:ext cx="4610100" cy="285750"/>
          </a:xfrm>
          <a:prstGeom prst="rect">
            <a:avLst/>
          </a:prstGeom>
          <a:noFill/>
          <a:ln/>
        </p:spPr>
        <p:txBody>
          <a:bodyPr vert="horz" wrap="square" lIns="0" tIns="0" rIns="0" bIns="0" rtlCol="0" anchor="t"/>
          <a:lstStyle/>
          <a:p>
            <a:pPr marL="0" indent="0">
              <a:lnSpc>
                <a:spcPts val="2100"/>
              </a:lnSpc>
              <a:buNone/>
            </a:pPr>
            <a:r>
              <a:rPr lang="en-US" sz="1600" dirty="0">
                <a:solidFill>
                  <a:srgbClr val="1F2937"/>
                </a:solidFill>
                <a:latin typeface="ui-sans-serif" pitchFamily="34" charset="0"/>
                <a:ea typeface="ui-sans-serif" pitchFamily="34" charset="-122"/>
                <a:cs typeface="ui-sans-serif" pitchFamily="34" charset="-120"/>
              </a:rPr>
              <a:t>[Your Name]</a:t>
            </a:r>
            <a:endParaRPr lang="en-US" sz="1600" dirty="0"/>
          </a:p>
        </p:txBody>
      </p:sp>
      <p:sp>
        <p:nvSpPr>
          <p:cNvPr id="24" name="Text 7"/>
          <p:cNvSpPr/>
          <p:nvPr/>
        </p:nvSpPr>
        <p:spPr>
          <a:xfrm>
            <a:off x="6896100" y="2362200"/>
            <a:ext cx="4610100" cy="304800"/>
          </a:xfrm>
          <a:prstGeom prst="rect">
            <a:avLst/>
          </a:prstGeom>
          <a:noFill/>
          <a:ln/>
        </p:spPr>
        <p:txBody>
          <a:bodyPr vert="horz" wrap="square" lIns="0" tIns="0" rIns="0" bIns="0" rtlCol="0" anchor="t"/>
          <a:lstStyle/>
          <a:p>
            <a:pPr marL="0" indent="0">
              <a:lnSpc>
                <a:spcPts val="2100"/>
              </a:lnSpc>
              <a:buNone/>
            </a:pPr>
            <a:r>
              <a:rPr lang="en-US" sz="1600" dirty="0">
                <a:solidFill>
                  <a:srgbClr val="1F2937"/>
                </a:solidFill>
                <a:latin typeface="ui-sans-serif" pitchFamily="34" charset="0"/>
                <a:ea typeface="ui-sans-serif" pitchFamily="34" charset="-122"/>
                <a:cs typeface="ui-sans-serif" pitchFamily="34" charset="-120"/>
              </a:rPr>
              <a:t>[Your Title]</a:t>
            </a:r>
            <a:endParaRPr lang="en-US" sz="1600" dirty="0"/>
          </a:p>
        </p:txBody>
      </p:sp>
      <p:sp>
        <p:nvSpPr>
          <p:cNvPr id="25" name="Text 8"/>
          <p:cNvSpPr/>
          <p:nvPr/>
        </p:nvSpPr>
        <p:spPr>
          <a:xfrm>
            <a:off x="6896100" y="2743200"/>
            <a:ext cx="4610100" cy="285750"/>
          </a:xfrm>
          <a:prstGeom prst="rect">
            <a:avLst/>
          </a:prstGeom>
          <a:noFill/>
          <a:ln/>
        </p:spPr>
        <p:txBody>
          <a:bodyPr vert="horz" wrap="square" lIns="0" tIns="0" rIns="0" bIns="0" rtlCol="0" anchor="t"/>
          <a:lstStyle/>
          <a:p>
            <a:pPr marL="0" indent="0">
              <a:lnSpc>
                <a:spcPts val="2100"/>
              </a:lnSpc>
              <a:buNone/>
            </a:pPr>
            <a:r>
              <a:rPr lang="en-US" sz="1600" dirty="0">
                <a:solidFill>
                  <a:srgbClr val="1F2937"/>
                </a:solidFill>
                <a:latin typeface="ui-sans-serif" pitchFamily="34" charset="0"/>
                <a:ea typeface="ui-sans-serif" pitchFamily="34" charset="-122"/>
                <a:cs typeface="ui-sans-serif" pitchFamily="34" charset="-120"/>
              </a:rPr>
              <a:t>[Your Company]</a:t>
            </a:r>
            <a:endParaRPr lang="en-US" sz="1600" dirty="0"/>
          </a:p>
        </p:txBody>
      </p:sp>
      <p:sp>
        <p:nvSpPr>
          <p:cNvPr id="26" name="Text 9"/>
          <p:cNvSpPr/>
          <p:nvPr/>
        </p:nvSpPr>
        <p:spPr>
          <a:xfrm>
            <a:off x="6896100" y="3124200"/>
            <a:ext cx="4610100" cy="304800"/>
          </a:xfrm>
          <a:prstGeom prst="rect">
            <a:avLst/>
          </a:prstGeom>
          <a:noFill/>
          <a:ln/>
        </p:spPr>
        <p:txBody>
          <a:bodyPr vert="horz" wrap="square" lIns="0" tIns="0" rIns="0" bIns="0" rtlCol="0" anchor="t"/>
          <a:lstStyle/>
          <a:p>
            <a:pPr marL="0" indent="0">
              <a:lnSpc>
                <a:spcPts val="2100"/>
              </a:lnSpc>
              <a:buNone/>
            </a:pPr>
            <a:r>
              <a:rPr lang="en-US" sz="1600" dirty="0">
                <a:solidFill>
                  <a:srgbClr val="1F2937"/>
                </a:solidFill>
                <a:latin typeface="ui-sans-serif" pitchFamily="34" charset="0"/>
                <a:ea typeface="ui-sans-serif" pitchFamily="34" charset="-122"/>
                <a:cs typeface="ui-sans-serif" pitchFamily="34" charset="-120"/>
              </a:rPr>
              <a:t>[Your Email]</a:t>
            </a:r>
            <a:endParaRPr lang="en-US" sz="1600" dirty="0"/>
          </a:p>
        </p:txBody>
      </p:sp>
      <p:sp>
        <p:nvSpPr>
          <p:cNvPr id="27" name="Text 10"/>
          <p:cNvSpPr/>
          <p:nvPr/>
        </p:nvSpPr>
        <p:spPr>
          <a:xfrm>
            <a:off x="6896100" y="3505200"/>
            <a:ext cx="4610100" cy="304800"/>
          </a:xfrm>
          <a:prstGeom prst="rect">
            <a:avLst/>
          </a:prstGeom>
          <a:noFill/>
          <a:ln/>
        </p:spPr>
        <p:txBody>
          <a:bodyPr vert="horz" wrap="square" lIns="0" tIns="0" rIns="0" bIns="0" rtlCol="0" anchor="t"/>
          <a:lstStyle/>
          <a:p>
            <a:pPr marL="0" indent="0">
              <a:lnSpc>
                <a:spcPts val="2100"/>
              </a:lnSpc>
              <a:buNone/>
            </a:pPr>
            <a:r>
              <a:rPr lang="en-US" sz="1600" dirty="0">
                <a:solidFill>
                  <a:srgbClr val="1F2937"/>
                </a:solidFill>
                <a:latin typeface="ui-sans-serif" pitchFamily="34" charset="0"/>
                <a:ea typeface="ui-sans-serif" pitchFamily="34" charset="-122"/>
                <a:cs typeface="ui-sans-serif" pitchFamily="34" charset="-120"/>
              </a:rPr>
              <a:t>[Your Phone Number]</a:t>
            </a:r>
            <a:endParaRPr lang="en-US" sz="1600" dirty="0"/>
          </a:p>
        </p:txBody>
      </p:sp>
      <p:sp>
        <p:nvSpPr>
          <p:cNvPr id="28" name="Text 11"/>
          <p:cNvSpPr/>
          <p:nvPr/>
        </p:nvSpPr>
        <p:spPr>
          <a:xfrm>
            <a:off x="11274921" y="6477000"/>
            <a:ext cx="643295"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16 / 16</a:t>
            </a:r>
            <a:endParaRPr lang="en-US" sz="1200" dirty="0"/>
          </a:p>
        </p:txBody>
      </p:sp>
      <p:pic>
        <p:nvPicPr>
          <p:cNvPr id="32" name="Picture 31" descr="A blue letters on a black background&#10;&#10;AI-generated content may be incorrect.">
            <a:extLst>
              <a:ext uri="{FF2B5EF4-FFF2-40B4-BE49-F238E27FC236}">
                <a16:creationId xmlns:a16="http://schemas.microsoft.com/office/drawing/2014/main" id="{46CCAFD8-A468-7CC9-8C28-CB39BF46539B}"/>
              </a:ext>
            </a:extLst>
          </p:cNvPr>
          <p:cNvPicPr>
            <a:picLocks noChangeAspect="1"/>
          </p:cNvPicPr>
          <p:nvPr/>
        </p:nvPicPr>
        <p:blipFill>
          <a:blip r:embed="rId17"/>
          <a:stretch>
            <a:fillRect/>
          </a:stretch>
        </p:blipFill>
        <p:spPr>
          <a:xfrm>
            <a:off x="10825377" y="233170"/>
            <a:ext cx="1052680" cy="2606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ppt_x"/>
                                          </p:val>
                                        </p:tav>
                                        <p:tav tm="100000">
                                          <p:val>
                                            <p:strVal val="#ppt_x"/>
                                          </p:val>
                                        </p:tav>
                                      </p:tavLst>
                                    </p:anim>
                                    <p:anim calcmode="lin" valueType="num">
                                      <p:cBhvr additive="base">
                                        <p:cTn id="1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ppt_x"/>
                                          </p:val>
                                        </p:tav>
                                        <p:tav tm="100000">
                                          <p:val>
                                            <p:strVal val="#ppt_x"/>
                                          </p:val>
                                        </p:tav>
                                      </p:tavLst>
                                    </p:anim>
                                    <p:anim calcmode="lin" valueType="num">
                                      <p:cBhvr additive="base">
                                        <p:cTn id="30" dur="500" fill="hold"/>
                                        <p:tgtEl>
                                          <p:spTgt spid="14"/>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fill="hold"/>
                                        <p:tgtEl>
                                          <p:spTgt spid="15"/>
                                        </p:tgtEl>
                                        <p:attrNameLst>
                                          <p:attrName>ppt_x</p:attrName>
                                        </p:attrNameLst>
                                      </p:cBhvr>
                                      <p:tavLst>
                                        <p:tav tm="0">
                                          <p:val>
                                            <p:strVal val="#ppt_x"/>
                                          </p:val>
                                        </p:tav>
                                        <p:tav tm="100000">
                                          <p:val>
                                            <p:strVal val="#ppt_x"/>
                                          </p:val>
                                        </p:tav>
                                      </p:tavLst>
                                    </p:anim>
                                    <p:anim calcmode="lin" valueType="num">
                                      <p:cBhvr additive="base">
                                        <p:cTn id="34" dur="500" fill="hold"/>
                                        <p:tgtEl>
                                          <p:spTgt spid="15"/>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 calcmode="lin" valueType="num">
                                      <p:cBhvr additive="base">
                                        <p:cTn id="41" dur="500" fill="hold"/>
                                        <p:tgtEl>
                                          <p:spTgt spid="31"/>
                                        </p:tgtEl>
                                        <p:attrNameLst>
                                          <p:attrName>ppt_x</p:attrName>
                                        </p:attrNameLst>
                                      </p:cBhvr>
                                      <p:tavLst>
                                        <p:tav tm="0">
                                          <p:val>
                                            <p:strVal val="#ppt_x"/>
                                          </p:val>
                                        </p:tav>
                                        <p:tav tm="100000">
                                          <p:val>
                                            <p:strVal val="#ppt_x"/>
                                          </p:val>
                                        </p:tav>
                                      </p:tavLst>
                                    </p:anim>
                                    <p:anim calcmode="lin" valueType="num">
                                      <p:cBhvr additive="base">
                                        <p:cTn id="42" dur="500" fill="hold"/>
                                        <p:tgtEl>
                                          <p:spTgt spid="31"/>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anim calcmode="lin" valueType="num">
                                      <p:cBhvr additive="base">
                                        <p:cTn id="45" dur="500" fill="hold"/>
                                        <p:tgtEl>
                                          <p:spTgt spid="23"/>
                                        </p:tgtEl>
                                        <p:attrNameLst>
                                          <p:attrName>ppt_x</p:attrName>
                                        </p:attrNameLst>
                                      </p:cBhvr>
                                      <p:tavLst>
                                        <p:tav tm="0">
                                          <p:val>
                                            <p:strVal val="#ppt_x"/>
                                          </p:val>
                                        </p:tav>
                                        <p:tav tm="100000">
                                          <p:val>
                                            <p:strVal val="#ppt_x"/>
                                          </p:val>
                                        </p:tav>
                                      </p:tavLst>
                                    </p:anim>
                                    <p:anim calcmode="lin" valueType="num">
                                      <p:cBhvr additive="base">
                                        <p:cTn id="46" dur="500" fill="hold"/>
                                        <p:tgtEl>
                                          <p:spTgt spid="23"/>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 calcmode="lin" valueType="num">
                                      <p:cBhvr additive="base">
                                        <p:cTn id="49" dur="500" fill="hold"/>
                                        <p:tgtEl>
                                          <p:spTgt spid="24"/>
                                        </p:tgtEl>
                                        <p:attrNameLst>
                                          <p:attrName>ppt_x</p:attrName>
                                        </p:attrNameLst>
                                      </p:cBhvr>
                                      <p:tavLst>
                                        <p:tav tm="0">
                                          <p:val>
                                            <p:strVal val="#ppt_x"/>
                                          </p:val>
                                        </p:tav>
                                        <p:tav tm="100000">
                                          <p:val>
                                            <p:strVal val="#ppt_x"/>
                                          </p:val>
                                        </p:tav>
                                      </p:tavLst>
                                    </p:anim>
                                    <p:anim calcmode="lin" valueType="num">
                                      <p:cBhvr additive="base">
                                        <p:cTn id="50" dur="500" fill="hold"/>
                                        <p:tgtEl>
                                          <p:spTgt spid="24"/>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 calcmode="lin" valueType="num">
                                      <p:cBhvr additive="base">
                                        <p:cTn id="53" dur="500" fill="hold"/>
                                        <p:tgtEl>
                                          <p:spTgt spid="25"/>
                                        </p:tgtEl>
                                        <p:attrNameLst>
                                          <p:attrName>ppt_x</p:attrName>
                                        </p:attrNameLst>
                                      </p:cBhvr>
                                      <p:tavLst>
                                        <p:tav tm="0">
                                          <p:val>
                                            <p:strVal val="#ppt_x"/>
                                          </p:val>
                                        </p:tav>
                                        <p:tav tm="100000">
                                          <p:val>
                                            <p:strVal val="#ppt_x"/>
                                          </p:val>
                                        </p:tav>
                                      </p:tavLst>
                                    </p:anim>
                                    <p:anim calcmode="lin" valueType="num">
                                      <p:cBhvr additive="base">
                                        <p:cTn id="54" dur="500" fill="hold"/>
                                        <p:tgtEl>
                                          <p:spTgt spid="25"/>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 calcmode="lin" valueType="num">
                                      <p:cBhvr additive="base">
                                        <p:cTn id="57" dur="500" fill="hold"/>
                                        <p:tgtEl>
                                          <p:spTgt spid="26"/>
                                        </p:tgtEl>
                                        <p:attrNameLst>
                                          <p:attrName>ppt_x</p:attrName>
                                        </p:attrNameLst>
                                      </p:cBhvr>
                                      <p:tavLst>
                                        <p:tav tm="0">
                                          <p:val>
                                            <p:strVal val="#ppt_x"/>
                                          </p:val>
                                        </p:tav>
                                        <p:tav tm="100000">
                                          <p:val>
                                            <p:strVal val="#ppt_x"/>
                                          </p:val>
                                        </p:tav>
                                      </p:tavLst>
                                    </p:anim>
                                    <p:anim calcmode="lin" valueType="num">
                                      <p:cBhvr additive="base">
                                        <p:cTn id="58" dur="500" fill="hold"/>
                                        <p:tgtEl>
                                          <p:spTgt spid="26"/>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anim calcmode="lin" valueType="num">
                                      <p:cBhvr additive="base">
                                        <p:cTn id="61" dur="500" fill="hold"/>
                                        <p:tgtEl>
                                          <p:spTgt spid="27"/>
                                        </p:tgtEl>
                                        <p:attrNameLst>
                                          <p:attrName>ppt_x</p:attrName>
                                        </p:attrNameLst>
                                      </p:cBhvr>
                                      <p:tavLst>
                                        <p:tav tm="0">
                                          <p:val>
                                            <p:strVal val="#ppt_x"/>
                                          </p:val>
                                        </p:tav>
                                        <p:tav tm="100000">
                                          <p:val>
                                            <p:strVal val="#ppt_x"/>
                                          </p:val>
                                        </p:tav>
                                      </p:tavLst>
                                    </p:anim>
                                    <p:anim calcmode="lin" valueType="num">
                                      <p:cBhvr additive="base">
                                        <p:cTn id="6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3" grpId="0" animBg="1"/>
      <p:bldP spid="24" grpId="0" animBg="1"/>
      <p:bldP spid="25" grpId="0" animBg="1"/>
      <p:bldP spid="26" grpId="0" animBg="1"/>
      <p:bldP spid="2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962</TotalTime>
  <Words>3541</Words>
  <Application>Microsoft Office PowerPoint</Application>
  <PresentationFormat>Widescreen</PresentationFormat>
  <Paragraphs>362</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ui-sans-serif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Themba Manzini</cp:lastModifiedBy>
  <cp:revision>10</cp:revision>
  <cp:lastPrinted>2025-12-29T07:55:12Z</cp:lastPrinted>
  <dcterms:created xsi:type="dcterms:W3CDTF">2025-12-08T16:22:10Z</dcterms:created>
  <dcterms:modified xsi:type="dcterms:W3CDTF">2025-12-29T07:58:36Z</dcterms:modified>
</cp:coreProperties>
</file>