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A5462"/>
                </a:solidFill>
                <a:latin typeface="Malgun Gothic Semilight"/>
                <a:cs typeface="Malgun Gothic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#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A5462"/>
                </a:solidFill>
                <a:latin typeface="Malgun Gothic Semilight"/>
                <a:cs typeface="Malgun Gothic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#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8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" y="1066800"/>
            <a:ext cx="5562600" cy="270662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48400" y="1066800"/>
            <a:ext cx="5562600" cy="27066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4026408"/>
            <a:ext cx="5562600" cy="25908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8400" y="4026408"/>
            <a:ext cx="5562600" cy="25908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7000" y="4306824"/>
            <a:ext cx="323088" cy="3413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A5462"/>
                </a:solidFill>
                <a:latin typeface="Malgun Gothic Semilight"/>
                <a:cs typeface="Malgun Gothic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#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A5462"/>
                </a:solidFill>
                <a:latin typeface="Malgun Gothic Semilight"/>
                <a:cs typeface="Malgun Gothic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#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A5462"/>
                </a:solidFill>
                <a:latin typeface="Malgun Gothic Semilight"/>
                <a:cs typeface="Malgun Gothic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#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00" y="-30734"/>
            <a:ext cx="6692900" cy="647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7350" y="1522973"/>
            <a:ext cx="11348720" cy="211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64900" y="6472166"/>
            <a:ext cx="516254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A5462"/>
                </a:solidFill>
                <a:latin typeface="Malgun Gothic Semilight"/>
                <a:cs typeface="Malgun Gothic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#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40.png"/><Relationship Id="rId10" Type="http://schemas.openxmlformats.org/officeDocument/2006/relationships/image" Target="../media/image42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93.png"/><Relationship Id="rId5" Type="http://schemas.openxmlformats.org/officeDocument/2006/relationships/image" Target="../media/image76.png"/><Relationship Id="rId6" Type="http://schemas.openxmlformats.org/officeDocument/2006/relationships/image" Target="../media/image94.png"/><Relationship Id="rId7" Type="http://schemas.openxmlformats.org/officeDocument/2006/relationships/image" Target="../media/image78.png"/><Relationship Id="rId8" Type="http://schemas.openxmlformats.org/officeDocument/2006/relationships/image" Target="../media/image95.png"/><Relationship Id="rId9" Type="http://schemas.openxmlformats.org/officeDocument/2006/relationships/image" Target="../media/image80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Relationship Id="rId15" Type="http://schemas.openxmlformats.org/officeDocument/2006/relationships/image" Target="../media/image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76.png"/><Relationship Id="rId11" Type="http://schemas.openxmlformats.org/officeDocument/2006/relationships/image" Target="../media/image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76.png"/><Relationship Id="rId10" Type="http://schemas.openxmlformats.org/officeDocument/2006/relationships/image" Target="../media/image112.pn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Relationship Id="rId13" Type="http://schemas.openxmlformats.org/officeDocument/2006/relationships/image" Target="../media/image115.png"/><Relationship Id="rId14" Type="http://schemas.openxmlformats.org/officeDocument/2006/relationships/image" Target="../media/image116.png"/><Relationship Id="rId15" Type="http://schemas.openxmlformats.org/officeDocument/2006/relationships/image" Target="../media/image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78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image" Target="../media/image23.png"/><Relationship Id="rId11" Type="http://schemas.openxmlformats.org/officeDocument/2006/relationships/image" Target="../media/image16.png"/><Relationship Id="rId12" Type="http://schemas.openxmlformats.org/officeDocument/2006/relationships/image" Target="../media/image122.png"/><Relationship Id="rId13" Type="http://schemas.openxmlformats.org/officeDocument/2006/relationships/image" Target="../media/image26.png"/><Relationship Id="rId14" Type="http://schemas.openxmlformats.org/officeDocument/2006/relationships/image" Target="../media/image123.png"/><Relationship Id="rId15" Type="http://schemas.openxmlformats.org/officeDocument/2006/relationships/image" Target="../media/image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40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141.png"/><Relationship Id="rId9" Type="http://schemas.openxmlformats.org/officeDocument/2006/relationships/image" Target="../media/image142.png"/><Relationship Id="rId10" Type="http://schemas.openxmlformats.org/officeDocument/2006/relationships/image" Target="../media/image143.png"/><Relationship Id="rId11" Type="http://schemas.openxmlformats.org/officeDocument/2006/relationships/image" Target="../media/image144.png"/><Relationship Id="rId12" Type="http://schemas.openxmlformats.org/officeDocument/2006/relationships/image" Target="../media/image145.png"/><Relationship Id="rId13" Type="http://schemas.openxmlformats.org/officeDocument/2006/relationships/image" Target="../media/image146.png"/><Relationship Id="rId14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380488" cy="23804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9023" y="4953000"/>
            <a:ext cx="2380488" cy="1905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781800"/>
            <a:ext cx="12192000" cy="761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6023" y="2697479"/>
            <a:ext cx="1143000" cy="1143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52400" cy="6857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39600" y="0"/>
            <a:ext cx="152400" cy="685799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30351" y="683717"/>
            <a:ext cx="1028700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0">
                <a:solidFill>
                  <a:srgbClr val="1F2937"/>
                </a:solidFill>
              </a:rPr>
              <a:t>E</a:t>
            </a:r>
            <a:r>
              <a:rPr dirty="0" sz="4800" spc="-640">
                <a:solidFill>
                  <a:srgbClr val="1F2937"/>
                </a:solidFill>
              </a:rPr>
              <a:t> </a:t>
            </a:r>
            <a:r>
              <a:rPr dirty="0" sz="4800" spc="490">
                <a:solidFill>
                  <a:srgbClr val="1F2937"/>
                </a:solidFill>
              </a:rPr>
              <a:t>x</a:t>
            </a:r>
            <a:r>
              <a:rPr dirty="0" sz="4800" spc="95">
                <a:solidFill>
                  <a:srgbClr val="1F2937"/>
                </a:solidFill>
              </a:rPr>
              <a:t>po</a:t>
            </a:r>
            <a:r>
              <a:rPr dirty="0" sz="4800" spc="190">
                <a:solidFill>
                  <a:srgbClr val="1F2937"/>
                </a:solidFill>
              </a:rPr>
              <a:t>r</a:t>
            </a:r>
            <a:r>
              <a:rPr dirty="0" sz="4800" spc="-20">
                <a:solidFill>
                  <a:srgbClr val="1F2937"/>
                </a:solidFill>
              </a:rPr>
              <a:t>t</a:t>
            </a:r>
            <a:r>
              <a:rPr dirty="0" sz="4800" spc="80">
                <a:solidFill>
                  <a:srgbClr val="1F2937"/>
                </a:solidFill>
              </a:rPr>
              <a:t> </a:t>
            </a:r>
            <a:r>
              <a:rPr dirty="0" sz="4800" spc="-235">
                <a:solidFill>
                  <a:srgbClr val="1F2937"/>
                </a:solidFill>
              </a:rPr>
              <a:t>M</a:t>
            </a:r>
            <a:r>
              <a:rPr dirty="0" sz="4800" spc="185">
                <a:solidFill>
                  <a:srgbClr val="1F2937"/>
                </a:solidFill>
              </a:rPr>
              <a:t>a</a:t>
            </a:r>
            <a:r>
              <a:rPr dirty="0" sz="4800" spc="195">
                <a:solidFill>
                  <a:srgbClr val="1F2937"/>
                </a:solidFill>
              </a:rPr>
              <a:t>r</a:t>
            </a:r>
            <a:r>
              <a:rPr dirty="0" sz="4800" spc="360">
                <a:solidFill>
                  <a:srgbClr val="1F2937"/>
                </a:solidFill>
              </a:rPr>
              <a:t>k</a:t>
            </a:r>
            <a:r>
              <a:rPr dirty="0" sz="4800" spc="125">
                <a:solidFill>
                  <a:srgbClr val="1F2937"/>
                </a:solidFill>
              </a:rPr>
              <a:t>e</a:t>
            </a:r>
            <a:r>
              <a:rPr dirty="0" sz="4800" spc="45">
                <a:solidFill>
                  <a:srgbClr val="1F2937"/>
                </a:solidFill>
              </a:rPr>
              <a:t>t</a:t>
            </a:r>
            <a:r>
              <a:rPr dirty="0" sz="4800" spc="245">
                <a:solidFill>
                  <a:srgbClr val="1F2937"/>
                </a:solidFill>
              </a:rPr>
              <a:t>i</a:t>
            </a:r>
            <a:r>
              <a:rPr dirty="0" sz="4800" spc="215">
                <a:solidFill>
                  <a:srgbClr val="1F2937"/>
                </a:solidFill>
              </a:rPr>
              <a:t>n</a:t>
            </a:r>
            <a:r>
              <a:rPr dirty="0" sz="4800" spc="-15">
                <a:solidFill>
                  <a:srgbClr val="1F2937"/>
                </a:solidFill>
              </a:rPr>
              <a:t>g</a:t>
            </a:r>
            <a:r>
              <a:rPr dirty="0" sz="4800" spc="120">
                <a:solidFill>
                  <a:srgbClr val="1F2937"/>
                </a:solidFill>
              </a:rPr>
              <a:t> </a:t>
            </a:r>
            <a:r>
              <a:rPr dirty="0" sz="4800" spc="220">
                <a:solidFill>
                  <a:srgbClr val="1F2937"/>
                </a:solidFill>
              </a:rPr>
              <a:t>Plan</a:t>
            </a:r>
            <a:r>
              <a:rPr dirty="0" sz="4800" spc="250">
                <a:solidFill>
                  <a:srgbClr val="1F2937"/>
                </a:solidFill>
              </a:rPr>
              <a:t> </a:t>
            </a:r>
            <a:r>
              <a:rPr dirty="0" sz="4800" spc="195">
                <a:solidFill>
                  <a:srgbClr val="1F2937"/>
                </a:solidFill>
              </a:rPr>
              <a:t>Pres</a:t>
            </a:r>
            <a:r>
              <a:rPr dirty="0" sz="4800" spc="-665">
                <a:solidFill>
                  <a:srgbClr val="1F2937"/>
                </a:solidFill>
              </a:rPr>
              <a:t> </a:t>
            </a:r>
            <a:r>
              <a:rPr dirty="0" sz="4800" spc="114">
                <a:solidFill>
                  <a:srgbClr val="1F2937"/>
                </a:solidFill>
              </a:rPr>
              <a:t>entation</a:t>
            </a:r>
            <a:endParaRPr sz="4800"/>
          </a:p>
        </p:txBody>
      </p:sp>
      <p:sp>
        <p:nvSpPr>
          <p:cNvPr id="10" name="object 10" descr=""/>
          <p:cNvSpPr txBox="1"/>
          <p:nvPr/>
        </p:nvSpPr>
        <p:spPr>
          <a:xfrm>
            <a:off x="1695450" y="1761185"/>
            <a:ext cx="877824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95">
                <a:solidFill>
                  <a:srgbClr val="0E766D"/>
                </a:solidFill>
                <a:latin typeface="Malgun Gothic Semilight"/>
                <a:cs typeface="Malgun Gothic Semilight"/>
              </a:rPr>
              <a:t>Global</a:t>
            </a:r>
            <a:r>
              <a:rPr dirty="0" sz="3200" spc="18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-25">
                <a:solidFill>
                  <a:srgbClr val="0E766D"/>
                </a:solidFill>
                <a:latin typeface="Malgun Gothic Semilight"/>
                <a:cs typeface="Malgun Gothic Semilight"/>
              </a:rPr>
              <a:t>E</a:t>
            </a:r>
            <a:r>
              <a:rPr dirty="0" sz="3200" spc="-409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100">
                <a:solidFill>
                  <a:srgbClr val="0E766D"/>
                </a:solidFill>
                <a:latin typeface="Malgun Gothic Semilight"/>
                <a:cs typeface="Malgun Gothic Semilight"/>
              </a:rPr>
              <a:t>xporter</a:t>
            </a:r>
            <a:r>
              <a:rPr dirty="0" sz="3200" spc="16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145">
                <a:solidFill>
                  <a:srgbClr val="0E766D"/>
                </a:solidFill>
                <a:latin typeface="Malgun Gothic Semilight"/>
                <a:cs typeface="Malgun Gothic Semilight"/>
              </a:rPr>
              <a:t>Pas</a:t>
            </a:r>
            <a:r>
              <a:rPr dirty="0" sz="3200" spc="-445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-20">
                <a:solidFill>
                  <a:srgbClr val="0E766D"/>
                </a:solidFill>
                <a:latin typeface="Malgun Gothic Semilight"/>
                <a:cs typeface="Malgun Gothic Semilight"/>
              </a:rPr>
              <a:t>s</a:t>
            </a:r>
            <a:r>
              <a:rPr dirty="0" sz="3200" spc="-44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55">
                <a:solidFill>
                  <a:srgbClr val="0E766D"/>
                </a:solidFill>
                <a:latin typeface="Malgun Gothic Semilight"/>
                <a:cs typeface="Malgun Gothic Semilight"/>
              </a:rPr>
              <a:t>port</a:t>
            </a:r>
            <a:r>
              <a:rPr dirty="0" sz="3200" spc="45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105">
                <a:solidFill>
                  <a:srgbClr val="0E766D"/>
                </a:solidFill>
                <a:latin typeface="Malgun Gothic Semilight"/>
                <a:cs typeface="Malgun Gothic Semilight"/>
              </a:rPr>
              <a:t>Programme</a:t>
            </a:r>
            <a:r>
              <a:rPr dirty="0" sz="3200" spc="14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105">
                <a:solidFill>
                  <a:srgbClr val="0E766D"/>
                </a:solidFill>
                <a:latin typeface="Malgun Gothic Semilight"/>
                <a:cs typeface="Malgun Gothic Semilight"/>
              </a:rPr>
              <a:t>(GE</a:t>
            </a:r>
            <a:r>
              <a:rPr dirty="0" sz="3200" spc="-409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3200" spc="190">
                <a:solidFill>
                  <a:srgbClr val="0E766D"/>
                </a:solidFill>
                <a:latin typeface="Malgun Gothic Semilight"/>
                <a:cs typeface="Malgun Gothic Semilight"/>
              </a:rPr>
              <a:t>PP)</a:t>
            </a:r>
            <a:endParaRPr sz="3200">
              <a:latin typeface="Malgun Gothic Semilight"/>
              <a:cs typeface="Malgun Gothic Semiligh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27421" y="4176141"/>
            <a:ext cx="212280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solidFill>
                  <a:srgbClr val="374151"/>
                </a:solidFill>
                <a:latin typeface="Malgun Gothic Semilight"/>
                <a:cs typeface="Malgun Gothic Semilight"/>
              </a:rPr>
              <a:t>Presented</a:t>
            </a:r>
            <a:r>
              <a:rPr dirty="0" sz="28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28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by:</a:t>
            </a:r>
            <a:endParaRPr sz="2800">
              <a:latin typeface="Malgun Gothic Semilight"/>
              <a:cs typeface="Malgun Gothic Semiligh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12184" y="4445584"/>
            <a:ext cx="4143375" cy="2092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2742565" algn="l"/>
              </a:tabLst>
            </a:pPr>
            <a:r>
              <a:rPr dirty="0" sz="3600" spc="135">
                <a:solidFill>
                  <a:srgbClr val="1F2937"/>
                </a:solidFill>
                <a:latin typeface="Malgun Gothic Semilight"/>
                <a:cs typeface="Malgun Gothic Semilight"/>
              </a:rPr>
              <a:t>[Pres</a:t>
            </a:r>
            <a:r>
              <a:rPr dirty="0" sz="3600" spc="-49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3600" spc="70">
                <a:solidFill>
                  <a:srgbClr val="1F2937"/>
                </a:solidFill>
                <a:latin typeface="Malgun Gothic Semilight"/>
                <a:cs typeface="Malgun Gothic Semilight"/>
              </a:rPr>
              <a:t>enter's</a:t>
            </a:r>
            <a:r>
              <a:rPr dirty="0" sz="3600">
                <a:solidFill>
                  <a:srgbClr val="1F2937"/>
                </a:solidFill>
                <a:latin typeface="Malgun Gothic Semilight"/>
                <a:cs typeface="Malgun Gothic Semilight"/>
              </a:rPr>
              <a:t>	</a:t>
            </a:r>
            <a:r>
              <a:rPr dirty="0" sz="36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Name]</a:t>
            </a:r>
            <a:endParaRPr sz="3600">
              <a:latin typeface="Malgun Gothic Semilight"/>
              <a:cs typeface="Malgun Gothic Semilight"/>
            </a:endParaRPr>
          </a:p>
          <a:p>
            <a:pPr algn="ctr" marL="14604">
              <a:lnSpc>
                <a:spcPct val="100000"/>
              </a:lnSpc>
              <a:spcBef>
                <a:spcPts val="3710"/>
              </a:spcBef>
            </a:pPr>
            <a:r>
              <a:rPr dirty="0" sz="2800">
                <a:solidFill>
                  <a:srgbClr val="4A5462"/>
                </a:solidFill>
                <a:latin typeface="Malgun Gothic Semilight"/>
                <a:cs typeface="Malgun Gothic Semilight"/>
              </a:rPr>
              <a:t>Business</a:t>
            </a:r>
            <a:r>
              <a:rPr dirty="0" sz="2800" spc="-100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2800" spc="-20">
                <a:solidFill>
                  <a:srgbClr val="4A5462"/>
                </a:solidFill>
                <a:latin typeface="Malgun Gothic Semilight"/>
                <a:cs typeface="Malgun Gothic Semilight"/>
              </a:rPr>
              <a:t>Name</a:t>
            </a:r>
            <a:endParaRPr sz="2800">
              <a:latin typeface="Malgun Gothic Semilight"/>
              <a:cs typeface="Malgun Gothic Semilight"/>
            </a:endParaRPr>
          </a:p>
          <a:p>
            <a:pPr algn="ctr" marL="23495">
              <a:lnSpc>
                <a:spcPct val="100000"/>
              </a:lnSpc>
              <a:spcBef>
                <a:spcPts val="3260"/>
              </a:spcBef>
            </a:pPr>
            <a:r>
              <a:rPr dirty="0" sz="1350" spc="-10">
                <a:solidFill>
                  <a:srgbClr val="4A5462"/>
                </a:solidFill>
                <a:latin typeface="Malgun Gothic Semilight"/>
                <a:cs typeface="Malgun Gothic Semilight"/>
              </a:rPr>
              <a:t>1</a:t>
            </a:r>
            <a:r>
              <a:rPr dirty="0" sz="1350" spc="-145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4A5462"/>
                </a:solidFill>
                <a:latin typeface="Malgun Gothic Semilight"/>
                <a:cs typeface="Malgun Gothic Semilight"/>
              </a:rPr>
              <a:t>5-Minute</a:t>
            </a:r>
            <a:r>
              <a:rPr dirty="0" sz="1350" spc="-85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4A5462"/>
                </a:solidFill>
                <a:latin typeface="Malgun Gothic Semilight"/>
                <a:cs typeface="Malgun Gothic Semilight"/>
              </a:rPr>
              <a:t>Presentation</a:t>
            </a:r>
            <a:r>
              <a:rPr dirty="0" sz="1350" spc="5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4A5462"/>
                </a:solidFill>
                <a:latin typeface="Malgun Gothic Semilight"/>
                <a:cs typeface="Malgun Gothic Semilight"/>
              </a:rPr>
              <a:t>|</a:t>
            </a:r>
            <a:r>
              <a:rPr dirty="0" sz="1350" spc="-45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4A5462"/>
                </a:solidFill>
                <a:latin typeface="Malgun Gothic Semilight"/>
                <a:cs typeface="Malgun Gothic Semilight"/>
              </a:rPr>
              <a:t>1</a:t>
            </a:r>
            <a:r>
              <a:rPr dirty="0" sz="1350" spc="-150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4A5462"/>
                </a:solidFill>
                <a:latin typeface="Malgun Gothic Semilight"/>
                <a:cs typeface="Malgun Gothic Semilight"/>
              </a:rPr>
              <a:t>5-Minute</a:t>
            </a:r>
            <a:r>
              <a:rPr dirty="0" sz="1350" spc="5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4A5462"/>
                </a:solidFill>
                <a:latin typeface="Malgun Gothic Semilight"/>
                <a:cs typeface="Malgun Gothic Semilight"/>
              </a:rPr>
              <a:t>Q&amp;A</a:t>
            </a:r>
            <a:r>
              <a:rPr dirty="0" sz="1350" spc="-60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4A5462"/>
                </a:solidFill>
                <a:latin typeface="Malgun Gothic Semilight"/>
                <a:cs typeface="Malgun Gothic Semilight"/>
              </a:rPr>
              <a:t>Session</a:t>
            </a:r>
            <a:endParaRPr sz="1350">
              <a:latin typeface="Malgun Gothic Semilight"/>
              <a:cs typeface="Malgun Gothic Semiligh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66247" y="231647"/>
            <a:ext cx="1511807" cy="3749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32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20"/>
              <a:t>The</a:t>
            </a:r>
            <a:r>
              <a:rPr dirty="0" spc="210"/>
              <a:t> </a:t>
            </a:r>
            <a:r>
              <a:rPr dirty="0"/>
              <a:t>B</a:t>
            </a:r>
            <a:r>
              <a:rPr dirty="0" spc="-570"/>
              <a:t> </a:t>
            </a:r>
            <a:r>
              <a:rPr dirty="0" spc="70"/>
              <a:t>ig</a:t>
            </a:r>
            <a:r>
              <a:rPr dirty="0" spc="185"/>
              <a:t> </a:t>
            </a:r>
            <a:r>
              <a:rPr dirty="0" spc="145"/>
              <a:t>Picture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295400"/>
            <a:ext cx="219456" cy="3444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7204" y="1226311"/>
            <a:ext cx="4886325" cy="2299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solidFill>
                  <a:srgbClr val="1F2937"/>
                </a:solidFill>
                <a:latin typeface="Malgun Gothic Semilight"/>
                <a:cs typeface="Malgun Gothic Semilight"/>
              </a:rPr>
              <a:t>Company</a:t>
            </a:r>
            <a:r>
              <a:rPr dirty="0" sz="2400" spc="-2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Overview</a:t>
            </a:r>
            <a:endParaRPr sz="24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9700"/>
              </a:lnSpc>
              <a:spcBef>
                <a:spcPts val="1220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[Company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Name]</a:t>
            </a:r>
            <a:r>
              <a:rPr dirty="0" sz="135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35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poised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35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capitalize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on</a:t>
            </a:r>
            <a:r>
              <a:rPr dirty="0" sz="135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significant</a:t>
            </a:r>
            <a:r>
              <a:rPr dirty="0" sz="135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export opportunity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[Target</a:t>
            </a:r>
            <a:r>
              <a:rPr dirty="0" sz="135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</a:t>
            </a:r>
            <a:r>
              <a:rPr dirty="0" sz="1350" spc="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with</a:t>
            </a:r>
            <a:r>
              <a:rPr dirty="0" sz="135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[Product/Service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350" spc="-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Export].</a:t>
            </a:r>
            <a:endParaRPr sz="1350">
              <a:latin typeface="Malgun Gothic Semilight"/>
              <a:cs typeface="Malgun Gothic Semilight"/>
            </a:endParaRPr>
          </a:p>
          <a:p>
            <a:pPr marL="12700" marR="212090">
              <a:lnSpc>
                <a:spcPct val="129700"/>
              </a:lnSpc>
              <a:spcBef>
                <a:spcPts val="1200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comprehensive</a:t>
            </a:r>
            <a:r>
              <a:rPr dirty="0" sz="135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plan</a:t>
            </a:r>
            <a:r>
              <a:rPr dirty="0" sz="135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outlines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clear path</a:t>
            </a:r>
            <a:r>
              <a:rPr dirty="0" sz="135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35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entry,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sustainable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growth,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profitability,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leveraging</a:t>
            </a:r>
            <a:r>
              <a:rPr dirty="0" sz="1350" spc="-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unique strengths</a:t>
            </a:r>
            <a:r>
              <a:rPr dirty="0" sz="135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35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meet the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identified</a:t>
            </a:r>
            <a:r>
              <a:rPr dirty="0" sz="135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demand.</a:t>
            </a:r>
            <a:endParaRPr sz="1350">
              <a:latin typeface="Malgun Gothic Semilight"/>
              <a:cs typeface="Malgun Gothic Semi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1295400"/>
            <a:ext cx="286511" cy="34442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465823" y="1226311"/>
            <a:ext cx="4987290" cy="2299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0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2400" spc="25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80">
                <a:solidFill>
                  <a:srgbClr val="1F2937"/>
                </a:solidFill>
                <a:latin typeface="Malgun Gothic Semilight"/>
                <a:cs typeface="Malgun Gothic Semilight"/>
              </a:rPr>
              <a:t>Entry</a:t>
            </a:r>
            <a:r>
              <a:rPr dirty="0" sz="2400" spc="25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Strategy</a:t>
            </a:r>
            <a:endParaRPr sz="2400">
              <a:latin typeface="Malgun Gothic Semilight"/>
              <a:cs typeface="Malgun Gothic Semilight"/>
            </a:endParaRPr>
          </a:p>
          <a:p>
            <a:pPr marL="12700" marR="71120">
              <a:lnSpc>
                <a:spcPct val="129700"/>
              </a:lnSpc>
              <a:spcBef>
                <a:spcPts val="1220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We</a:t>
            </a:r>
            <a:r>
              <a:rPr dirty="0" sz="1350" spc="-9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are</a:t>
            </a:r>
            <a:r>
              <a:rPr dirty="0" sz="135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positioned</a:t>
            </a:r>
            <a:r>
              <a:rPr dirty="0" sz="135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leverage</a:t>
            </a:r>
            <a:r>
              <a:rPr dirty="0" sz="135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company's</a:t>
            </a:r>
            <a:r>
              <a:rPr dirty="0" sz="135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unique strengths 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in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[specific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areas]</a:t>
            </a:r>
            <a:r>
              <a:rPr dirty="0" sz="135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address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identified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needs</a:t>
            </a:r>
            <a:r>
              <a:rPr dirty="0" sz="135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35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[Target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Country].</a:t>
            </a:r>
            <a:endParaRPr sz="135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9700"/>
              </a:lnSpc>
              <a:spcBef>
                <a:spcPts val="1200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approach</a:t>
            </a:r>
            <a:r>
              <a:rPr dirty="0" sz="135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combines</a:t>
            </a:r>
            <a:r>
              <a:rPr dirty="0" sz="1350" spc="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[key</a:t>
            </a:r>
            <a:r>
              <a:rPr dirty="0" sz="135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strategies]</a:t>
            </a:r>
            <a:r>
              <a:rPr dirty="0" sz="135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35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ensure</a:t>
            </a:r>
            <a:r>
              <a:rPr dirty="0" sz="1350" spc="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</a:t>
            </a:r>
            <a:r>
              <a:rPr dirty="0" sz="135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strong</a:t>
            </a:r>
            <a:r>
              <a:rPr dirty="0" sz="135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market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entry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while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maintaining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control</a:t>
            </a:r>
            <a:r>
              <a:rPr dirty="0" sz="135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over</a:t>
            </a:r>
            <a:r>
              <a:rPr dirty="0" sz="135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brand</a:t>
            </a:r>
            <a:r>
              <a:rPr dirty="0" sz="135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customer relationships.</a:t>
            </a:r>
            <a:endParaRPr sz="1350">
              <a:latin typeface="Malgun Gothic Semilight"/>
              <a:cs typeface="Malgun Gothic Semi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4306823"/>
            <a:ext cx="286512" cy="34137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7204" y="4237177"/>
            <a:ext cx="4627245" cy="2033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0215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solidFill>
                  <a:srgbClr val="1F2937"/>
                </a:solidFill>
                <a:latin typeface="Malgun Gothic Semilight"/>
                <a:cs typeface="Malgun Gothic Semilight"/>
              </a:rPr>
              <a:t>Growth</a:t>
            </a:r>
            <a:r>
              <a:rPr dirty="0" sz="2400" spc="3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70">
                <a:solidFill>
                  <a:srgbClr val="1F2937"/>
                </a:solidFill>
                <a:latin typeface="Malgun Gothic Semilight"/>
                <a:cs typeface="Malgun Gothic Semilight"/>
              </a:rPr>
              <a:t>Potential</a:t>
            </a:r>
            <a:endParaRPr sz="24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8899"/>
              </a:lnSpc>
              <a:spcBef>
                <a:spcPts val="1240"/>
              </a:spcBef>
            </a:pP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35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[Target</a:t>
            </a:r>
            <a:r>
              <a:rPr dirty="0" sz="135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</a:t>
            </a:r>
            <a:r>
              <a:rPr dirty="0" sz="135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shows</a:t>
            </a:r>
            <a:r>
              <a:rPr dirty="0" sz="1350" spc="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significant</a:t>
            </a:r>
            <a:r>
              <a:rPr dirty="0" sz="135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growth potential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with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[specific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data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points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from</a:t>
            </a:r>
            <a:r>
              <a:rPr dirty="0" sz="135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DOC].</a:t>
            </a:r>
            <a:endParaRPr sz="1350">
              <a:latin typeface="Malgun Gothic Semilight"/>
              <a:cs typeface="Malgun Gothic Semilight"/>
            </a:endParaRPr>
          </a:p>
          <a:p>
            <a:pPr marL="12700" marR="116839">
              <a:lnSpc>
                <a:spcPct val="129600"/>
              </a:lnSpc>
              <a:spcBef>
                <a:spcPts val="1215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scalable business</a:t>
            </a:r>
            <a:r>
              <a:rPr dirty="0" sz="1350" spc="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model</a:t>
            </a:r>
            <a:r>
              <a:rPr dirty="0" sz="135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proven</a:t>
            </a:r>
            <a:r>
              <a:rPr dirty="0" sz="1350" spc="-9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product</a:t>
            </a:r>
            <a:r>
              <a:rPr dirty="0" sz="135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success</a:t>
            </a:r>
            <a:r>
              <a:rPr dirty="0" sz="1350" spc="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in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domestic</a:t>
            </a:r>
            <a:r>
              <a:rPr dirty="0" sz="135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markets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position</a:t>
            </a:r>
            <a:r>
              <a:rPr dirty="0" sz="135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us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350" spc="-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sustainable</a:t>
            </a:r>
            <a:r>
              <a:rPr dirty="0" sz="135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growth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and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profitability.</a:t>
            </a:r>
            <a:endParaRPr sz="1350">
              <a:latin typeface="Malgun Gothic Semilight"/>
              <a:cs typeface="Malgun Gothic Semi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65823" y="4237177"/>
            <a:ext cx="4887595" cy="2185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78359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2400" spc="10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Competitive</a:t>
            </a:r>
            <a:r>
              <a:rPr dirty="0" sz="2400" spc="2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Edge</a:t>
            </a:r>
            <a:endParaRPr sz="2400">
              <a:latin typeface="Malgun Gothic Semilight"/>
              <a:cs typeface="Malgun Gothic Semilight"/>
            </a:endParaRPr>
          </a:p>
          <a:p>
            <a:pPr marL="394970" indent="-344170">
              <a:lnSpc>
                <a:spcPct val="100000"/>
              </a:lnSpc>
              <a:spcBef>
                <a:spcPts val="1710"/>
              </a:spcBef>
              <a:buChar char="•"/>
              <a:tabLst>
                <a:tab pos="394970" algn="l"/>
              </a:tabLst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Unique</a:t>
            </a:r>
            <a:r>
              <a:rPr dirty="0" sz="135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Product/Service</a:t>
            </a:r>
            <a:r>
              <a:rPr dirty="0" sz="1350" spc="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offering</a:t>
            </a:r>
            <a:endParaRPr sz="1350">
              <a:latin typeface="Malgun Gothic Semilight"/>
              <a:cs typeface="Malgun Gothic Semilight"/>
            </a:endParaRPr>
          </a:p>
          <a:p>
            <a:pPr marL="394970" indent="-344170">
              <a:lnSpc>
                <a:spcPct val="100000"/>
              </a:lnSpc>
              <a:spcBef>
                <a:spcPts val="1080"/>
              </a:spcBef>
              <a:buChar char="•"/>
              <a:tabLst>
                <a:tab pos="394970" algn="l"/>
              </a:tabLst>
            </a:pP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Strong</a:t>
            </a:r>
            <a:r>
              <a:rPr dirty="0" sz="135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Production</a:t>
            </a:r>
            <a:r>
              <a:rPr dirty="0" sz="135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Capacity</a:t>
            </a:r>
            <a:endParaRPr sz="1350">
              <a:latin typeface="Malgun Gothic Semilight"/>
              <a:cs typeface="Malgun Gothic Semilight"/>
            </a:endParaRPr>
          </a:p>
          <a:p>
            <a:pPr marL="394970" indent="-344170">
              <a:lnSpc>
                <a:spcPct val="100000"/>
              </a:lnSpc>
              <a:spcBef>
                <a:spcPts val="1080"/>
              </a:spcBef>
              <a:buChar char="•"/>
              <a:tabLst>
                <a:tab pos="394970" algn="l"/>
              </a:tabLst>
            </a:pP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Established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Domestic</a:t>
            </a:r>
            <a:r>
              <a:rPr dirty="0" sz="1350" spc="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Success</a:t>
            </a:r>
            <a:endParaRPr sz="135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9000"/>
              </a:lnSpc>
              <a:spcBef>
                <a:spcPts val="1210"/>
              </a:spcBef>
            </a:pP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These</a:t>
            </a:r>
            <a:r>
              <a:rPr dirty="0" sz="135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strengths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differentiate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us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from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competitors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35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position</a:t>
            </a:r>
            <a:r>
              <a:rPr dirty="0" sz="1350" spc="-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us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350" spc="-9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success</a:t>
            </a:r>
            <a:r>
              <a:rPr dirty="0" sz="1350" spc="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35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35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international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market.</a:t>
            </a:r>
            <a:endParaRPr sz="1350">
              <a:latin typeface="Malgun Gothic Semilight"/>
              <a:cs typeface="Malgun Gothic Semi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3719" y="176784"/>
            <a:ext cx="1051559" cy="2621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1361801" y="6662335"/>
            <a:ext cx="43116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4A5462"/>
                </a:solidFill>
                <a:latin typeface="Malgun Gothic Semilight"/>
                <a:cs typeface="Malgun Gothic Semilight"/>
              </a:rPr>
              <a:t>2</a:t>
            </a:r>
            <a:r>
              <a:rPr dirty="0" sz="1200" spc="-10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4A5462"/>
                </a:solidFill>
                <a:latin typeface="Malgun Gothic Semilight"/>
                <a:cs typeface="Malgun Gothic Semilight"/>
              </a:rPr>
              <a:t>/</a:t>
            </a:r>
            <a:r>
              <a:rPr dirty="0" sz="1200" spc="-130">
                <a:solidFill>
                  <a:srgbClr val="4A546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80">
                <a:solidFill>
                  <a:srgbClr val="4A5462"/>
                </a:solidFill>
                <a:latin typeface="Malgun Gothic Semilight"/>
                <a:cs typeface="Malgun Gothic Semilight"/>
              </a:rPr>
              <a:t>16 </a:t>
            </a:r>
            <a:endParaRPr sz="120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4307205"/>
            <a:chOff x="0" y="0"/>
            <a:chExt cx="12192000" cy="4307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411224"/>
              <a:ext cx="3605784" cy="2895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1584" y="1411224"/>
              <a:ext cx="3608832" cy="2895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05216" y="1411224"/>
              <a:ext cx="3605783" cy="28956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4535423"/>
            <a:ext cx="5562600" cy="1941576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6248400" y="4535423"/>
            <a:ext cx="5562600" cy="1941830"/>
            <a:chOff x="6248400" y="4535423"/>
            <a:chExt cx="5562600" cy="194183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8400" y="4535423"/>
              <a:ext cx="5562600" cy="19415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7376" y="4724399"/>
              <a:ext cx="262127" cy="34747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 b="1">
                <a:latin typeface="Arial"/>
                <a:cs typeface="Arial"/>
              </a:rPr>
              <a:t>Company</a:t>
            </a:r>
            <a:r>
              <a:rPr dirty="0" spc="-18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Export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Readiness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368300" y="890142"/>
            <a:ext cx="10438765" cy="5588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039"/>
              </a:lnSpc>
              <a:spcBef>
                <a:spcPts val="265"/>
              </a:spcBef>
            </a:pPr>
            <a:r>
              <a:rPr dirty="0" sz="1800">
                <a:latin typeface="Arial"/>
                <a:cs typeface="Arial"/>
              </a:rPr>
              <a:t>Our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company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1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well-positioned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export</a:t>
            </a:r>
            <a:r>
              <a:rPr dirty="0" sz="1800" spc="1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60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several</a:t>
            </a:r>
            <a:r>
              <a:rPr dirty="0" sz="1800" spc="8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key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strengths</a:t>
            </a:r>
            <a:r>
              <a:rPr dirty="0" sz="1800" spc="-204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10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differentiate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</a:t>
            </a:r>
            <a:r>
              <a:rPr dirty="0" sz="1800" spc="-1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global marketplace.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09600" y="1639823"/>
            <a:ext cx="573405" cy="570230"/>
            <a:chOff x="609600" y="1639823"/>
            <a:chExt cx="573405" cy="57023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600" y="1639823"/>
              <a:ext cx="573024" cy="5699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6384" y="1752599"/>
              <a:ext cx="219456" cy="34442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321053" y="1683765"/>
            <a:ext cx="2259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Unique</a:t>
            </a:r>
            <a:r>
              <a:rPr dirty="0" sz="2400" spc="-15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Product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97204" y="2322514"/>
            <a:ext cx="3164840" cy="5556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innovative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[eco-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friendly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packaging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solutions]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set</a:t>
            </a:r>
            <a:r>
              <a:rPr dirty="0" sz="1400" spc="-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us</a:t>
            </a:r>
            <a:r>
              <a:rPr dirty="0" sz="1400" spc="-10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apart</a:t>
            </a:r>
            <a:r>
              <a:rPr dirty="0" sz="14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from</a:t>
            </a:r>
            <a:r>
              <a:rPr dirty="0" sz="14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competitors.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7204" y="3204514"/>
            <a:ext cx="2185035" cy="8261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520"/>
              </a:spcBef>
              <a:buChar char="•"/>
              <a:tabLst>
                <a:tab pos="356870" algn="l"/>
              </a:tabLst>
            </a:pP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Patented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technology</a:t>
            </a:r>
            <a:endParaRPr sz="1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425"/>
              </a:spcBef>
              <a:buChar char="•"/>
              <a:tabLst>
                <a:tab pos="356870" algn="l"/>
              </a:tabLst>
            </a:pP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Sustainable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materials</a:t>
            </a:r>
            <a:endParaRPr sz="1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420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Superior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quality</a:t>
            </a:r>
            <a:r>
              <a:rPr dirty="0" sz="1400" spc="-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control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29911" y="1661160"/>
            <a:ext cx="341375" cy="490727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4509642" y="1669541"/>
            <a:ext cx="2947035" cy="151511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546735" marR="797560">
              <a:lnSpc>
                <a:spcPts val="2350"/>
              </a:lnSpc>
              <a:spcBef>
                <a:spcPts val="620"/>
              </a:spcBef>
            </a:pPr>
            <a:r>
              <a:rPr dirty="0" sz="2400" spc="-20" b="1">
                <a:solidFill>
                  <a:srgbClr val="1F2937"/>
                </a:solidFill>
                <a:latin typeface="Arial"/>
                <a:cs typeface="Arial"/>
              </a:rPr>
              <a:t>Production </a:t>
            </a: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Capacity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25099"/>
              </a:lnSpc>
              <a:spcBef>
                <a:spcPts val="204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Ability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scale</a:t>
            </a:r>
            <a:r>
              <a:rPr dirty="0" sz="1400" spc="-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production</a:t>
            </a:r>
            <a:r>
              <a:rPr dirty="0" sz="1400" spc="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by</a:t>
            </a:r>
            <a:r>
              <a:rPr dirty="0" sz="1400" spc="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50%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within</a:t>
            </a:r>
            <a:r>
              <a:rPr dirty="0" sz="1400" spc="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6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months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meet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international demand.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509642" y="3242276"/>
            <a:ext cx="2150745" cy="826769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525"/>
              </a:spcBef>
              <a:buChar char="•"/>
              <a:tabLst>
                <a:tab pos="356870" algn="l"/>
              </a:tabLst>
            </a:pP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Flexible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manufacturing</a:t>
            </a:r>
            <a:endParaRPr sz="1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420"/>
              </a:spcBef>
              <a:buChar char="•"/>
              <a:tabLst>
                <a:tab pos="356870" algn="l"/>
              </a:tabLst>
            </a:pP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Experienced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workforce</a:t>
            </a:r>
            <a:endParaRPr sz="1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420"/>
              </a:spcBef>
              <a:buChar char="•"/>
              <a:tabLst>
                <a:tab pos="356870" algn="l"/>
              </a:tabLst>
            </a:pP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Strategic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partnerships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8433816" y="1639823"/>
            <a:ext cx="570230" cy="570230"/>
            <a:chOff x="8433816" y="1639823"/>
            <a:chExt cx="570230" cy="570230"/>
          </a:xfrm>
        </p:grpSpPr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33816" y="1639823"/>
              <a:ext cx="569976" cy="5699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07552" y="1752599"/>
              <a:ext cx="219455" cy="344424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8422005" y="1689861"/>
            <a:ext cx="2971800" cy="145669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736600" marR="853440">
              <a:lnSpc>
                <a:spcPts val="2350"/>
              </a:lnSpc>
              <a:spcBef>
                <a:spcPts val="620"/>
              </a:spcBef>
            </a:pP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Domestic Success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Proven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track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record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dirty="0" sz="1400" spc="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10</a:t>
            </a:r>
            <a:r>
              <a:rPr dirty="0" sz="14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years</a:t>
            </a:r>
            <a:r>
              <a:rPr dirty="0" sz="1400" spc="-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-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domestic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20%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annual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growth</a:t>
            </a:r>
            <a:r>
              <a:rPr dirty="0" sz="1400" spc="10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rate.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422005" y="3204514"/>
            <a:ext cx="2324100" cy="8261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520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Strong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brand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recognition</a:t>
            </a:r>
            <a:endParaRPr sz="1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425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Customer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loyalty</a:t>
            </a:r>
            <a:endParaRPr sz="1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42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expertise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3023" y="4724400"/>
            <a:ext cx="228600" cy="304800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533400" y="4629404"/>
            <a:ext cx="5018405" cy="92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ts val="2745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F2937"/>
                </a:solidFill>
                <a:latin typeface="Arial"/>
                <a:cs typeface="Arial"/>
              </a:rPr>
              <a:t>Core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ts val="2705"/>
              </a:lnSpc>
            </a:pP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M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90">
                <a:solidFill>
                  <a:srgbClr val="374151"/>
                </a:solidFill>
                <a:latin typeface="Arial"/>
                <a:cs typeface="Arial"/>
              </a:rPr>
              <a:t>n</a:t>
            </a:r>
            <a:r>
              <a:rPr dirty="0" baseline="11574" sz="3600" spc="-2557" b="1">
                <a:solidFill>
                  <a:srgbClr val="1F2937"/>
                </a:solidFill>
                <a:latin typeface="Arial"/>
                <a:cs typeface="Arial"/>
              </a:rPr>
              <a:t>B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uf</a:t>
            </a:r>
            <a:r>
              <a:rPr dirty="0" sz="1400" spc="-385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baseline="11574" sz="3600" spc="-1679" b="1">
                <a:solidFill>
                  <a:srgbClr val="1F2937"/>
                </a:solidFill>
                <a:latin typeface="Arial"/>
                <a:cs typeface="Arial"/>
              </a:rPr>
              <a:t>u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t</a:t>
            </a:r>
            <a:r>
              <a:rPr dirty="0" baseline="11574" sz="3600" spc="-2039" b="1">
                <a:solidFill>
                  <a:srgbClr val="1F2937"/>
                </a:solidFill>
                <a:latin typeface="Arial"/>
                <a:cs typeface="Arial"/>
              </a:rPr>
              <a:t>s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u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r</a:t>
            </a:r>
            <a:r>
              <a:rPr dirty="0" sz="1400" spc="-240">
                <a:solidFill>
                  <a:srgbClr val="374151"/>
                </a:solidFill>
                <a:latin typeface="Arial"/>
                <a:cs typeface="Arial"/>
              </a:rPr>
              <a:t>i</a:t>
            </a:r>
            <a:r>
              <a:rPr dirty="0" baseline="11574" sz="3600" spc="-682" b="1">
                <a:solidFill>
                  <a:srgbClr val="1F2937"/>
                </a:solidFill>
                <a:latin typeface="Arial"/>
                <a:cs typeface="Arial"/>
              </a:rPr>
              <a:t>i</a:t>
            </a:r>
            <a:r>
              <a:rPr dirty="0" sz="1400" spc="-350">
                <a:solidFill>
                  <a:srgbClr val="374151"/>
                </a:solidFill>
                <a:latin typeface="Arial"/>
                <a:cs typeface="Arial"/>
              </a:rPr>
              <a:t>n</a:t>
            </a:r>
            <a:r>
              <a:rPr dirty="0" baseline="11574" sz="3600" spc="-1717" b="1">
                <a:solidFill>
                  <a:srgbClr val="1F2937"/>
                </a:solidFill>
                <a:latin typeface="Arial"/>
                <a:cs typeface="Arial"/>
              </a:rPr>
              <a:t>n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g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baseline="11574" sz="3600" spc="-1867" b="1">
                <a:solidFill>
                  <a:srgbClr val="1F2937"/>
                </a:solidFill>
                <a:latin typeface="Arial"/>
                <a:cs typeface="Arial"/>
              </a:rPr>
              <a:t>e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h</a:t>
            </a:r>
            <a:r>
              <a:rPr dirty="0" sz="1400" spc="-5">
                <a:solidFill>
                  <a:srgbClr val="374151"/>
                </a:solidFill>
                <a:latin typeface="Arial"/>
                <a:cs typeface="Arial"/>
              </a:rPr>
              <a:t>i</a:t>
            </a:r>
            <a:r>
              <a:rPr dirty="0" sz="1400" spc="-670">
                <a:solidFill>
                  <a:srgbClr val="374151"/>
                </a:solidFill>
                <a:latin typeface="Arial"/>
                <a:cs typeface="Arial"/>
              </a:rPr>
              <a:t>g</a:t>
            </a:r>
            <a:r>
              <a:rPr dirty="0" baseline="11574" sz="3600" spc="-1050" b="1">
                <a:solidFill>
                  <a:srgbClr val="1F2937"/>
                </a:solidFill>
                <a:latin typeface="Arial"/>
                <a:cs typeface="Arial"/>
              </a:rPr>
              <a:t>s</a:t>
            </a:r>
            <a:r>
              <a:rPr dirty="0" sz="1400" spc="-100">
                <a:solidFill>
                  <a:srgbClr val="374151"/>
                </a:solidFill>
                <a:latin typeface="Arial"/>
                <a:cs typeface="Arial"/>
              </a:rPr>
              <a:t>h</a:t>
            </a:r>
            <a:r>
              <a:rPr dirty="0" baseline="11574" sz="3600" spc="-1927" b="1">
                <a:solidFill>
                  <a:srgbClr val="1F2937"/>
                </a:solidFill>
                <a:latin typeface="Arial"/>
                <a:cs typeface="Arial"/>
              </a:rPr>
              <a:t>s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-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quality</a:t>
            </a:r>
            <a:r>
              <a:rPr dirty="0" sz="1400" spc="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artisanal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food</a:t>
            </a:r>
            <a:r>
              <a:rPr dirty="0" sz="1400" spc="1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products</a:t>
            </a:r>
            <a:r>
              <a:rPr dirty="0" sz="1400" spc="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1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focus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39"/>
              </a:lnSpc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on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sustainability.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402323" y="4629404"/>
            <a:ext cx="4699635" cy="92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ts val="2745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International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ts val="2705"/>
              </a:lnSpc>
            </a:pPr>
            <a:r>
              <a:rPr dirty="0" sz="1400" spc="-70">
                <a:solidFill>
                  <a:srgbClr val="374151"/>
                </a:solidFill>
                <a:latin typeface="Arial"/>
                <a:cs typeface="Arial"/>
              </a:rPr>
              <a:t>I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n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t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e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r</a:t>
            </a:r>
            <a:r>
              <a:rPr dirty="0" baseline="11574" sz="3600" spc="-2632" b="1">
                <a:solidFill>
                  <a:srgbClr val="1F2937"/>
                </a:solidFill>
                <a:latin typeface="Arial"/>
                <a:cs typeface="Arial"/>
              </a:rPr>
              <a:t>R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na</a:t>
            </a:r>
            <a:r>
              <a:rPr dirty="0" sz="1400" spc="-140">
                <a:solidFill>
                  <a:srgbClr val="374151"/>
                </a:solidFill>
                <a:latin typeface="Arial"/>
                <a:cs typeface="Arial"/>
              </a:rPr>
              <a:t>l</a:t>
            </a:r>
            <a:r>
              <a:rPr dirty="0" baseline="11574" sz="3600" spc="-1170" b="1">
                <a:solidFill>
                  <a:srgbClr val="1F2937"/>
                </a:solidFill>
                <a:latin typeface="Arial"/>
                <a:cs typeface="Arial"/>
              </a:rPr>
              <a:t>e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baseline="11574" sz="3600" spc="-2025" b="1">
                <a:solidFill>
                  <a:srgbClr val="1F2937"/>
                </a:solidFill>
                <a:latin typeface="Arial"/>
                <a:cs typeface="Arial"/>
              </a:rPr>
              <a:t>a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n</a:t>
            </a:r>
            <a:r>
              <a:rPr dirty="0" sz="1400" spc="-229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baseline="11574" sz="3600" spc="-1912" b="1">
                <a:solidFill>
                  <a:srgbClr val="1F2937"/>
                </a:solidFill>
                <a:latin typeface="Arial"/>
                <a:cs typeface="Arial"/>
              </a:rPr>
              <a:t>d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l</a:t>
            </a:r>
            <a:r>
              <a:rPr dirty="0" sz="1400" spc="-110">
                <a:solidFill>
                  <a:srgbClr val="374151"/>
                </a:solidFill>
                <a:latin typeface="Arial"/>
                <a:cs typeface="Arial"/>
              </a:rPr>
              <a:t>y</a:t>
            </a:r>
            <a:r>
              <a:rPr dirty="0" sz="1400" spc="-390">
                <a:solidFill>
                  <a:srgbClr val="374151"/>
                </a:solidFill>
                <a:latin typeface="Arial"/>
                <a:cs typeface="Arial"/>
              </a:rPr>
              <a:t>s</a:t>
            </a:r>
            <a:r>
              <a:rPr dirty="0" baseline="11574" sz="3600" spc="-569" b="1">
                <a:solidFill>
                  <a:srgbClr val="1F2937"/>
                </a:solidFill>
                <a:latin typeface="Arial"/>
                <a:cs typeface="Arial"/>
              </a:rPr>
              <a:t>i</a:t>
            </a:r>
            <a:r>
              <a:rPr dirty="0" sz="1400" spc="-60">
                <a:solidFill>
                  <a:srgbClr val="374151"/>
                </a:solidFill>
                <a:latin typeface="Arial"/>
                <a:cs typeface="Arial"/>
              </a:rPr>
              <a:t>i</a:t>
            </a:r>
            <a:r>
              <a:rPr dirty="0" sz="1400" spc="-620">
                <a:solidFill>
                  <a:srgbClr val="374151"/>
                </a:solidFill>
                <a:latin typeface="Arial"/>
                <a:cs typeface="Arial"/>
              </a:rPr>
              <a:t>s</a:t>
            </a:r>
            <a:r>
              <a:rPr dirty="0" baseline="11574" sz="3600" spc="-855" b="1">
                <a:solidFill>
                  <a:srgbClr val="1F2937"/>
                </a:solidFill>
                <a:latin typeface="Arial"/>
                <a:cs typeface="Arial"/>
              </a:rPr>
              <a:t>n</a:t>
            </a:r>
            <a:r>
              <a:rPr dirty="0" sz="1400" spc="-155">
                <a:solidFill>
                  <a:srgbClr val="374151"/>
                </a:solidFill>
                <a:latin typeface="Arial"/>
                <a:cs typeface="Arial"/>
              </a:rPr>
              <a:t>c</a:t>
            </a:r>
            <a:r>
              <a:rPr dirty="0" baseline="11574" sz="3600" spc="-1837" b="1">
                <a:solidFill>
                  <a:srgbClr val="1F2937"/>
                </a:solidFill>
                <a:latin typeface="Arial"/>
                <a:cs typeface="Arial"/>
              </a:rPr>
              <a:t>e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o</a:t>
            </a:r>
            <a:r>
              <a:rPr dirty="0" sz="1400" spc="-350">
                <a:solidFill>
                  <a:srgbClr val="374151"/>
                </a:solidFill>
                <a:latin typeface="Arial"/>
                <a:cs typeface="Arial"/>
              </a:rPr>
              <a:t>n</a:t>
            </a:r>
            <a:r>
              <a:rPr dirty="0" baseline="11574" sz="3600" spc="-1552" b="1">
                <a:solidFill>
                  <a:srgbClr val="1F2937"/>
                </a:solidFill>
                <a:latin typeface="Arial"/>
                <a:cs typeface="Arial"/>
              </a:rPr>
              <a:t>s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fi</a:t>
            </a:r>
            <a:r>
              <a:rPr dirty="0" sz="1400" spc="-160">
                <a:solidFill>
                  <a:srgbClr val="374151"/>
                </a:solidFill>
                <a:latin typeface="Arial"/>
                <a:cs typeface="Arial"/>
              </a:rPr>
              <a:t>r</a:t>
            </a:r>
            <a:r>
              <a:rPr dirty="0" baseline="11574" sz="3600" spc="-1837" b="1">
                <a:solidFill>
                  <a:srgbClr val="1F2937"/>
                </a:solidFill>
                <a:latin typeface="Arial"/>
                <a:cs typeface="Arial"/>
              </a:rPr>
              <a:t>s</a:t>
            </a:r>
            <a:r>
              <a:rPr dirty="0" sz="1400" spc="25">
                <a:solidFill>
                  <a:srgbClr val="374151"/>
                </a:solidFill>
                <a:latin typeface="Arial"/>
                <a:cs typeface="Arial"/>
              </a:rPr>
              <a:t>m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we</a:t>
            </a:r>
            <a:r>
              <a:rPr dirty="0" sz="1400" spc="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have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400" spc="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necessary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resources,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39"/>
              </a:lnSpc>
            </a:pP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expertise,</a:t>
            </a:r>
            <a:r>
              <a:rPr dirty="0" sz="1400" spc="-1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4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400" spc="1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offering</a:t>
            </a:r>
            <a:r>
              <a:rPr dirty="0" sz="1400" spc="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400" spc="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international</a:t>
            </a:r>
            <a:r>
              <a:rPr dirty="0" sz="1400" spc="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markets.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4057015"/>
            <a:chOff x="0" y="0"/>
            <a:chExt cx="12192000" cy="4057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600200"/>
              <a:ext cx="3657600" cy="24566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200" y="1600200"/>
              <a:ext cx="3657600" cy="24566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3400" y="1600200"/>
              <a:ext cx="3657600" cy="2456688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381000" y="4191000"/>
            <a:ext cx="11430000" cy="2133600"/>
            <a:chOff x="381000" y="4191000"/>
            <a:chExt cx="11430000" cy="21336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" y="4191000"/>
              <a:ext cx="11430000" cy="2133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600" y="4419600"/>
              <a:ext cx="286512" cy="34442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8300" y="-253"/>
            <a:ext cx="38449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 b="1">
                <a:latin typeface="Arial"/>
                <a:cs typeface="Arial"/>
              </a:rPr>
              <a:t>Why</a:t>
            </a:r>
            <a:r>
              <a:rPr dirty="0" spc="-18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Export</a:t>
            </a:r>
            <a:r>
              <a:rPr dirty="0" spc="-95" b="1">
                <a:latin typeface="Arial"/>
                <a:cs typeface="Arial"/>
              </a:rPr>
              <a:t> </a:t>
            </a:r>
            <a:r>
              <a:rPr dirty="0" spc="-60" b="1">
                <a:latin typeface="Arial"/>
                <a:cs typeface="Arial"/>
              </a:rPr>
              <a:t>Now?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368300" y="859663"/>
            <a:ext cx="10873740" cy="5588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039"/>
              </a:lnSpc>
              <a:spcBef>
                <a:spcPts val="265"/>
              </a:spcBef>
            </a:pP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8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internal</a:t>
            </a:r>
            <a:r>
              <a:rPr dirty="0" sz="18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374151"/>
                </a:solidFill>
                <a:latin typeface="Arial"/>
                <a:cs typeface="Arial"/>
              </a:rPr>
              <a:t>analysis</a:t>
            </a:r>
            <a:r>
              <a:rPr dirty="0" sz="1800" spc="-1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confirms</a:t>
            </a:r>
            <a:r>
              <a:rPr dirty="0" sz="1800" spc="-1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we</a:t>
            </a:r>
            <a:r>
              <a:rPr dirty="0" sz="18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have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800" spc="-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374151"/>
                </a:solidFill>
                <a:latin typeface="Arial"/>
                <a:cs typeface="Arial"/>
              </a:rPr>
              <a:t>necessary</a:t>
            </a:r>
            <a:r>
              <a:rPr dirty="0" sz="18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374151"/>
                </a:solidFill>
                <a:latin typeface="Arial"/>
                <a:cs typeface="Arial"/>
              </a:rPr>
              <a:t>resources,</a:t>
            </a:r>
            <a:r>
              <a:rPr dirty="0" sz="1800" spc="-30">
                <a:solidFill>
                  <a:srgbClr val="374151"/>
                </a:solidFill>
                <a:latin typeface="Arial"/>
                <a:cs typeface="Arial"/>
              </a:rPr>
              <a:t> expertise,</a:t>
            </a:r>
            <a:r>
              <a:rPr dirty="0" sz="1800" spc="-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800" spc="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8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robust</a:t>
            </a:r>
            <a:r>
              <a:rPr dirty="0" sz="18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800" spc="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offering</a:t>
            </a:r>
            <a:r>
              <a:rPr dirty="0" sz="18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374151"/>
                </a:solidFill>
                <a:latin typeface="Arial"/>
                <a:cs typeface="Arial"/>
              </a:rPr>
              <a:t>that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aligns</a:t>
            </a:r>
            <a:r>
              <a:rPr dirty="0" sz="1800" spc="-204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identified</a:t>
            </a:r>
            <a:r>
              <a:rPr dirty="0" sz="18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international</a:t>
            </a:r>
            <a:r>
              <a:rPr dirty="0" sz="18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800" spc="114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needs.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9600" y="1685544"/>
            <a:ext cx="485140" cy="570230"/>
            <a:chOff x="609600" y="1685544"/>
            <a:chExt cx="485140" cy="57023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00" y="1685544"/>
              <a:ext cx="484631" cy="5699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2376" y="1819656"/>
              <a:ext cx="259079" cy="304800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233322" y="1584452"/>
            <a:ext cx="2360930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15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Unique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615"/>
              </a:lnSpc>
            </a:pPr>
            <a:r>
              <a:rPr dirty="0" sz="2400" spc="-25" b="1">
                <a:solidFill>
                  <a:srgbClr val="1F2937"/>
                </a:solidFill>
                <a:latin typeface="Arial"/>
                <a:cs typeface="Arial"/>
              </a:rPr>
              <a:t>Product/</a:t>
            </a:r>
            <a:r>
              <a:rPr dirty="0" sz="2400" spc="-32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Service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7204" y="2556561"/>
            <a:ext cx="3112135" cy="711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innovative,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eco-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friendly</a:t>
            </a:r>
            <a:r>
              <a:rPr dirty="0" sz="1400" spc="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packaging solutions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fill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gap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the [Target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Market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Country]</a:t>
            </a:r>
            <a:r>
              <a:rPr dirty="0" sz="1400" spc="1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market.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78096" y="1776983"/>
            <a:ext cx="326136" cy="38709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4484370" y="1584452"/>
            <a:ext cx="3211195" cy="145542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587375" marR="1021080">
              <a:lnSpc>
                <a:spcPct val="82500"/>
              </a:lnSpc>
              <a:spcBef>
                <a:spcPts val="605"/>
              </a:spcBef>
            </a:pP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Strong </a:t>
            </a:r>
            <a:r>
              <a:rPr dirty="0" sz="2400" spc="-20" b="1">
                <a:solidFill>
                  <a:srgbClr val="1F2937"/>
                </a:solidFill>
                <a:latin typeface="Arial"/>
                <a:cs typeface="Arial"/>
              </a:rPr>
              <a:t>Production </a:t>
            </a: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Capacity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Ability</a:t>
            </a:r>
            <a:r>
              <a:rPr dirty="0" sz="1400" spc="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scale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production</a:t>
            </a:r>
            <a:r>
              <a:rPr dirty="0" sz="1400" spc="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by</a:t>
            </a:r>
            <a:r>
              <a:rPr dirty="0" sz="1400" spc="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50%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within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6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months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10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meet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international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demand.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382000" y="1694688"/>
            <a:ext cx="390525" cy="573405"/>
            <a:chOff x="8382000" y="1694688"/>
            <a:chExt cx="390525" cy="57340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82000" y="1694688"/>
              <a:ext cx="390144" cy="5730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91728" y="1828800"/>
              <a:ext cx="170688" cy="304800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8371458" y="1584452"/>
            <a:ext cx="3139440" cy="168402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556260" marR="877569">
              <a:lnSpc>
                <a:spcPct val="82500"/>
              </a:lnSpc>
              <a:spcBef>
                <a:spcPts val="605"/>
              </a:spcBef>
            </a:pPr>
            <a:r>
              <a:rPr dirty="0" sz="2400" spc="-20" b="1">
                <a:solidFill>
                  <a:srgbClr val="1F2937"/>
                </a:solidFill>
                <a:latin typeface="Arial"/>
                <a:cs typeface="Arial"/>
              </a:rPr>
              <a:t>Established </a:t>
            </a: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Domestic Success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7200"/>
              </a:lnSpc>
              <a:spcBef>
                <a:spcPts val="2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proven</a:t>
            </a:r>
            <a:r>
              <a:rPr dirty="0" sz="1400" spc="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track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record</a:t>
            </a:r>
            <a:r>
              <a:rPr dirty="0" sz="14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10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years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domestic</a:t>
            </a:r>
            <a:r>
              <a:rPr dirty="0" sz="14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20%</a:t>
            </a:r>
            <a:r>
              <a:rPr dirty="0" sz="1400" spc="-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annual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growth</a:t>
            </a:r>
            <a:r>
              <a:rPr dirty="0" sz="1400" spc="10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rate.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7204" y="4352035"/>
            <a:ext cx="10951210" cy="974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0215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F2937"/>
                </a:solidFill>
                <a:latin typeface="Arial"/>
                <a:cs typeface="Arial"/>
              </a:rPr>
              <a:t>Ready</a:t>
            </a:r>
            <a:r>
              <a:rPr dirty="0" sz="2400" spc="-17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937"/>
                </a:solidFill>
                <a:latin typeface="Arial"/>
                <a:cs typeface="Arial"/>
              </a:rPr>
              <a:t>to</a:t>
            </a:r>
            <a:r>
              <a:rPr dirty="0" sz="2400" spc="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937"/>
                </a:solidFill>
                <a:latin typeface="Arial"/>
                <a:cs typeface="Arial"/>
              </a:rPr>
              <a:t>Go</a:t>
            </a: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 International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7100"/>
              </a:lnSpc>
              <a:spcBef>
                <a:spcPts val="994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114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core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business</a:t>
            </a:r>
            <a:r>
              <a:rPr dirty="0" sz="1400" spc="-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established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 internal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analysis</a:t>
            </a:r>
            <a:r>
              <a:rPr dirty="0" sz="1400" spc="-1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confirming</a:t>
            </a:r>
            <a:r>
              <a:rPr dirty="0" sz="1400" spc="114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readiness,</a:t>
            </a:r>
            <a:r>
              <a:rPr dirty="0" sz="1400" spc="-1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we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are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prepared</a:t>
            </a:r>
            <a:r>
              <a:rPr dirty="0" sz="14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1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capitalize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on</a:t>
            </a:r>
            <a:r>
              <a:rPr dirty="0" sz="1400" spc="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export</a:t>
            </a:r>
            <a:r>
              <a:rPr dirty="0" sz="1400" spc="114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opportunity</a:t>
            </a:r>
            <a:r>
              <a:rPr dirty="0" sz="14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in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[Target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Country]</a:t>
            </a:r>
            <a:r>
              <a:rPr dirty="0" sz="1400" spc="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at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this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time.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2895600"/>
            <a:chOff x="0" y="0"/>
            <a:chExt cx="12192000" cy="2895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066800"/>
              <a:ext cx="5562600" cy="1828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400" y="1066800"/>
              <a:ext cx="5562600" cy="1828800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381000" y="3200400"/>
            <a:ext cx="11430000" cy="3124200"/>
            <a:chOff x="381000" y="3200400"/>
            <a:chExt cx="11430000" cy="31242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" y="3200400"/>
              <a:ext cx="11430000" cy="3124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600" y="4002023"/>
              <a:ext cx="3505200" cy="1600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43400" y="4002023"/>
              <a:ext cx="3505200" cy="1600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77200" y="4002023"/>
              <a:ext cx="3505200" cy="1600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00" y="3316223"/>
              <a:ext cx="323088" cy="3444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Target</a:t>
            </a:r>
            <a:r>
              <a:rPr dirty="0" spc="165"/>
              <a:t> </a:t>
            </a:r>
            <a:r>
              <a:rPr dirty="0" spc="75"/>
              <a:t>Market </a:t>
            </a:r>
            <a:r>
              <a:rPr dirty="0" spc="-25"/>
              <a:t>S</a:t>
            </a:r>
            <a:r>
              <a:rPr dirty="0" spc="-490"/>
              <a:t> </a:t>
            </a:r>
            <a:r>
              <a:rPr dirty="0" spc="100"/>
              <a:t>election</a:t>
            </a: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0" y="1234439"/>
            <a:ext cx="219456" cy="34442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597204" y="1165352"/>
            <a:ext cx="4891405" cy="1483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Target</a:t>
            </a:r>
            <a:r>
              <a:rPr dirty="0" sz="2400" spc="21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50">
                <a:solidFill>
                  <a:srgbClr val="1F2937"/>
                </a:solidFill>
                <a:latin typeface="Malgun Gothic Semilight"/>
                <a:cs typeface="Malgun Gothic Semilight"/>
              </a:rPr>
              <a:t>Country</a:t>
            </a:r>
            <a:endParaRPr sz="2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5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primary</a:t>
            </a:r>
            <a:r>
              <a:rPr dirty="0" sz="15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target</a:t>
            </a:r>
            <a:r>
              <a:rPr dirty="0" sz="150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50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500" spc="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45">
                <a:solidFill>
                  <a:srgbClr val="374151"/>
                </a:solidFill>
                <a:latin typeface="Malgun Gothic Semilight"/>
                <a:cs typeface="Malgun Gothic Semilight"/>
              </a:rPr>
              <a:t>[Chosen</a:t>
            </a:r>
            <a:r>
              <a:rPr dirty="0" sz="1500" spc="1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Country].</a:t>
            </a:r>
            <a:endParaRPr sz="15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4300"/>
              </a:lnSpc>
              <a:spcBef>
                <a:spcPts val="595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This</a:t>
            </a:r>
            <a:r>
              <a:rPr dirty="0" sz="14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selection</a:t>
            </a:r>
            <a:r>
              <a:rPr dirty="0" sz="1400" spc="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based</a:t>
            </a:r>
            <a:r>
              <a:rPr dirty="0" sz="140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on</a:t>
            </a:r>
            <a:r>
              <a:rPr dirty="0" sz="1400" spc="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comprehensive</a:t>
            </a:r>
            <a:r>
              <a:rPr dirty="0" sz="1400" spc="-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40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research</a:t>
            </a:r>
            <a:r>
              <a:rPr dirty="0" sz="140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and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analysis</a:t>
            </a:r>
            <a:r>
              <a:rPr dirty="0" sz="1400" spc="-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of export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opportunities.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77000" y="1234439"/>
            <a:ext cx="362711" cy="34442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6465823" y="1165352"/>
            <a:ext cx="4810760" cy="1483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0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Cus</a:t>
            </a:r>
            <a:r>
              <a:rPr dirty="0" sz="2400" spc="-25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tomer</a:t>
            </a:r>
            <a:r>
              <a:rPr dirty="0" sz="2400" spc="30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60">
                <a:solidFill>
                  <a:srgbClr val="1F2937"/>
                </a:solidFill>
                <a:latin typeface="Malgun Gothic Semilight"/>
                <a:cs typeface="Malgun Gothic Semilight"/>
              </a:rPr>
              <a:t>Segment</a:t>
            </a:r>
            <a:endParaRPr sz="2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We</a:t>
            </a:r>
            <a:r>
              <a:rPr dirty="0" sz="150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will</a:t>
            </a:r>
            <a:r>
              <a:rPr dirty="0" sz="1500" spc="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focus</a:t>
            </a:r>
            <a:r>
              <a:rPr dirty="0" sz="1500" spc="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on</a:t>
            </a:r>
            <a:r>
              <a:rPr dirty="0" sz="1500" spc="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[S</a:t>
            </a:r>
            <a:r>
              <a:rPr dirty="0" sz="1500" spc="-1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60">
                <a:solidFill>
                  <a:srgbClr val="374151"/>
                </a:solidFill>
                <a:latin typeface="Malgun Gothic Semilight"/>
                <a:cs typeface="Malgun Gothic Semilight"/>
              </a:rPr>
              <a:t>pecific</a:t>
            </a:r>
            <a:r>
              <a:rPr dirty="0" sz="1500" spc="1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Customer</a:t>
            </a:r>
            <a:r>
              <a:rPr dirty="0" sz="1500" spc="1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S</a:t>
            </a:r>
            <a:r>
              <a:rPr dirty="0" sz="1500" spc="-1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egment].</a:t>
            </a:r>
            <a:endParaRPr sz="15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4300"/>
              </a:lnSpc>
              <a:spcBef>
                <a:spcPts val="595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This</a:t>
            </a:r>
            <a:r>
              <a:rPr dirty="0" sz="1400" spc="-10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segment</a:t>
            </a:r>
            <a:r>
              <a:rPr dirty="0" sz="1400" spc="-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shows</a:t>
            </a:r>
            <a:r>
              <a:rPr dirty="0" sz="140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40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highest</a:t>
            </a:r>
            <a:r>
              <a:rPr dirty="0" sz="1400" spc="-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potential</a:t>
            </a:r>
            <a:r>
              <a:rPr dirty="0" sz="140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for our product</a:t>
            </a:r>
            <a:r>
              <a:rPr dirty="0" sz="1400" spc="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and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aligns</a:t>
            </a:r>
            <a:r>
              <a:rPr dirty="0" sz="14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with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4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core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business</a:t>
            </a:r>
            <a:r>
              <a:rPr dirty="0" sz="140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focus.</a:t>
            </a:r>
            <a:endParaRPr sz="1400">
              <a:latin typeface="Malgun Gothic Semilight"/>
              <a:cs typeface="Malgun Gothic Semiligh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73302" y="3248609"/>
            <a:ext cx="43116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2400" spc="22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-20">
                <a:solidFill>
                  <a:srgbClr val="1F2937"/>
                </a:solidFill>
                <a:latin typeface="Malgun Gothic Semilight"/>
                <a:cs typeface="Malgun Gothic Semilight"/>
              </a:rPr>
              <a:t>R</a:t>
            </a:r>
            <a:r>
              <a:rPr dirty="0" sz="2400" spc="-31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es</a:t>
            </a:r>
            <a:r>
              <a:rPr dirty="0" sz="2400" spc="-28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95">
                <a:solidFill>
                  <a:srgbClr val="1F2937"/>
                </a:solidFill>
                <a:latin typeface="Malgun Gothic Semilight"/>
                <a:cs typeface="Malgun Gothic Semilight"/>
              </a:rPr>
              <a:t>earch</a:t>
            </a:r>
            <a:r>
              <a:rPr dirty="0" sz="2400" spc="20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J</a:t>
            </a:r>
            <a:r>
              <a:rPr dirty="0" sz="2400" spc="-229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us</a:t>
            </a:r>
            <a:r>
              <a:rPr dirty="0" sz="2400" spc="-27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70">
                <a:solidFill>
                  <a:srgbClr val="1F2937"/>
                </a:solidFill>
                <a:latin typeface="Malgun Gothic Semilight"/>
                <a:cs typeface="Malgun Gothic Semilight"/>
              </a:rPr>
              <a:t>tification</a:t>
            </a:r>
            <a:endParaRPr sz="2400">
              <a:latin typeface="Malgun Gothic Semilight"/>
              <a:cs typeface="Malgun Gothic Semiligh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2000" y="3776471"/>
            <a:ext cx="228600" cy="30480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759053" y="3763467"/>
            <a:ext cx="3209925" cy="113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607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2937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800" spc="14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1F2937"/>
                </a:solidFill>
                <a:latin typeface="Malgun Gothic Semilight"/>
                <a:cs typeface="Malgun Gothic Semilight"/>
              </a:rPr>
              <a:t>S</a:t>
            </a:r>
            <a:r>
              <a:rPr dirty="0" sz="1800" spc="-17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 spc="-25">
                <a:solidFill>
                  <a:srgbClr val="1F2937"/>
                </a:solidFill>
                <a:latin typeface="Malgun Gothic Semilight"/>
                <a:cs typeface="Malgun Gothic Semilight"/>
              </a:rPr>
              <a:t>ize</a:t>
            </a:r>
            <a:endParaRPr sz="18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07200"/>
              </a:lnSpc>
              <a:spcBef>
                <a:spcPts val="1155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400" spc="-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400" spc="-10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[product</a:t>
            </a:r>
            <a:r>
              <a:rPr dirty="0" sz="1400" spc="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type]</a:t>
            </a:r>
            <a:r>
              <a:rPr dirty="0" sz="14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40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[Chosen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</a:t>
            </a:r>
            <a:r>
              <a:rPr dirty="0" sz="1400" spc="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4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projected</a:t>
            </a:r>
            <a:r>
              <a:rPr dirty="0" sz="1400" spc="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400" spc="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reach</a:t>
            </a:r>
            <a:r>
              <a:rPr dirty="0" sz="14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[$500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million]</a:t>
            </a:r>
            <a:r>
              <a:rPr dirty="0" sz="14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by</a:t>
            </a:r>
            <a:r>
              <a:rPr dirty="0" sz="14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[year].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95800" y="3776471"/>
            <a:ext cx="256032" cy="304800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4484370" y="3763467"/>
            <a:ext cx="2827020" cy="1342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solidFill>
                  <a:srgbClr val="1F2937"/>
                </a:solidFill>
                <a:latin typeface="Malgun Gothic Semilight"/>
                <a:cs typeface="Malgun Gothic Semilight"/>
              </a:rPr>
              <a:t>Consumer</a:t>
            </a:r>
            <a:r>
              <a:rPr dirty="0" sz="1800" spc="19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 spc="-20">
                <a:solidFill>
                  <a:srgbClr val="1F2937"/>
                </a:solidFill>
                <a:latin typeface="Malgun Gothic Semilight"/>
                <a:cs typeface="Malgun Gothic Semilight"/>
              </a:rPr>
              <a:t>Need</a:t>
            </a:r>
            <a:endParaRPr sz="18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07200"/>
              </a:lnSpc>
              <a:spcBef>
                <a:spcPts val="1005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Strong</a:t>
            </a:r>
            <a:r>
              <a:rPr dirty="0" sz="140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demand</a:t>
            </a:r>
            <a:r>
              <a:rPr dirty="0" sz="140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40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[specific </a:t>
            </a:r>
            <a:r>
              <a:rPr dirty="0" sz="14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need/preference]</a:t>
            </a:r>
            <a:r>
              <a:rPr dirty="0" sz="1400" spc="-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among</a:t>
            </a:r>
            <a:r>
              <a:rPr dirty="0" sz="14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400" spc="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target segment,</a:t>
            </a:r>
            <a:r>
              <a:rPr dirty="0" sz="140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which</a:t>
            </a:r>
            <a:r>
              <a:rPr dirty="0" sz="140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40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product</a:t>
            </a:r>
            <a:r>
              <a:rPr dirty="0" sz="1400" spc="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directly addresses.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29600" y="3776471"/>
            <a:ext cx="286511" cy="304800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8219058" y="3763467"/>
            <a:ext cx="3127375" cy="1125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solidFill>
                  <a:srgbClr val="1F2937"/>
                </a:solidFill>
                <a:latin typeface="Malgun Gothic Semilight"/>
                <a:cs typeface="Malgun Gothic Semilight"/>
              </a:rPr>
              <a:t>Logistics</a:t>
            </a:r>
            <a:endParaRPr sz="1800">
              <a:latin typeface="Malgun Gothic Semilight"/>
              <a:cs typeface="Malgun Gothic Semilight"/>
            </a:endParaRPr>
          </a:p>
          <a:p>
            <a:pPr algn="just" marL="12700" marR="5080">
              <a:lnSpc>
                <a:spcPct val="107200"/>
              </a:lnSpc>
              <a:spcBef>
                <a:spcPts val="1095"/>
              </a:spcBef>
            </a:pPr>
            <a:r>
              <a:rPr dirty="0" sz="14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Well-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developed</a:t>
            </a:r>
            <a:r>
              <a:rPr dirty="0" sz="140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port and</a:t>
            </a:r>
            <a:r>
              <a:rPr dirty="0" sz="14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road</a:t>
            </a:r>
            <a:r>
              <a:rPr dirty="0" sz="140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network,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facilitating</a:t>
            </a:r>
            <a:r>
              <a:rPr dirty="0" sz="140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efficient</a:t>
            </a:r>
            <a:r>
              <a:rPr dirty="0" sz="1400" spc="-9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distribution to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target markets.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477000"/>
            <a:chOff x="0" y="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990600"/>
              <a:ext cx="5678424" cy="5486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00" y="4428744"/>
              <a:ext cx="5221224" cy="1905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4581144"/>
              <a:ext cx="4916424" cy="17952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1823" y="990600"/>
              <a:ext cx="5675376" cy="25694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1823" y="3712464"/>
              <a:ext cx="5675376" cy="276453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Market</a:t>
            </a:r>
            <a:r>
              <a:rPr dirty="0" spc="70"/>
              <a:t> </a:t>
            </a:r>
            <a:r>
              <a:rPr dirty="0" spc="-25"/>
              <a:t>S</a:t>
            </a:r>
            <a:r>
              <a:rPr dirty="0" spc="-470"/>
              <a:t> </a:t>
            </a:r>
            <a:r>
              <a:rPr dirty="0"/>
              <a:t>ize</a:t>
            </a:r>
            <a:r>
              <a:rPr dirty="0" spc="204"/>
              <a:t> </a:t>
            </a:r>
            <a:r>
              <a:rPr dirty="0"/>
              <a:t>&amp;</a:t>
            </a:r>
            <a:r>
              <a:rPr dirty="0" spc="40"/>
              <a:t> </a:t>
            </a:r>
            <a:r>
              <a:rPr dirty="0" spc="100"/>
              <a:t>Growth</a:t>
            </a:r>
            <a:r>
              <a:rPr dirty="0" spc="95"/>
              <a:t> </a:t>
            </a:r>
            <a:r>
              <a:rPr dirty="0" spc="100"/>
              <a:t>Potential</a:t>
            </a: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3400" y="1167383"/>
            <a:ext cx="323088" cy="34442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20700" y="1099184"/>
            <a:ext cx="5126355" cy="1092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dirty="0" sz="2400" spc="105">
                <a:solidFill>
                  <a:srgbClr val="1F2937"/>
                </a:solidFill>
                <a:latin typeface="Malgun Gothic Semilight"/>
                <a:cs typeface="Malgun Gothic Semilight"/>
              </a:rPr>
              <a:t>Significant</a:t>
            </a:r>
            <a:r>
              <a:rPr dirty="0" sz="2400" spc="16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2400" spc="30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75">
                <a:solidFill>
                  <a:srgbClr val="1F2937"/>
                </a:solidFill>
                <a:latin typeface="Malgun Gothic Semilight"/>
                <a:cs typeface="Malgun Gothic Semilight"/>
              </a:rPr>
              <a:t>Size</a:t>
            </a:r>
            <a:endParaRPr sz="2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40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4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4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[product</a:t>
            </a:r>
            <a:r>
              <a:rPr dirty="0" sz="1400" spc="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type]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[Chosen</a:t>
            </a:r>
            <a:r>
              <a:rPr dirty="0" sz="14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</a:t>
            </a:r>
            <a:r>
              <a:rPr dirty="0" sz="1400" spc="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4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projected</a:t>
            </a:r>
            <a:r>
              <a:rPr dirty="0" sz="1400" spc="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endParaRPr sz="1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reach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0E766D"/>
                </a:solidFill>
                <a:latin typeface="Malgun Gothic Semilight"/>
                <a:cs typeface="Malgun Gothic Semilight"/>
              </a:rPr>
              <a:t>$500</a:t>
            </a:r>
            <a:r>
              <a:rPr dirty="0" sz="1400" spc="8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0E766D"/>
                </a:solidFill>
                <a:latin typeface="Malgun Gothic Semilight"/>
                <a:cs typeface="Malgun Gothic Semilight"/>
              </a:rPr>
              <a:t>million</a:t>
            </a:r>
            <a:r>
              <a:rPr dirty="0" sz="1400" spc="204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by</a:t>
            </a:r>
            <a:r>
              <a:rPr dirty="0" sz="1400" spc="1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[year].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40423" y="1219200"/>
            <a:ext cx="359664" cy="3444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427723" y="1214119"/>
            <a:ext cx="5024120" cy="1245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27050">
              <a:lnSpc>
                <a:spcPct val="100000"/>
              </a:lnSpc>
              <a:spcBef>
                <a:spcPts val="90"/>
              </a:spcBef>
            </a:pPr>
            <a:r>
              <a:rPr dirty="0" sz="2000" spc="70">
                <a:solidFill>
                  <a:srgbClr val="1F2937"/>
                </a:solidFill>
                <a:latin typeface="Malgun Gothic Semilight"/>
                <a:cs typeface="Malgun Gothic Semilight"/>
              </a:rPr>
              <a:t>Growing</a:t>
            </a:r>
            <a:r>
              <a:rPr dirty="0" sz="2000" spc="11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>
                <a:solidFill>
                  <a:srgbClr val="1F2937"/>
                </a:solidFill>
                <a:latin typeface="Malgun Gothic Semilight"/>
                <a:cs typeface="Malgun Gothic Semilight"/>
              </a:rPr>
              <a:t>Cons</a:t>
            </a:r>
            <a:r>
              <a:rPr dirty="0" sz="2000" spc="-21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>
                <a:solidFill>
                  <a:srgbClr val="1F2937"/>
                </a:solidFill>
                <a:latin typeface="Malgun Gothic Semilight"/>
                <a:cs typeface="Malgun Gothic Semilight"/>
              </a:rPr>
              <a:t>umer</a:t>
            </a:r>
            <a:r>
              <a:rPr dirty="0" sz="2000" spc="17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20">
                <a:solidFill>
                  <a:srgbClr val="1F2937"/>
                </a:solidFill>
                <a:latin typeface="Malgun Gothic Semilight"/>
                <a:cs typeface="Malgun Gothic Semilight"/>
              </a:rPr>
              <a:t>Need</a:t>
            </a:r>
            <a:endParaRPr sz="20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9700"/>
              </a:lnSpc>
              <a:spcBef>
                <a:spcPts val="910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research</a:t>
            </a:r>
            <a:r>
              <a:rPr dirty="0" sz="135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shows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increasing</a:t>
            </a:r>
            <a:r>
              <a:rPr dirty="0" sz="135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demand</a:t>
            </a:r>
            <a:r>
              <a:rPr dirty="0" sz="135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among</a:t>
            </a:r>
            <a:r>
              <a:rPr dirty="0" sz="135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target</a:t>
            </a:r>
            <a:r>
              <a:rPr dirty="0" sz="135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segment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350" spc="-9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convenient,</a:t>
            </a:r>
            <a:r>
              <a:rPr dirty="0" sz="1350" spc="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healthy,</a:t>
            </a:r>
            <a:r>
              <a:rPr dirty="0" sz="135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ethically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sourced</a:t>
            </a:r>
            <a:r>
              <a:rPr dirty="0" sz="135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products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that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meet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specific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needs,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creating</a:t>
            </a:r>
            <a:r>
              <a:rPr dirty="0" sz="135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strong</a:t>
            </a:r>
            <a:r>
              <a:rPr dirty="0" sz="135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opportunity.</a:t>
            </a:r>
            <a:endParaRPr sz="1350">
              <a:latin typeface="Malgun Gothic Semilight"/>
              <a:cs typeface="Malgun Gothic Semiligh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40423" y="3941064"/>
            <a:ext cx="359664" cy="34442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6427723" y="3937838"/>
            <a:ext cx="4573905" cy="977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7050">
              <a:lnSpc>
                <a:spcPct val="100000"/>
              </a:lnSpc>
              <a:spcBef>
                <a:spcPts val="95"/>
              </a:spcBef>
            </a:pPr>
            <a:r>
              <a:rPr dirty="0" sz="2000" spc="50">
                <a:solidFill>
                  <a:srgbClr val="1F2937"/>
                </a:solidFill>
                <a:latin typeface="Malgun Gothic Semilight"/>
                <a:cs typeface="Malgun Gothic Semilight"/>
              </a:rPr>
              <a:t>Favorable</a:t>
            </a:r>
            <a:r>
              <a:rPr dirty="0" sz="2000" spc="1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L</a:t>
            </a:r>
            <a:r>
              <a:rPr dirty="0" sz="2000" spc="-26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>
                <a:solidFill>
                  <a:srgbClr val="1F2937"/>
                </a:solidFill>
                <a:latin typeface="Malgun Gothic Semilight"/>
                <a:cs typeface="Malgun Gothic Semilight"/>
              </a:rPr>
              <a:t>ogis</a:t>
            </a:r>
            <a:r>
              <a:rPr dirty="0" sz="2000" spc="-26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70">
                <a:solidFill>
                  <a:srgbClr val="1F2937"/>
                </a:solidFill>
                <a:latin typeface="Malgun Gothic Semilight"/>
                <a:cs typeface="Malgun Gothic Semilight"/>
              </a:rPr>
              <a:t>tics</a:t>
            </a:r>
            <a:r>
              <a:rPr dirty="0" sz="2000" spc="36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Infras</a:t>
            </a:r>
            <a:r>
              <a:rPr dirty="0" sz="2000" spc="-26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tructure</a:t>
            </a:r>
            <a:endParaRPr sz="20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35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target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possesses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well-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developed</a:t>
            </a:r>
            <a:r>
              <a:rPr dirty="0" sz="135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port</a:t>
            </a:r>
            <a:r>
              <a:rPr dirty="0" sz="135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35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road</a:t>
            </a:r>
            <a:endParaRPr sz="13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network,</a:t>
            </a:r>
            <a:r>
              <a:rPr dirty="0" sz="1350" spc="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facilitating</a:t>
            </a:r>
            <a:r>
              <a:rPr dirty="0" sz="1350" spc="-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efficient</a:t>
            </a:r>
            <a:r>
              <a:rPr dirty="0" sz="135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distribution.</a:t>
            </a:r>
            <a:endParaRPr sz="1350">
              <a:latin typeface="Malgun Gothic Semilight"/>
              <a:cs typeface="Malgun Gothic Semiligh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01256" y="5730240"/>
            <a:ext cx="390144" cy="38100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6726681" y="6133591"/>
            <a:ext cx="93853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Port</a:t>
            </a:r>
            <a:r>
              <a:rPr dirty="0" sz="14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Access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845295" y="5730240"/>
            <a:ext cx="390144" cy="38100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8475344" y="6133591"/>
            <a:ext cx="112712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Road</a:t>
            </a:r>
            <a:r>
              <a:rPr dirty="0" sz="140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Network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728959" y="5730240"/>
            <a:ext cx="429768" cy="381000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0484866" y="6133591"/>
            <a:ext cx="9194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Distribution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2158365"/>
            <a:chOff x="0" y="0"/>
            <a:chExt cx="12192000" cy="2158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" y="1335024"/>
              <a:ext cx="11734800" cy="822960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228600" y="2301239"/>
            <a:ext cx="5715000" cy="2078989"/>
            <a:chOff x="228600" y="2301239"/>
            <a:chExt cx="5715000" cy="2078989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600" y="2301239"/>
              <a:ext cx="5715000" cy="20787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623" y="2950463"/>
              <a:ext cx="152400" cy="152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623" y="3267455"/>
              <a:ext cx="152400" cy="152400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6248400" y="2301239"/>
            <a:ext cx="5715000" cy="2078989"/>
            <a:chOff x="6248400" y="2301239"/>
            <a:chExt cx="5715000" cy="2078989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2301239"/>
              <a:ext cx="5715000" cy="2078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40423" y="2950463"/>
              <a:ext cx="15240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40423" y="3267455"/>
              <a:ext cx="152400" cy="15240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228600" y="4532376"/>
            <a:ext cx="11734800" cy="1792605"/>
            <a:chOff x="228600" y="4532376"/>
            <a:chExt cx="11734800" cy="179260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00" y="4532376"/>
              <a:ext cx="11734800" cy="17922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000" y="4684776"/>
              <a:ext cx="170687" cy="30480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dirty="0" spc="280"/>
              <a:t> </a:t>
            </a:r>
            <a:r>
              <a:rPr dirty="0" spc="60"/>
              <a:t>Competitive</a:t>
            </a:r>
            <a:r>
              <a:rPr dirty="0" spc="145"/>
              <a:t> </a:t>
            </a:r>
            <a:r>
              <a:rPr dirty="0" spc="65"/>
              <a:t>Advantage</a:t>
            </a: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8600" y="914400"/>
            <a:ext cx="323088" cy="34442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368300" y="844753"/>
            <a:ext cx="7613650" cy="894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Unique</a:t>
            </a:r>
            <a:r>
              <a:rPr dirty="0" sz="2400" spc="21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105">
                <a:solidFill>
                  <a:srgbClr val="1F2937"/>
                </a:solidFill>
                <a:latin typeface="Malgun Gothic Semilight"/>
                <a:cs typeface="Malgun Gothic Semilight"/>
              </a:rPr>
              <a:t>Selling</a:t>
            </a:r>
            <a:r>
              <a:rPr dirty="0" sz="2400" spc="24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85">
                <a:solidFill>
                  <a:srgbClr val="1F2937"/>
                </a:solidFill>
                <a:latin typeface="Malgun Gothic Semilight"/>
                <a:cs typeface="Malgun Gothic Semilight"/>
              </a:rPr>
              <a:t>Propos</a:t>
            </a:r>
            <a:r>
              <a:rPr dirty="0" sz="2400" spc="-27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50">
                <a:solidFill>
                  <a:srgbClr val="1F2937"/>
                </a:solidFill>
                <a:latin typeface="Malgun Gothic Semilight"/>
                <a:cs typeface="Malgun Gothic Semilight"/>
              </a:rPr>
              <a:t>ition</a:t>
            </a:r>
            <a:endParaRPr sz="2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50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USP</a:t>
            </a:r>
            <a:r>
              <a:rPr dirty="0" sz="15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50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[Target</a:t>
            </a:r>
            <a:r>
              <a:rPr dirty="0" sz="150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500" spc="-10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</a:t>
            </a:r>
            <a:r>
              <a:rPr dirty="0" sz="1500" spc="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50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"[State</a:t>
            </a:r>
            <a:r>
              <a:rPr dirty="0" sz="150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USP]".</a:t>
            </a:r>
            <a:r>
              <a:rPr dirty="0" sz="15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This</a:t>
            </a:r>
            <a:r>
              <a:rPr dirty="0" sz="1500" spc="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differentiates</a:t>
            </a:r>
            <a:r>
              <a:rPr dirty="0" sz="15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us</a:t>
            </a:r>
            <a:r>
              <a:rPr dirty="0" sz="15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from</a:t>
            </a:r>
            <a:r>
              <a:rPr dirty="0" sz="1500" spc="-6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competitors.</a:t>
            </a:r>
            <a:endParaRPr sz="1500">
              <a:latin typeface="Malgun Gothic Semilight"/>
              <a:cs typeface="Malgun Gothic Semiligh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40423" y="2420111"/>
            <a:ext cx="228600" cy="304800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54864" y="2048255"/>
            <a:ext cx="622300" cy="676910"/>
            <a:chOff x="54864" y="2048255"/>
            <a:chExt cx="622300" cy="676910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0623" y="2420111"/>
              <a:ext cx="256032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864" y="2048255"/>
              <a:ext cx="381000" cy="38100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19887" y="2079497"/>
            <a:ext cx="306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solidFill>
                  <a:srgbClr val="FFFFFF"/>
                </a:solidFill>
                <a:latin typeface="Malgun Gothic Semilight"/>
                <a:cs typeface="Malgun Gothic Semilight"/>
              </a:rPr>
              <a:t>VS</a:t>
            </a:r>
            <a:endParaRPr sz="1800">
              <a:latin typeface="Malgun Gothic Semilight"/>
              <a:cs typeface="Malgun Gothic Semiligh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68300" y="4463596"/>
            <a:ext cx="10827385" cy="842644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1485"/>
              </a:spcBef>
            </a:pPr>
            <a:r>
              <a:rPr dirty="0" sz="2000">
                <a:solidFill>
                  <a:srgbClr val="1F2937"/>
                </a:solidFill>
                <a:latin typeface="Malgun Gothic Semilight"/>
                <a:cs typeface="Malgun Gothic Semilight"/>
              </a:rPr>
              <a:t>Why</a:t>
            </a:r>
            <a:r>
              <a:rPr dirty="0" sz="2000" spc="2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>
                <a:solidFill>
                  <a:srgbClr val="1F2937"/>
                </a:solidFill>
                <a:latin typeface="Malgun Gothic Semilight"/>
                <a:cs typeface="Malgun Gothic Semilight"/>
              </a:rPr>
              <a:t>We</a:t>
            </a:r>
            <a:r>
              <a:rPr dirty="0" sz="2000" spc="7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Stand</a:t>
            </a:r>
            <a:r>
              <a:rPr dirty="0" sz="2000" spc="14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25">
                <a:solidFill>
                  <a:srgbClr val="1F2937"/>
                </a:solidFill>
                <a:latin typeface="Malgun Gothic Semilight"/>
                <a:cs typeface="Malgun Gothic Semilight"/>
              </a:rPr>
              <a:t>Out</a:t>
            </a:r>
            <a:endParaRPr sz="20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We</a:t>
            </a:r>
            <a:r>
              <a:rPr dirty="0" sz="140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offer</a:t>
            </a:r>
            <a:r>
              <a:rPr dirty="0" sz="140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products</a:t>
            </a:r>
            <a:r>
              <a:rPr dirty="0" sz="1400" spc="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that</a:t>
            </a:r>
            <a:r>
              <a:rPr dirty="0" sz="140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meet</a:t>
            </a:r>
            <a:r>
              <a:rPr dirty="0" sz="1400" spc="-10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quality</a:t>
            </a:r>
            <a:r>
              <a:rPr dirty="0" sz="140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standards while</a:t>
            </a:r>
            <a:r>
              <a:rPr dirty="0" sz="140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resonating</a:t>
            </a:r>
            <a:r>
              <a:rPr dirty="0" sz="140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with</a:t>
            </a:r>
            <a:r>
              <a:rPr dirty="0" sz="14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growing</a:t>
            </a:r>
            <a:r>
              <a:rPr dirty="0" sz="14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consumer</a:t>
            </a:r>
            <a:r>
              <a:rPr dirty="0" sz="1400" spc="-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preference</a:t>
            </a:r>
            <a:r>
              <a:rPr dirty="0" sz="140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40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environmentally responsible</a:t>
            </a:r>
            <a:r>
              <a:rPr dirty="0" sz="140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brands.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623" y="3569208"/>
            <a:ext cx="152400" cy="1524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623" y="3886200"/>
            <a:ext cx="152400" cy="1524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40423" y="3569208"/>
            <a:ext cx="152400" cy="1524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40423" y="3886200"/>
            <a:ext cx="152400" cy="152400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635304" y="2375992"/>
            <a:ext cx="2345055" cy="1692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L</a:t>
            </a:r>
            <a:r>
              <a:rPr dirty="0" sz="2000" spc="-28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65">
                <a:solidFill>
                  <a:srgbClr val="1F2937"/>
                </a:solidFill>
                <a:latin typeface="Malgun Gothic Semilight"/>
                <a:cs typeface="Malgun Gothic Semilight"/>
              </a:rPr>
              <a:t>ocal</a:t>
            </a:r>
            <a:r>
              <a:rPr dirty="0" sz="2000" spc="7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35">
                <a:solidFill>
                  <a:srgbClr val="1F2937"/>
                </a:solidFill>
                <a:latin typeface="Malgun Gothic Semilight"/>
                <a:cs typeface="Malgun Gothic Semilight"/>
              </a:rPr>
              <a:t>Competitors</a:t>
            </a:r>
            <a:endParaRPr sz="2000">
              <a:latin typeface="Malgun Gothic Semilight"/>
              <a:cs typeface="Malgun Gothic Semilight"/>
            </a:endParaRPr>
          </a:p>
          <a:p>
            <a:pPr marL="12700" marR="28575">
              <a:lnSpc>
                <a:spcPct val="148900"/>
              </a:lnSpc>
              <a:spcBef>
                <a:spcPts val="850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Lack</a:t>
            </a:r>
            <a:r>
              <a:rPr dirty="0" sz="1400" spc="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sustainable</a:t>
            </a:r>
            <a:r>
              <a:rPr dirty="0" sz="140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certifications Higher</a:t>
            </a:r>
            <a:r>
              <a:rPr dirty="0" sz="140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prices</a:t>
            </a:r>
            <a:endParaRPr sz="1400">
              <a:latin typeface="Malgun Gothic Semilight"/>
              <a:cs typeface="Malgun Gothic Semilight"/>
            </a:endParaRPr>
          </a:p>
          <a:p>
            <a:pPr marL="12700" marR="28575">
              <a:lnSpc>
                <a:spcPts val="2500"/>
              </a:lnSpc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Lack</a:t>
            </a:r>
            <a:r>
              <a:rPr dirty="0" sz="1400" spc="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sustainable</a:t>
            </a:r>
            <a:r>
              <a:rPr dirty="0" sz="140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certifications Higher</a:t>
            </a:r>
            <a:r>
              <a:rPr dirty="0" sz="140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prices</a:t>
            </a:r>
            <a:endParaRPr sz="1400">
              <a:latin typeface="Malgun Gothic Semilight"/>
              <a:cs typeface="Malgun Gothic Semiligh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656323" y="2375992"/>
            <a:ext cx="3172460" cy="1692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95"/>
              </a:spcBef>
            </a:pPr>
            <a:r>
              <a:rPr dirty="0" sz="20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International</a:t>
            </a:r>
            <a:r>
              <a:rPr dirty="0" sz="2000" spc="11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35">
                <a:solidFill>
                  <a:srgbClr val="1F2937"/>
                </a:solidFill>
                <a:latin typeface="Malgun Gothic Semilight"/>
                <a:cs typeface="Malgun Gothic Semilight"/>
              </a:rPr>
              <a:t>Competitors</a:t>
            </a:r>
            <a:endParaRPr sz="20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Lower</a:t>
            </a:r>
            <a:r>
              <a:rPr dirty="0" sz="1400" spc="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quality</a:t>
            </a:r>
            <a:endParaRPr sz="1400">
              <a:latin typeface="Malgun Gothic Semilight"/>
              <a:cs typeface="Malgun Gothic Semilight"/>
            </a:endParaRPr>
          </a:p>
          <a:p>
            <a:pPr marL="12700" marR="1042035">
              <a:lnSpc>
                <a:spcPct val="1417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Less</a:t>
            </a:r>
            <a:r>
              <a:rPr dirty="0" sz="1400" spc="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local</a:t>
            </a:r>
            <a:r>
              <a:rPr dirty="0" sz="140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flavor</a:t>
            </a:r>
            <a:r>
              <a:rPr dirty="0" sz="1400" spc="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adaptation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Lower</a:t>
            </a:r>
            <a:r>
              <a:rPr dirty="0" sz="1400" spc="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quality</a:t>
            </a:r>
            <a:endParaRPr sz="1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Less</a:t>
            </a:r>
            <a:r>
              <a:rPr dirty="0" sz="1400" spc="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local</a:t>
            </a:r>
            <a:r>
              <a:rPr dirty="0" sz="140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flavor</a:t>
            </a:r>
            <a:r>
              <a:rPr dirty="0" sz="1400" spc="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adaptation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4014470"/>
            <a:chOff x="0" y="0"/>
            <a:chExt cx="12192000" cy="4014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990600"/>
              <a:ext cx="11582400" cy="30236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823" y="1182624"/>
              <a:ext cx="323088" cy="341375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905000" y="5765291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1336">
            <a:solidFill>
              <a:srgbClr val="00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931408" y="4887467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21336">
            <a:solidFill>
              <a:srgbClr val="00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721352" y="5745479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18287">
            <a:solidFill>
              <a:srgbClr val="00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409176" y="5742432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18287">
            <a:solidFill>
              <a:srgbClr val="007F7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7144511" y="5279135"/>
            <a:ext cx="2112645" cy="954405"/>
            <a:chOff x="7144511" y="5279135"/>
            <a:chExt cx="2112645" cy="954405"/>
          </a:xfrm>
        </p:grpSpPr>
        <p:sp>
          <p:nvSpPr>
            <p:cNvPr id="12" name="object 12" descr=""/>
            <p:cNvSpPr/>
            <p:nvPr/>
          </p:nvSpPr>
          <p:spPr>
            <a:xfrm>
              <a:off x="7144511" y="5745479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 h="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18287">
              <a:solidFill>
                <a:srgbClr val="007F7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5800" y="5279135"/>
              <a:ext cx="950976" cy="9540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3272" y="5489447"/>
              <a:ext cx="256031" cy="30480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Market</a:t>
            </a:r>
            <a:r>
              <a:rPr dirty="0" spc="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Entry</a:t>
            </a:r>
            <a:r>
              <a:rPr dirty="0" spc="-21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Strategy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482600" y="1112011"/>
            <a:ext cx="6501765" cy="1767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2937"/>
                </a:solidFill>
                <a:latin typeface="Arial"/>
                <a:cs typeface="Arial"/>
              </a:rPr>
              <a:t>Direct</a:t>
            </a:r>
            <a:r>
              <a:rPr dirty="0" sz="2400" spc="-10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F2937"/>
                </a:solidFill>
                <a:latin typeface="Arial"/>
                <a:cs typeface="Arial"/>
              </a:rPr>
              <a:t>Exporting</a:t>
            </a:r>
            <a:r>
              <a:rPr dirty="0" sz="2400" spc="-9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F2937"/>
                </a:solidFill>
                <a:latin typeface="Arial"/>
                <a:cs typeface="Arial"/>
              </a:rPr>
              <a:t>Approach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-10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chosen</a:t>
            </a:r>
            <a:r>
              <a:rPr dirty="0" sz="1400" spc="-3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1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374151"/>
                </a:solidFill>
                <a:latin typeface="Arial"/>
                <a:cs typeface="Arial"/>
              </a:rPr>
              <a:t>entry</a:t>
            </a:r>
            <a:r>
              <a:rPr dirty="0" sz="1400" spc="-8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method</a:t>
            </a:r>
            <a:r>
              <a:rPr dirty="0" sz="1400" spc="-3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is</a:t>
            </a:r>
            <a:r>
              <a:rPr dirty="0" sz="1400" spc="-9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direct</a:t>
            </a:r>
            <a:r>
              <a:rPr dirty="0" sz="1400" spc="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exporting</a:t>
            </a:r>
            <a:r>
              <a:rPr dirty="0" sz="1400" spc="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374151"/>
                </a:solidFill>
                <a:latin typeface="Arial"/>
                <a:cs typeface="Arial"/>
              </a:rPr>
              <a:t>via</a:t>
            </a:r>
            <a:r>
              <a:rPr dirty="0" sz="1400" spc="-6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9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local</a:t>
            </a:r>
            <a:r>
              <a:rPr dirty="0" sz="1400" spc="1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4151"/>
                </a:solidFill>
                <a:latin typeface="Arial"/>
                <a:cs typeface="Arial"/>
              </a:rPr>
              <a:t>distributor</a:t>
            </a:r>
            <a:r>
              <a:rPr dirty="0" sz="1400" spc="-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374151"/>
                </a:solidFill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  <a:p>
            <a:pPr marL="394970" indent="-344170">
              <a:lnSpc>
                <a:spcPct val="100000"/>
              </a:lnSpc>
              <a:spcBef>
                <a:spcPts val="1320"/>
              </a:spcBef>
              <a:buChar char="•"/>
              <a:tabLst>
                <a:tab pos="394970" algn="l"/>
              </a:tabLst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Optimal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given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company's</a:t>
            </a:r>
            <a:r>
              <a:rPr dirty="0" sz="1400" spc="-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current</a:t>
            </a:r>
            <a:r>
              <a:rPr dirty="0" sz="1400" spc="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resources</a:t>
            </a:r>
            <a:r>
              <a:rPr dirty="0" sz="1400" spc="-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limited</a:t>
            </a:r>
            <a:r>
              <a:rPr dirty="0" sz="1400" spc="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export</a:t>
            </a:r>
            <a:r>
              <a:rPr dirty="0" sz="1400" spc="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experience</a:t>
            </a:r>
            <a:endParaRPr sz="1400">
              <a:latin typeface="Arial"/>
              <a:cs typeface="Arial"/>
            </a:endParaRPr>
          </a:p>
          <a:p>
            <a:pPr marL="394970" indent="-344170">
              <a:lnSpc>
                <a:spcPct val="100000"/>
              </a:lnSpc>
              <a:spcBef>
                <a:spcPts val="720"/>
              </a:spcBef>
              <a:buChar char="•"/>
              <a:tabLst>
                <a:tab pos="394970" algn="l"/>
              </a:tabLst>
            </a:pP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Leverages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distributor's</a:t>
            </a:r>
            <a:r>
              <a:rPr dirty="0" sz="14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established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network</a:t>
            </a:r>
            <a:r>
              <a:rPr dirty="0" sz="1400" spc="10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local market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expertise</a:t>
            </a:r>
            <a:endParaRPr sz="1400">
              <a:latin typeface="Arial"/>
              <a:cs typeface="Arial"/>
            </a:endParaRPr>
          </a:p>
          <a:p>
            <a:pPr marL="394970" indent="-344170">
              <a:lnSpc>
                <a:spcPct val="100000"/>
              </a:lnSpc>
              <a:spcBef>
                <a:spcPts val="720"/>
              </a:spcBef>
              <a:buChar char="•"/>
              <a:tabLst>
                <a:tab pos="394970" algn="l"/>
              </a:tabLst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Maintains</a:t>
            </a:r>
            <a:r>
              <a:rPr dirty="0" sz="1400" spc="-10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reasonable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control</a:t>
            </a:r>
            <a:r>
              <a:rPr dirty="0" sz="1400" spc="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over</a:t>
            </a:r>
            <a:r>
              <a:rPr dirty="0" sz="1400" spc="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brand</a:t>
            </a:r>
            <a:r>
              <a:rPr dirty="0" sz="14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 customer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relationships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12029" y="4484878"/>
            <a:ext cx="2798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Distribution</a:t>
            </a:r>
            <a:r>
              <a:rPr dirty="0" sz="1800" spc="-6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1F2937"/>
                </a:solidFill>
                <a:latin typeface="Arial"/>
                <a:cs typeface="Arial"/>
              </a:rPr>
              <a:t>Channel</a:t>
            </a:r>
            <a:r>
              <a:rPr dirty="0" sz="1800" spc="-8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1F2937"/>
                </a:solidFill>
                <a:latin typeface="Arial"/>
                <a:cs typeface="Arial"/>
              </a:rPr>
              <a:t>Flow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45591" y="5276088"/>
            <a:ext cx="951230" cy="951230"/>
            <a:chOff x="545591" y="5276088"/>
            <a:chExt cx="951230" cy="95123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591" y="5276088"/>
              <a:ext cx="950976" cy="9509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063" y="5504688"/>
              <a:ext cx="256031" cy="30480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09980" y="5807151"/>
            <a:ext cx="62992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Factory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447288" y="5242559"/>
            <a:ext cx="1069975" cy="1069975"/>
            <a:chOff x="3447288" y="5242559"/>
            <a:chExt cx="1069975" cy="1069975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7288" y="5242559"/>
              <a:ext cx="1069848" cy="10698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3048" y="5358383"/>
              <a:ext cx="286512" cy="30480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3531234" y="5663590"/>
            <a:ext cx="853440" cy="423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570"/>
              </a:lnSpc>
              <a:spcBef>
                <a:spcPts val="9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Freight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570"/>
              </a:lnSpc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Forwarder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403717" y="5790996"/>
            <a:ext cx="76454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Retailers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0308335" y="5282184"/>
            <a:ext cx="951230" cy="951230"/>
            <a:chOff x="10308335" y="5282184"/>
            <a:chExt cx="951230" cy="951230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08335" y="5282184"/>
              <a:ext cx="950976" cy="95097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83239" y="5489448"/>
              <a:ext cx="201168" cy="304800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10349230" y="5793130"/>
            <a:ext cx="874394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940552" y="5187696"/>
            <a:ext cx="1143000" cy="1143000"/>
            <a:chOff x="5940552" y="5187696"/>
            <a:chExt cx="1143000" cy="1143000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40552" y="5187696"/>
              <a:ext cx="1143000" cy="11430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61176" y="5355336"/>
              <a:ext cx="283464" cy="304800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6045834" y="5661152"/>
            <a:ext cx="922655" cy="42354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 marR="5080" indent="222250">
              <a:lnSpc>
                <a:spcPts val="1460"/>
              </a:lnSpc>
              <a:spcBef>
                <a:spcPts val="32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Distributor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5694045"/>
            <a:chOff x="0" y="0"/>
            <a:chExt cx="12192000" cy="56940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676400"/>
              <a:ext cx="3605784" cy="4017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536" y="3011423"/>
              <a:ext cx="152400" cy="152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536" y="3544823"/>
              <a:ext cx="152400" cy="152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536" y="4093464"/>
              <a:ext cx="152400" cy="152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91584" y="1676400"/>
              <a:ext cx="3608832" cy="40172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184" y="3127248"/>
              <a:ext cx="152400" cy="152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184" y="3697223"/>
              <a:ext cx="152400" cy="152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05216" y="1676400"/>
              <a:ext cx="3605784" cy="40172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3816" y="3102864"/>
              <a:ext cx="152400" cy="152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3816" y="3694176"/>
              <a:ext cx="152400" cy="152400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1000" y="6077711"/>
            <a:ext cx="152400" cy="1524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Product</a:t>
            </a:r>
            <a:r>
              <a:rPr dirty="0" spc="-2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Adaptation</a:t>
            </a:r>
            <a:r>
              <a:rPr dirty="0" spc="-11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Strategy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368300" y="890142"/>
            <a:ext cx="11126470" cy="5588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039"/>
              </a:lnSpc>
              <a:spcBef>
                <a:spcPts val="265"/>
              </a:spcBef>
            </a:pP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8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800" spc="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strategy</a:t>
            </a:r>
            <a:r>
              <a:rPr dirty="0" sz="18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involves</a:t>
            </a:r>
            <a:r>
              <a:rPr dirty="0" sz="1800" spc="-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374151"/>
                </a:solidFill>
                <a:latin typeface="Arial"/>
                <a:cs typeface="Arial"/>
              </a:rPr>
              <a:t>specific</a:t>
            </a:r>
            <a:r>
              <a:rPr dirty="0" sz="18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adaptations</a:t>
            </a:r>
            <a:r>
              <a:rPr dirty="0" sz="1800" spc="-1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8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meet</a:t>
            </a:r>
            <a:r>
              <a:rPr dirty="0" sz="1800" spc="114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target</a:t>
            </a:r>
            <a:r>
              <a:rPr dirty="0" sz="18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market's</a:t>
            </a:r>
            <a:r>
              <a:rPr dirty="0" sz="18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374151"/>
                </a:solidFill>
                <a:latin typeface="Arial"/>
                <a:cs typeface="Arial"/>
              </a:rPr>
              <a:t>needs</a:t>
            </a:r>
            <a:r>
              <a:rPr dirty="0" sz="1800" spc="-1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8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374151"/>
                </a:solidFill>
                <a:latin typeface="Arial"/>
                <a:cs typeface="Arial"/>
              </a:rPr>
              <a:t>preferences,</a:t>
            </a:r>
            <a:r>
              <a:rPr dirty="0" sz="1800" spc="-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ensuring </a:t>
            </a:r>
            <a:r>
              <a:rPr dirty="0" sz="1800" spc="-50">
                <a:solidFill>
                  <a:srgbClr val="374151"/>
                </a:solidFill>
                <a:latin typeface="Arial"/>
                <a:cs typeface="Arial"/>
              </a:rPr>
              <a:t>successful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 market</a:t>
            </a:r>
            <a:r>
              <a:rPr dirty="0" sz="1800" spc="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entry</a:t>
            </a:r>
            <a:r>
              <a:rPr dirty="0" sz="18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8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consumer</a:t>
            </a:r>
            <a:r>
              <a:rPr dirty="0" sz="18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acceptance.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859279" y="1783079"/>
            <a:ext cx="570230" cy="573405"/>
            <a:chOff x="1859279" y="1783079"/>
            <a:chExt cx="570230" cy="573405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59279" y="1783079"/>
              <a:ext cx="569976" cy="5730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20823" y="1898903"/>
              <a:ext cx="246887" cy="341375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73496" y="1898904"/>
            <a:ext cx="362712" cy="341375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5219446" y="2495245"/>
            <a:ext cx="17532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Label</a:t>
            </a:r>
            <a:r>
              <a:rPr dirty="0" sz="1800" spc="2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Language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738242" y="3070936"/>
            <a:ext cx="266192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Compliance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local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regulations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680447" y="1783079"/>
            <a:ext cx="573405" cy="573405"/>
            <a:chOff x="9680447" y="1783079"/>
            <a:chExt cx="573405" cy="573405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80447" y="1783079"/>
              <a:ext cx="573024" cy="5730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23703" y="1898903"/>
              <a:ext cx="286511" cy="341375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9135236" y="2495245"/>
            <a:ext cx="17437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Product</a:t>
            </a:r>
            <a:r>
              <a:rPr dirty="0" sz="1800" spc="-35" b="1">
                <a:solidFill>
                  <a:srgbClr val="1F2937"/>
                </a:solidFill>
                <a:latin typeface="Arial"/>
                <a:cs typeface="Arial"/>
              </a:rPr>
              <a:t> Feature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7204" y="5986068"/>
            <a:ext cx="10218420" cy="522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>
              <a:lnSpc>
                <a:spcPts val="1955"/>
              </a:lnSpc>
              <a:spcBef>
                <a:spcPts val="100"/>
              </a:spcBef>
            </a:pP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These</a:t>
            </a:r>
            <a:r>
              <a:rPr dirty="0" sz="1800" spc="-3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adaptations</a:t>
            </a:r>
            <a:r>
              <a:rPr dirty="0" sz="1800" spc="-75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are</a:t>
            </a:r>
            <a:r>
              <a:rPr dirty="0" sz="1800" spc="2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based</a:t>
            </a:r>
            <a:r>
              <a:rPr dirty="0" sz="1800" spc="-3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on market</a:t>
            </a:r>
            <a:r>
              <a:rPr dirty="0" sz="1800" spc="-1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research</a:t>
            </a:r>
            <a:r>
              <a:rPr dirty="0" sz="1800" spc="-5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and</a:t>
            </a:r>
            <a:r>
              <a:rPr dirty="0" sz="1800" spc="-5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consumer</a:t>
            </a:r>
            <a:r>
              <a:rPr dirty="0" sz="1800" spc="-3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feedback</a:t>
            </a:r>
            <a:r>
              <a:rPr dirty="0" sz="1800" spc="-5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to ensure</a:t>
            </a:r>
            <a:r>
              <a:rPr dirty="0" sz="1800" spc="-3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optimal </a:t>
            </a:r>
            <a:r>
              <a:rPr dirty="0" sz="1800" spc="-10" i="1">
                <a:solidFill>
                  <a:srgbClr val="4A5462"/>
                </a:solidFill>
                <a:latin typeface="Arial"/>
                <a:cs typeface="Arial"/>
              </a:rPr>
              <a:t>product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55"/>
              </a:lnSpc>
            </a:pP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acceptance</a:t>
            </a:r>
            <a:r>
              <a:rPr dirty="0" sz="1800" spc="-85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in</a:t>
            </a:r>
            <a:r>
              <a:rPr dirty="0" sz="1800" spc="-1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the</a:t>
            </a:r>
            <a:r>
              <a:rPr dirty="0" sz="1800" spc="-10" i="1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4A5462"/>
                </a:solidFill>
                <a:latin typeface="Arial"/>
                <a:cs typeface="Arial"/>
              </a:rPr>
              <a:t>target</a:t>
            </a:r>
            <a:r>
              <a:rPr dirty="0" sz="1800" spc="-10" i="1">
                <a:solidFill>
                  <a:srgbClr val="4A5462"/>
                </a:solidFill>
                <a:latin typeface="Arial"/>
                <a:cs typeface="Arial"/>
              </a:rPr>
              <a:t> market.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8055" y="4663440"/>
            <a:ext cx="152400" cy="15240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344" y="5221223"/>
            <a:ext cx="152400" cy="152400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637641" y="2495245"/>
            <a:ext cx="3211195" cy="3139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929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Packaging</a:t>
            </a:r>
            <a:r>
              <a:rPr dirty="0" sz="1800" spc="-5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1F2937"/>
                </a:solidFill>
                <a:latin typeface="Arial"/>
                <a:cs typeface="Arial"/>
              </a:rPr>
              <a:t>Size</a:t>
            </a:r>
            <a:endParaRPr sz="18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46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Introducing</a:t>
            </a:r>
            <a:r>
              <a:rPr dirty="0" sz="1400" spc="1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500g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unit</a:t>
            </a:r>
            <a:r>
              <a:rPr dirty="0" sz="1400" spc="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addition</a:t>
            </a:r>
            <a:r>
              <a:rPr dirty="0" sz="1400" spc="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1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1kg</a:t>
            </a:r>
            <a:endParaRPr sz="14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20"/>
              </a:spcBef>
            </a:pP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unit</a:t>
            </a:r>
            <a:endParaRPr sz="1400">
              <a:latin typeface="Arial"/>
              <a:cs typeface="Arial"/>
            </a:endParaRPr>
          </a:p>
          <a:p>
            <a:pPr marL="67945" marR="95250">
              <a:lnSpc>
                <a:spcPct val="107100"/>
              </a:lnSpc>
              <a:spcBef>
                <a:spcPts val="605"/>
              </a:spcBef>
            </a:pP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Based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on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feedback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indicating preference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smaller,</a:t>
            </a:r>
            <a:r>
              <a:rPr dirty="0" sz="1400" spc="-10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more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affordable</a:t>
            </a:r>
            <a:endParaRPr sz="1400">
              <a:latin typeface="Arial"/>
              <a:cs typeface="Arial"/>
            </a:endParaRPr>
          </a:p>
          <a:p>
            <a:pPr marL="67945" marR="681355">
              <a:lnSpc>
                <a:spcPct val="107100"/>
              </a:lnSpc>
              <a:spcBef>
                <a:spcPts val="720"/>
              </a:spcBef>
            </a:pPr>
            <a:r>
              <a:rPr dirty="0" baseline="27777" sz="2100" spc="-607">
                <a:solidFill>
                  <a:srgbClr val="374151"/>
                </a:solidFill>
                <a:latin typeface="Arial"/>
                <a:cs typeface="Arial"/>
              </a:rPr>
              <a:t>t</a:t>
            </a:r>
            <a:r>
              <a:rPr dirty="0" sz="1400" spc="-640">
                <a:solidFill>
                  <a:srgbClr val="374151"/>
                </a:solidFill>
                <a:latin typeface="Arial"/>
                <a:cs typeface="Arial"/>
              </a:rPr>
              <a:t>R</a:t>
            </a:r>
            <a:r>
              <a:rPr dirty="0" baseline="27777" sz="2100">
                <a:solidFill>
                  <a:srgbClr val="374151"/>
                </a:solidFill>
                <a:latin typeface="Arial"/>
                <a:cs typeface="Arial"/>
              </a:rPr>
              <a:t>r</a:t>
            </a:r>
            <a:r>
              <a:rPr dirty="0" baseline="27777" sz="2100" spc="-457">
                <a:solidFill>
                  <a:srgbClr val="374151"/>
                </a:solidFill>
                <a:latin typeface="Arial"/>
                <a:cs typeface="Arial"/>
              </a:rPr>
              <a:t>i</a:t>
            </a:r>
            <a:r>
              <a:rPr dirty="0" sz="1400" spc="-509">
                <a:solidFill>
                  <a:srgbClr val="374151"/>
                </a:solidFill>
                <a:latin typeface="Arial"/>
                <a:cs typeface="Arial"/>
              </a:rPr>
              <a:t>e</a:t>
            </a:r>
            <a:r>
              <a:rPr dirty="0" baseline="27777" sz="2100" spc="-494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475">
                <a:solidFill>
                  <a:srgbClr val="374151"/>
                </a:solidFill>
                <a:latin typeface="Arial"/>
                <a:cs typeface="Arial"/>
              </a:rPr>
              <a:t>d</a:t>
            </a:r>
            <a:r>
              <a:rPr dirty="0" baseline="27777" sz="2100" spc="-15">
                <a:solidFill>
                  <a:srgbClr val="374151"/>
                </a:solidFill>
                <a:latin typeface="Arial"/>
                <a:cs typeface="Arial"/>
              </a:rPr>
              <a:t>l</a:t>
            </a:r>
            <a:r>
              <a:rPr dirty="0" baseline="27777" sz="2100" spc="-322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555">
                <a:solidFill>
                  <a:srgbClr val="374151"/>
                </a:solidFill>
                <a:latin typeface="Arial"/>
                <a:cs typeface="Arial"/>
              </a:rPr>
              <a:t>u</a:t>
            </a:r>
            <a:r>
              <a:rPr dirty="0" baseline="27777" sz="2100" spc="-277">
                <a:solidFill>
                  <a:srgbClr val="374151"/>
                </a:solidFill>
                <a:latin typeface="Arial"/>
                <a:cs typeface="Arial"/>
              </a:rPr>
              <a:t>s</a:t>
            </a:r>
            <a:r>
              <a:rPr dirty="0" sz="1400" spc="-550">
                <a:solidFill>
                  <a:srgbClr val="374151"/>
                </a:solidFill>
                <a:latin typeface="Arial"/>
                <a:cs typeface="Arial"/>
              </a:rPr>
              <a:t>c</a:t>
            </a:r>
            <a:r>
              <a:rPr dirty="0" baseline="27777" sz="2100" spc="-15">
                <a:solidFill>
                  <a:srgbClr val="374151"/>
                </a:solidFill>
                <a:latin typeface="Arial"/>
                <a:cs typeface="Arial"/>
              </a:rPr>
              <a:t>i</a:t>
            </a:r>
            <a:r>
              <a:rPr dirty="0" baseline="27777" sz="2100" spc="-742">
                <a:solidFill>
                  <a:srgbClr val="374151"/>
                </a:solidFill>
                <a:latin typeface="Arial"/>
                <a:cs typeface="Arial"/>
              </a:rPr>
              <a:t>z</a:t>
            </a:r>
            <a:r>
              <a:rPr dirty="0" sz="1400" spc="-335">
                <a:solidFill>
                  <a:srgbClr val="374151"/>
                </a:solidFill>
                <a:latin typeface="Arial"/>
                <a:cs typeface="Arial"/>
              </a:rPr>
              <a:t>e</a:t>
            </a:r>
            <a:r>
              <a:rPr dirty="0" baseline="27777" sz="2100" spc="-719">
                <a:solidFill>
                  <a:srgbClr val="374151"/>
                </a:solidFill>
                <a:latin typeface="Arial"/>
                <a:cs typeface="Arial"/>
              </a:rPr>
              <a:t>e</a:t>
            </a:r>
            <a:r>
              <a:rPr dirty="0" sz="1400" spc="-385">
                <a:solidFill>
                  <a:srgbClr val="374151"/>
                </a:solidFill>
                <a:latin typeface="Arial"/>
                <a:cs typeface="Arial"/>
              </a:rPr>
              <a:t>d</a:t>
            </a:r>
            <a:r>
              <a:rPr dirty="0" baseline="27777" sz="2100" spc="127">
                <a:solidFill>
                  <a:srgbClr val="374151"/>
                </a:solidFill>
                <a:latin typeface="Arial"/>
                <a:cs typeface="Arial"/>
              </a:rPr>
              <a:t>s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initi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l</a:t>
            </a:r>
            <a:r>
              <a:rPr dirty="0" sz="1400" spc="1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commitment</a:t>
            </a:r>
            <a:r>
              <a:rPr dirty="0" sz="1400" spc="2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for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potential</a:t>
            </a:r>
            <a:r>
              <a:rPr dirty="0" sz="14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Reduced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 initial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commitment</a:t>
            </a:r>
            <a:r>
              <a:rPr dirty="0" sz="1400" spc="1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for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potential</a:t>
            </a:r>
            <a:r>
              <a:rPr dirty="0" sz="14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  <a:p>
            <a:pPr marL="58419">
              <a:lnSpc>
                <a:spcPct val="100000"/>
              </a:lnSpc>
              <a:spcBef>
                <a:spcPts val="919"/>
              </a:spcBef>
            </a:pP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Reduced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 initial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commitment</a:t>
            </a:r>
            <a:r>
              <a:rPr dirty="0" sz="1400" spc="1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for</a:t>
            </a:r>
            <a:endParaRPr sz="1400">
              <a:latin typeface="Arial"/>
              <a:cs typeface="Arial"/>
            </a:endParaRPr>
          </a:p>
          <a:p>
            <a:pPr marL="58419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potential</a:t>
            </a:r>
            <a:r>
              <a:rPr dirty="0" sz="14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11040" y="4194047"/>
            <a:ext cx="152400" cy="15240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11040" y="4764023"/>
            <a:ext cx="152400" cy="152400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4728209" y="3624122"/>
            <a:ext cx="2983230" cy="75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 marR="5080">
              <a:lnSpc>
                <a:spcPct val="107100"/>
              </a:lnSpc>
              <a:spcBef>
                <a:spcPts val="10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Improved</a:t>
            </a:r>
            <a:r>
              <a:rPr dirty="0" sz="1400" spc="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consumer</a:t>
            </a:r>
            <a:r>
              <a:rPr dirty="0" sz="1400" spc="-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understanding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of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400" spc="1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Compliance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local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regulations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728209" y="4690777"/>
            <a:ext cx="2973705" cy="48387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Improved</a:t>
            </a:r>
            <a:r>
              <a:rPr dirty="0" sz="14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consumer</a:t>
            </a:r>
            <a:r>
              <a:rPr dirty="0" sz="1400" spc="-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understanding</a:t>
            </a:r>
            <a:r>
              <a:rPr dirty="0" sz="14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400" spc="1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21623" y="4251959"/>
            <a:ext cx="152400" cy="15240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21623" y="4840223"/>
            <a:ext cx="152400" cy="152400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8640571" y="3031540"/>
            <a:ext cx="2928620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 marR="156210">
              <a:lnSpc>
                <a:spcPct val="107300"/>
              </a:lnSpc>
              <a:spcBef>
                <a:spcPts val="100"/>
              </a:spcBef>
            </a:pP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Based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on</a:t>
            </a:r>
            <a:r>
              <a:rPr dirty="0" sz="1400" spc="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taste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tests</a:t>
            </a:r>
            <a:r>
              <a:rPr dirty="0" sz="1400" spc="-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showing preference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more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robust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flavor</a:t>
            </a:r>
            <a:endParaRPr sz="14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116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Meeting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local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taste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preferences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while</a:t>
            </a:r>
            <a:endParaRPr sz="14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maintaining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4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quality</a:t>
            </a:r>
            <a:endParaRPr sz="1400">
              <a:latin typeface="Arial"/>
              <a:cs typeface="Arial"/>
            </a:endParaRPr>
          </a:p>
          <a:p>
            <a:pPr marL="12700" marR="166370">
              <a:lnSpc>
                <a:spcPct val="107100"/>
              </a:lnSpc>
              <a:spcBef>
                <a:spcPts val="805"/>
              </a:spcBef>
            </a:pP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Based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on</a:t>
            </a:r>
            <a:r>
              <a:rPr dirty="0" sz="1400" spc="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taste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tests</a:t>
            </a:r>
            <a:r>
              <a:rPr dirty="0" sz="1400" spc="-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showing preference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more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robust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flavor</a:t>
            </a:r>
            <a:endParaRPr sz="1400">
              <a:latin typeface="Arial"/>
              <a:cs typeface="Arial"/>
            </a:endParaRPr>
          </a:p>
          <a:p>
            <a:pPr marL="12700" marR="15240">
              <a:lnSpc>
                <a:spcPct val="107100"/>
              </a:lnSpc>
              <a:spcBef>
                <a:spcPts val="104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Meeting local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taste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preferences</a:t>
            </a:r>
            <a:r>
              <a:rPr dirty="0" sz="1400" spc="-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while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maintaining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4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quality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477000"/>
            <a:chOff x="0" y="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066800"/>
              <a:ext cx="4584192" cy="5410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5735" y="1066800"/>
              <a:ext cx="3255264" cy="528218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/>
              <a:t>Pricing</a:t>
            </a:r>
            <a:r>
              <a:rPr dirty="0" spc="170"/>
              <a:t> </a:t>
            </a:r>
            <a:r>
              <a:rPr dirty="0" spc="-25"/>
              <a:t>S</a:t>
            </a:r>
            <a:r>
              <a:rPr dirty="0" spc="-495"/>
              <a:t> </a:t>
            </a:r>
            <a:r>
              <a:rPr dirty="0" spc="55"/>
              <a:t>trategy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" y="1295400"/>
            <a:ext cx="286512" cy="3444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97204" y="1226311"/>
            <a:ext cx="4102735" cy="18059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0215">
              <a:lnSpc>
                <a:spcPct val="100000"/>
              </a:lnSpc>
              <a:spcBef>
                <a:spcPts val="100"/>
              </a:spcBef>
            </a:pPr>
            <a:r>
              <a:rPr dirty="0" sz="2400" spc="130">
                <a:solidFill>
                  <a:srgbClr val="1F2937"/>
                </a:solidFill>
                <a:latin typeface="Malgun Gothic Semilight"/>
                <a:cs typeface="Malgun Gothic Semilight"/>
              </a:rPr>
              <a:t>Pricing</a:t>
            </a:r>
            <a:r>
              <a:rPr dirty="0" sz="2400" spc="3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Objective</a:t>
            </a:r>
            <a:endParaRPr sz="2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z="1800" spc="65">
                <a:solidFill>
                  <a:srgbClr val="0E766D"/>
                </a:solidFill>
                <a:latin typeface="Malgun Gothic Semilight"/>
                <a:cs typeface="Malgun Gothic Semilight"/>
              </a:rPr>
              <a:t>Primary</a:t>
            </a:r>
            <a:r>
              <a:rPr dirty="0" sz="1800" spc="25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 spc="-20">
                <a:solidFill>
                  <a:srgbClr val="0E766D"/>
                </a:solidFill>
                <a:latin typeface="Malgun Gothic Semilight"/>
                <a:cs typeface="Malgun Gothic Semilight"/>
              </a:rPr>
              <a:t>Focus</a:t>
            </a:r>
            <a:endParaRPr sz="18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4300"/>
              </a:lnSpc>
              <a:spcBef>
                <a:spcPts val="790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Our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primary pricing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objective</a:t>
            </a:r>
            <a:r>
              <a:rPr dirty="0" sz="1400" spc="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400" spc="8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400" spc="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penetration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400" spc="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gain</a:t>
            </a:r>
            <a:r>
              <a:rPr dirty="0" sz="140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initial</a:t>
            </a:r>
            <a:r>
              <a:rPr dirty="0" sz="14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400" spc="-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share</a:t>
            </a:r>
            <a:r>
              <a:rPr dirty="0" sz="140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[Target</a:t>
            </a:r>
            <a:r>
              <a:rPr dirty="0" sz="1400" spc="-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endParaRPr sz="14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Country].</a:t>
            </a:r>
            <a:endParaRPr sz="1400">
              <a:latin typeface="Malgun Gothic Semilight"/>
              <a:cs typeface="Malgun Gothic Semi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7204" y="3319983"/>
            <a:ext cx="4013835" cy="66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E766D"/>
                </a:solidFill>
                <a:latin typeface="Malgun Gothic Semilight"/>
                <a:cs typeface="Malgun Gothic Semilight"/>
              </a:rPr>
              <a:t>S</a:t>
            </a:r>
            <a:r>
              <a:rPr dirty="0" sz="1800" spc="-18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0E766D"/>
                </a:solidFill>
                <a:latin typeface="Malgun Gothic Semilight"/>
                <a:cs typeface="Malgun Gothic Semilight"/>
              </a:rPr>
              <a:t>trategy</a:t>
            </a:r>
            <a:r>
              <a:rPr dirty="0" sz="1800" spc="16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 spc="-10">
                <a:solidFill>
                  <a:srgbClr val="0E766D"/>
                </a:solidFill>
                <a:latin typeface="Malgun Gothic Semilight"/>
                <a:cs typeface="Malgun Gothic Semilight"/>
              </a:rPr>
              <a:t>Highlights</a:t>
            </a:r>
            <a:endParaRPr sz="1800">
              <a:latin typeface="Malgun Gothic Semilight"/>
              <a:cs typeface="Malgun Gothic Semilight"/>
            </a:endParaRPr>
          </a:p>
          <a:p>
            <a:pPr marL="394970" indent="-344170">
              <a:lnSpc>
                <a:spcPct val="100000"/>
              </a:lnSpc>
              <a:spcBef>
                <a:spcPts val="1195"/>
              </a:spcBef>
              <a:buChar char="•"/>
              <a:tabLst>
                <a:tab pos="394970" algn="l"/>
              </a:tabLst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Competitive</a:t>
            </a:r>
            <a:r>
              <a:rPr dirty="0" sz="1400" spc="6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pricing</a:t>
            </a:r>
            <a:r>
              <a:rPr dirty="0" sz="140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40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attract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initial</a:t>
            </a:r>
            <a:r>
              <a:rPr dirty="0" sz="14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customers</a:t>
            </a:r>
            <a:endParaRPr sz="1400">
              <a:latin typeface="Malgun Gothic Semilight"/>
              <a:cs typeface="Malgun Gothic Semiligh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5304" y="4304603"/>
            <a:ext cx="3738879" cy="90043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505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Value-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focused</a:t>
            </a:r>
            <a:r>
              <a:rPr dirty="0" sz="14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approach</a:t>
            </a:r>
            <a:r>
              <a:rPr dirty="0" sz="14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400" spc="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justify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premium</a:t>
            </a:r>
            <a:endParaRPr sz="1400">
              <a:latin typeface="Malgun Gothic Semilight"/>
              <a:cs typeface="Malgun Gothic Semilight"/>
            </a:endParaRPr>
          </a:p>
          <a:p>
            <a:pPr marL="356870">
              <a:lnSpc>
                <a:spcPct val="100000"/>
              </a:lnSpc>
              <a:spcBef>
                <a:spcPts val="409"/>
              </a:spcBef>
            </a:pP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positioning</a:t>
            </a:r>
            <a:endParaRPr sz="1400">
              <a:latin typeface="Malgun Gothic Semilight"/>
              <a:cs typeface="Malgun Gothic Semilight"/>
            </a:endParaRPr>
          </a:p>
          <a:p>
            <a:pPr marL="356870" indent="-344170">
              <a:lnSpc>
                <a:spcPct val="100000"/>
              </a:lnSpc>
              <a:spcBef>
                <a:spcPts val="1030"/>
              </a:spcBef>
              <a:buChar char="•"/>
              <a:tabLst>
                <a:tab pos="356870" algn="l"/>
              </a:tabLst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Strategic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pricing</a:t>
            </a:r>
            <a:r>
              <a:rPr dirty="0" sz="1400" spc="-4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to build</a:t>
            </a:r>
            <a:r>
              <a:rPr dirty="0" sz="140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market</a:t>
            </a:r>
            <a:r>
              <a:rPr dirty="0" sz="1400" spc="-9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presence</a:t>
            </a:r>
            <a:endParaRPr sz="1400">
              <a:latin typeface="Malgun Gothic Semilight"/>
              <a:cs typeface="Malgun Gothic Semiligh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260847" y="3956303"/>
            <a:ext cx="3091180" cy="2392680"/>
            <a:chOff x="5260847" y="3956303"/>
            <a:chExt cx="3091180" cy="239268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60847" y="3956303"/>
              <a:ext cx="3090672" cy="23926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5015" y="4139183"/>
              <a:ext cx="304800" cy="3810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423408" y="4642255"/>
            <a:ext cx="2774315" cy="159385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R="10160">
              <a:lnSpc>
                <a:spcPct val="100000"/>
              </a:lnSpc>
              <a:spcBef>
                <a:spcPts val="345"/>
              </a:spcBef>
            </a:pPr>
            <a:r>
              <a:rPr dirty="0" sz="1500">
                <a:solidFill>
                  <a:srgbClr val="FFFFFF"/>
                </a:solidFill>
                <a:latin typeface="Malgun Gothic Semilight"/>
                <a:cs typeface="Malgun Gothic Semilight"/>
              </a:rPr>
              <a:t>Final</a:t>
            </a:r>
            <a:r>
              <a:rPr dirty="0" sz="1500" spc="22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FFFFFF"/>
                </a:solidFill>
                <a:latin typeface="Malgun Gothic Semilight"/>
                <a:cs typeface="Malgun Gothic Semilight"/>
              </a:rPr>
              <a:t>Quoted</a:t>
            </a:r>
            <a:r>
              <a:rPr dirty="0" sz="1500" spc="23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Malgun Gothic Semilight"/>
                <a:cs typeface="Malgun Gothic Semilight"/>
              </a:rPr>
              <a:t>Price</a:t>
            </a:r>
            <a:endParaRPr sz="1500">
              <a:latin typeface="Malgun Gothic Semilight"/>
              <a:cs typeface="Malgun Gothic Semilight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3600" spc="-20">
                <a:solidFill>
                  <a:srgbClr val="FFFFFF"/>
                </a:solidFill>
                <a:latin typeface="Malgun Gothic Semilight"/>
                <a:cs typeface="Malgun Gothic Semilight"/>
              </a:rPr>
              <a:t>US</a:t>
            </a:r>
            <a:r>
              <a:rPr dirty="0" sz="3600" spc="-50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3600">
                <a:solidFill>
                  <a:srgbClr val="FFFFFF"/>
                </a:solidFill>
                <a:latin typeface="Malgun Gothic Semilight"/>
                <a:cs typeface="Malgun Gothic Semilight"/>
              </a:rPr>
              <a:t>D</a:t>
            </a:r>
            <a:r>
              <a:rPr dirty="0" sz="3600" spc="-23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3600" spc="80">
                <a:solidFill>
                  <a:srgbClr val="FFFFFF"/>
                </a:solidFill>
                <a:latin typeface="Malgun Gothic Semilight"/>
                <a:cs typeface="Malgun Gothic Semilight"/>
              </a:rPr>
              <a:t>100/unit</a:t>
            </a:r>
            <a:endParaRPr sz="3600">
              <a:latin typeface="Malgun Gothic Semilight"/>
              <a:cs typeface="Malgun Gothic Semilight"/>
            </a:endParaRPr>
          </a:p>
          <a:p>
            <a:pPr algn="ctr" marR="25400">
              <a:lnSpc>
                <a:spcPct val="100000"/>
              </a:lnSpc>
              <a:spcBef>
                <a:spcPts val="1675"/>
              </a:spcBef>
            </a:pPr>
            <a:r>
              <a:rPr dirty="0" sz="1600">
                <a:solidFill>
                  <a:srgbClr val="FFFFFF"/>
                </a:solidFill>
                <a:latin typeface="Malgun Gothic Semilight"/>
                <a:cs typeface="Malgun Gothic Semilight"/>
              </a:rPr>
              <a:t>FCA</a:t>
            </a:r>
            <a:r>
              <a:rPr dirty="0" sz="1600" spc="5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FFFFFF"/>
                </a:solidFill>
                <a:latin typeface="Malgun Gothic Semilight"/>
                <a:cs typeface="Malgun Gothic Semilight"/>
              </a:rPr>
              <a:t>-</a:t>
            </a:r>
            <a:r>
              <a:rPr dirty="0" sz="1600" spc="9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FFFFFF"/>
                </a:solidFill>
                <a:latin typeface="Malgun Gothic Semilight"/>
                <a:cs typeface="Malgun Gothic Semilight"/>
              </a:rPr>
              <a:t>Free</a:t>
            </a:r>
            <a:r>
              <a:rPr dirty="0" sz="1600" spc="19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FFFFFF"/>
                </a:solidFill>
                <a:latin typeface="Malgun Gothic Semilight"/>
                <a:cs typeface="Malgun Gothic Semilight"/>
              </a:rPr>
              <a:t>Carrier:</a:t>
            </a:r>
            <a:r>
              <a:rPr dirty="0" sz="1600" spc="21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Malgun Gothic Semilight"/>
                <a:cs typeface="Malgun Gothic Semilight"/>
              </a:rPr>
              <a:t>Address</a:t>
            </a:r>
            <a:endParaRPr sz="1500">
              <a:latin typeface="Malgun Gothic Semilight"/>
              <a:cs typeface="Malgun Gothic Semilight"/>
            </a:endParaRPr>
          </a:p>
          <a:p>
            <a:pPr algn="ctr" marL="3810">
              <a:lnSpc>
                <a:spcPct val="100000"/>
              </a:lnSpc>
              <a:spcBef>
                <a:spcPts val="555"/>
              </a:spcBef>
            </a:pPr>
            <a:r>
              <a:rPr dirty="0" sz="1050">
                <a:solidFill>
                  <a:srgbClr val="FFFFFF"/>
                </a:solidFill>
                <a:latin typeface="Malgun Gothic Semilight"/>
                <a:cs typeface="Malgun Gothic Semilight"/>
              </a:rPr>
              <a:t>Incoterms® </a:t>
            </a:r>
            <a:r>
              <a:rPr dirty="0" sz="1050" spc="-20">
                <a:solidFill>
                  <a:srgbClr val="FFFFFF"/>
                </a:solidFill>
                <a:latin typeface="Malgun Gothic Semilight"/>
                <a:cs typeface="Malgun Gothic Semilight"/>
              </a:rPr>
              <a:t>2020</a:t>
            </a:r>
            <a:endParaRPr sz="1050">
              <a:latin typeface="Malgun Gothic Semilight"/>
              <a:cs typeface="Malgun Gothic Semi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709152" y="1302511"/>
            <a:ext cx="2702560" cy="1691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2937"/>
                </a:solidFill>
                <a:latin typeface="Malgun Gothic Semilight"/>
                <a:cs typeface="Malgun Gothic Semilight"/>
              </a:rPr>
              <a:t>Free</a:t>
            </a:r>
            <a:r>
              <a:rPr dirty="0" sz="1800" spc="14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 spc="40">
                <a:solidFill>
                  <a:srgbClr val="1F2937"/>
                </a:solidFill>
                <a:latin typeface="Malgun Gothic Semilight"/>
                <a:cs typeface="Malgun Gothic Semilight"/>
              </a:rPr>
              <a:t>Carrier</a:t>
            </a:r>
            <a:endParaRPr sz="18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dirty="0" sz="1500">
                <a:solidFill>
                  <a:srgbClr val="0E766D"/>
                </a:solidFill>
                <a:latin typeface="Malgun Gothic Semilight"/>
                <a:cs typeface="Malgun Gothic Semilight"/>
              </a:rPr>
              <a:t>What</a:t>
            </a:r>
            <a:r>
              <a:rPr dirty="0" sz="1500" spc="55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60">
                <a:solidFill>
                  <a:srgbClr val="0E766D"/>
                </a:solidFill>
                <a:latin typeface="Malgun Gothic Semilight"/>
                <a:cs typeface="Malgun Gothic Semilight"/>
              </a:rPr>
              <a:t>is</a:t>
            </a:r>
            <a:r>
              <a:rPr dirty="0" sz="1500" spc="140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20">
                <a:solidFill>
                  <a:srgbClr val="0E766D"/>
                </a:solidFill>
                <a:latin typeface="Malgun Gothic Semilight"/>
                <a:cs typeface="Malgun Gothic Semilight"/>
              </a:rPr>
              <a:t>FCA?</a:t>
            </a:r>
            <a:endParaRPr sz="150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25000"/>
              </a:lnSpc>
              <a:spcBef>
                <a:spcPts val="580"/>
              </a:spcBef>
            </a:pP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Free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Carrier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designation</a:t>
            </a:r>
            <a:r>
              <a:rPr dirty="0" sz="1400" spc="8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indicating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delivery</a:t>
            </a:r>
            <a:r>
              <a:rPr dirty="0" sz="14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4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4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>
                <a:solidFill>
                  <a:srgbClr val="374151"/>
                </a:solidFill>
                <a:latin typeface="Malgun Gothic Semilight"/>
                <a:cs typeface="Malgun Gothic Semilight"/>
              </a:rPr>
              <a:t>port</a:t>
            </a:r>
            <a:r>
              <a:rPr dirty="0" sz="14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of </a:t>
            </a:r>
            <a:r>
              <a:rPr dirty="0" sz="14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Durban/terminal/warehouse.</a:t>
            </a:r>
            <a:endParaRPr sz="1400">
              <a:latin typeface="Malgun Gothic Semilight"/>
              <a:cs typeface="Malgun Gothic Semiligh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709152" y="3589782"/>
            <a:ext cx="149796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55">
                <a:solidFill>
                  <a:srgbClr val="0E766D"/>
                </a:solidFill>
                <a:latin typeface="Malgun Gothic Semilight"/>
                <a:cs typeface="Malgun Gothic Semilight"/>
              </a:rPr>
              <a:t>Key</a:t>
            </a:r>
            <a:r>
              <a:rPr dirty="0" sz="1500" spc="105">
                <a:solidFill>
                  <a:srgbClr val="0E766D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45">
                <a:solidFill>
                  <a:srgbClr val="0E766D"/>
                </a:solidFill>
                <a:latin typeface="Malgun Gothic Semilight"/>
                <a:cs typeface="Malgun Gothic Semilight"/>
              </a:rPr>
              <a:t>Implications</a:t>
            </a:r>
            <a:endParaRPr sz="1500">
              <a:latin typeface="Malgun Gothic Semilight"/>
              <a:cs typeface="Malgun Gothic Semiligh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747252" y="3893921"/>
            <a:ext cx="2949575" cy="116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315595" indent="-344805">
              <a:lnSpc>
                <a:spcPct val="128899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Seller</a:t>
            </a:r>
            <a:r>
              <a:rPr dirty="0" sz="135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covers</a:t>
            </a:r>
            <a:r>
              <a:rPr dirty="0" sz="1350" spc="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costs</a:t>
            </a:r>
            <a:r>
              <a:rPr dirty="0" sz="135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until</a:t>
            </a:r>
            <a:r>
              <a:rPr dirty="0" sz="135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goods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reach</a:t>
            </a:r>
            <a:r>
              <a:rPr dirty="0" sz="135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port</a:t>
            </a:r>
            <a:endParaRPr sz="1350">
              <a:latin typeface="Malgun Gothic Semilight"/>
              <a:cs typeface="Malgun Gothic Semilight"/>
            </a:endParaRPr>
          </a:p>
          <a:p>
            <a:pPr marL="356870" marR="5080" indent="-344805">
              <a:lnSpc>
                <a:spcPct val="128899"/>
              </a:lnSpc>
              <a:spcBef>
                <a:spcPts val="625"/>
              </a:spcBef>
              <a:buChar char="•"/>
              <a:tabLst>
                <a:tab pos="356870" algn="l"/>
              </a:tabLst>
            </a:pP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Buyer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responsible</a:t>
            </a:r>
            <a:r>
              <a:rPr dirty="0" sz="135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35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shipping</a:t>
            </a:r>
            <a:r>
              <a:rPr dirty="0" sz="1350" spc="-9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and </a:t>
            </a:r>
            <a:r>
              <a:rPr dirty="0" sz="135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insurance</a:t>
            </a:r>
            <a:endParaRPr sz="1350">
              <a:latin typeface="Malgun Gothic Semilight"/>
              <a:cs typeface="Malgun Gothic Semiligh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239511" y="1060703"/>
            <a:ext cx="3091180" cy="2392680"/>
            <a:chOff x="5239511" y="1060703"/>
            <a:chExt cx="3091180" cy="2392680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39511" y="1060703"/>
              <a:ext cx="3090672" cy="23926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86727" y="1243583"/>
              <a:ext cx="304800" cy="38100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5436489" y="1757457"/>
            <a:ext cx="2600960" cy="158178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21030">
              <a:lnSpc>
                <a:spcPct val="100000"/>
              </a:lnSpc>
              <a:spcBef>
                <a:spcPts val="250"/>
              </a:spcBef>
            </a:pPr>
            <a:r>
              <a:rPr dirty="0" sz="1500" spc="65">
                <a:solidFill>
                  <a:srgbClr val="FFFFFF"/>
                </a:solidFill>
                <a:latin typeface="Malgun Gothic Semilight"/>
                <a:cs typeface="Malgun Gothic Semilight"/>
              </a:rPr>
              <a:t>Ex</a:t>
            </a:r>
            <a:r>
              <a:rPr dirty="0" sz="1500" spc="30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FFFFFF"/>
                </a:solidFill>
                <a:latin typeface="Malgun Gothic Semilight"/>
                <a:cs typeface="Malgun Gothic Semilight"/>
              </a:rPr>
              <a:t>Works</a:t>
            </a:r>
            <a:r>
              <a:rPr dirty="0" sz="1500" spc="31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FFFFFF"/>
                </a:solidFill>
                <a:latin typeface="Malgun Gothic Semilight"/>
                <a:cs typeface="Malgun Gothic Semilight"/>
              </a:rPr>
              <a:t>-</a:t>
            </a:r>
            <a:r>
              <a:rPr dirty="0" sz="1500" spc="2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Malgun Gothic Semilight"/>
                <a:cs typeface="Malgun Gothic Semilight"/>
              </a:rPr>
              <a:t>Price</a:t>
            </a:r>
            <a:endParaRPr sz="1500">
              <a:latin typeface="Malgun Gothic Semilight"/>
              <a:cs typeface="Malgun Gothic Semilight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3600" spc="-20">
                <a:solidFill>
                  <a:srgbClr val="FFFFFF"/>
                </a:solidFill>
                <a:latin typeface="Malgun Gothic Semilight"/>
                <a:cs typeface="Malgun Gothic Semilight"/>
              </a:rPr>
              <a:t>US</a:t>
            </a:r>
            <a:r>
              <a:rPr dirty="0" sz="3600" spc="-49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3600">
                <a:solidFill>
                  <a:srgbClr val="FFFFFF"/>
                </a:solidFill>
                <a:latin typeface="Malgun Gothic Semilight"/>
                <a:cs typeface="Malgun Gothic Semilight"/>
              </a:rPr>
              <a:t>D</a:t>
            </a:r>
            <a:r>
              <a:rPr dirty="0" sz="3600" spc="5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3600" spc="55">
                <a:solidFill>
                  <a:srgbClr val="FFFFFF"/>
                </a:solidFill>
                <a:latin typeface="Malgun Gothic Semilight"/>
                <a:cs typeface="Malgun Gothic Semilight"/>
              </a:rPr>
              <a:t>80/unit</a:t>
            </a:r>
            <a:endParaRPr sz="3600">
              <a:latin typeface="Malgun Gothic Semilight"/>
              <a:cs typeface="Malgun Gothic Semilight"/>
            </a:endParaRPr>
          </a:p>
          <a:p>
            <a:pPr marL="709930">
              <a:lnSpc>
                <a:spcPct val="100000"/>
              </a:lnSpc>
              <a:spcBef>
                <a:spcPts val="1914"/>
              </a:spcBef>
            </a:pPr>
            <a:r>
              <a:rPr dirty="0" sz="1600">
                <a:solidFill>
                  <a:srgbClr val="FFFFFF"/>
                </a:solidFill>
                <a:latin typeface="Malgun Gothic Semilight"/>
                <a:cs typeface="Malgun Gothic Semilight"/>
              </a:rPr>
              <a:t>E</a:t>
            </a:r>
            <a:r>
              <a:rPr dirty="0" sz="1600" spc="-14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FFFFFF"/>
                </a:solidFill>
                <a:latin typeface="Malgun Gothic Semilight"/>
                <a:cs typeface="Malgun Gothic Semilight"/>
              </a:rPr>
              <a:t>XW:</a:t>
            </a:r>
            <a:r>
              <a:rPr dirty="0" sz="1600" spc="-1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Malgun Gothic Semilight"/>
                <a:cs typeface="Malgun Gothic Semilight"/>
              </a:rPr>
              <a:t>Address</a:t>
            </a:r>
            <a:endParaRPr sz="1500">
              <a:latin typeface="Malgun Gothic Semilight"/>
              <a:cs typeface="Malgun Gothic Semilight"/>
            </a:endParaRPr>
          </a:p>
          <a:p>
            <a:pPr algn="ctr" marL="6985">
              <a:lnSpc>
                <a:spcPct val="100000"/>
              </a:lnSpc>
              <a:spcBef>
                <a:spcPts val="555"/>
              </a:spcBef>
            </a:pPr>
            <a:r>
              <a:rPr dirty="0" sz="1050">
                <a:solidFill>
                  <a:srgbClr val="FFFFFF"/>
                </a:solidFill>
                <a:latin typeface="Malgun Gothic Semilight"/>
                <a:cs typeface="Malgun Gothic Semilight"/>
              </a:rPr>
              <a:t>Incoterms®</a:t>
            </a:r>
            <a:r>
              <a:rPr dirty="0" sz="1050" spc="-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Malgun Gothic Semilight"/>
                <a:cs typeface="Malgun Gothic Semilight"/>
              </a:rPr>
              <a:t>2020</a:t>
            </a:r>
            <a:endParaRPr sz="1050">
              <a:latin typeface="Malgun Gothic Semilight"/>
              <a:cs typeface="Malgun Gothic Semiligh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8897111" y="231647"/>
            <a:ext cx="2981325" cy="1460500"/>
            <a:chOff x="8897111" y="231647"/>
            <a:chExt cx="2981325" cy="1460500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97111" y="1243584"/>
              <a:ext cx="420624" cy="4480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26495" y="231647"/>
              <a:ext cx="1051559" cy="262127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4876800"/>
            <a:chOff x="0" y="0"/>
            <a:chExt cx="12192000" cy="4876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411224"/>
              <a:ext cx="3605784" cy="34655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2624327"/>
              <a:ext cx="152400" cy="152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3157727"/>
              <a:ext cx="152400" cy="152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3691128"/>
              <a:ext cx="152400" cy="152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91584" y="1411224"/>
              <a:ext cx="3608832" cy="34655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184" y="2624327"/>
              <a:ext cx="152400" cy="152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184" y="2929127"/>
              <a:ext cx="152400" cy="152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184" y="3462528"/>
              <a:ext cx="15240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05216" y="1411224"/>
              <a:ext cx="3605783" cy="34655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3816" y="2602992"/>
              <a:ext cx="152400" cy="152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3816" y="3136392"/>
              <a:ext cx="152400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3816" y="3669791"/>
              <a:ext cx="152400" cy="15240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1000" y="5065776"/>
            <a:ext cx="11430000" cy="132588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Promotional</a:t>
            </a:r>
            <a:r>
              <a:rPr dirty="0" spc="-220" b="1">
                <a:latin typeface="Arial"/>
                <a:cs typeface="Arial"/>
              </a:rPr>
              <a:t> </a:t>
            </a:r>
            <a:r>
              <a:rPr dirty="0" spc="-35" b="1">
                <a:latin typeface="Arial"/>
                <a:cs typeface="Arial"/>
              </a:rPr>
              <a:t>Activities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368300" y="890142"/>
            <a:ext cx="10530205" cy="5588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039"/>
              </a:lnSpc>
              <a:spcBef>
                <a:spcPts val="265"/>
              </a:spcBef>
            </a:pP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800" spc="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create</a:t>
            </a:r>
            <a:r>
              <a:rPr dirty="0" sz="1800" spc="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374151"/>
                </a:solidFill>
                <a:latin typeface="Arial"/>
                <a:cs typeface="Arial"/>
              </a:rPr>
              <a:t>awareness</a:t>
            </a:r>
            <a:r>
              <a:rPr dirty="0" sz="1800" spc="-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8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generate</a:t>
            </a:r>
            <a:r>
              <a:rPr dirty="0" sz="1800" spc="-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374151"/>
                </a:solidFill>
                <a:latin typeface="Arial"/>
                <a:cs typeface="Arial"/>
              </a:rPr>
              <a:t>leads</a:t>
            </a:r>
            <a:r>
              <a:rPr dirty="0" sz="1800" spc="-1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800" spc="-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first</a:t>
            </a:r>
            <a:r>
              <a:rPr dirty="0" sz="18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374151"/>
                </a:solidFill>
                <a:latin typeface="Arial"/>
                <a:cs typeface="Arial"/>
              </a:rPr>
              <a:t>year,</a:t>
            </a:r>
            <a:r>
              <a:rPr dirty="0" sz="1800" spc="-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we</a:t>
            </a:r>
            <a:r>
              <a:rPr dirty="0" sz="18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will</a:t>
            </a:r>
            <a:r>
              <a:rPr dirty="0" sz="18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undertake</a:t>
            </a:r>
            <a:r>
              <a:rPr dirty="0" sz="18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800" spc="-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following</a:t>
            </a:r>
            <a:r>
              <a:rPr dirty="0" sz="18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key</a:t>
            </a:r>
            <a:r>
              <a:rPr dirty="0" sz="18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promotional activities: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98904" y="1536191"/>
            <a:ext cx="569976" cy="573024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677062" y="2167890"/>
            <a:ext cx="3013075" cy="193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Targeted</a:t>
            </a:r>
            <a:r>
              <a:rPr dirty="0" sz="1800" spc="-9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Digital</a:t>
            </a:r>
            <a:r>
              <a:rPr dirty="0" sz="1800" spc="-12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1F2937"/>
                </a:solidFill>
                <a:latin typeface="Arial"/>
                <a:cs typeface="Arial"/>
              </a:rPr>
              <a:t>Advertising</a:t>
            </a:r>
            <a:endParaRPr sz="1800">
              <a:latin typeface="Arial"/>
              <a:cs typeface="Arial"/>
            </a:endParaRPr>
          </a:p>
          <a:p>
            <a:pPr marL="161290" marR="365760">
              <a:lnSpc>
                <a:spcPct val="107100"/>
              </a:lnSpc>
              <a:spcBef>
                <a:spcPts val="865"/>
              </a:spcBef>
            </a:pP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Running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targeted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ads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on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local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industry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website</a:t>
            </a:r>
            <a:endParaRPr sz="14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720"/>
              </a:spcBef>
            </a:pP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Social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media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campaign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aimed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at</a:t>
            </a:r>
            <a:endParaRPr sz="14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importers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end-consumers</a:t>
            </a:r>
            <a:endParaRPr sz="14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7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Creating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digital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content</a:t>
            </a:r>
            <a:r>
              <a:rPr dirty="0" sz="1400" spc="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build</a:t>
            </a:r>
            <a:endParaRPr sz="14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brand</a:t>
            </a:r>
            <a:r>
              <a:rPr dirty="0" sz="1400" spc="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awareness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16167" y="1530096"/>
            <a:ext cx="359663" cy="341375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4732146" y="2045284"/>
            <a:ext cx="27273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Trade</a:t>
            </a:r>
            <a:r>
              <a:rPr dirty="0" sz="1800" spc="-4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Show</a:t>
            </a:r>
            <a:r>
              <a:rPr dirty="0" sz="1800" spc="-114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Participation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738242" y="2475661"/>
            <a:ext cx="296608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100"/>
              </a:spcBef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Participating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dirty="0" sz="1400" spc="-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key</a:t>
            </a:r>
            <a:r>
              <a:rPr dirty="0" sz="1400" spc="-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local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trade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show 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Engaging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directly</a:t>
            </a:r>
            <a:r>
              <a:rPr dirty="0" sz="14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potential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distributors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retailers</a:t>
            </a:r>
            <a:endParaRPr sz="1400">
              <a:latin typeface="Arial"/>
              <a:cs typeface="Arial"/>
            </a:endParaRPr>
          </a:p>
          <a:p>
            <a:pPr marL="12700" marR="421005">
              <a:lnSpc>
                <a:spcPct val="107100"/>
              </a:lnSpc>
              <a:spcBef>
                <a:spcPts val="605"/>
              </a:spcBef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Setting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up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attractive</a:t>
            </a:r>
            <a:r>
              <a:rPr dirty="0" sz="14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booth</a:t>
            </a:r>
            <a:r>
              <a:rPr dirty="0" sz="1400" spc="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to 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showcase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products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9723119" y="1527047"/>
            <a:ext cx="570230" cy="570230"/>
            <a:chOff x="9723119" y="1527047"/>
            <a:chExt cx="570230" cy="570230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23119" y="1527047"/>
              <a:ext cx="569976" cy="56997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96855" y="1639823"/>
              <a:ext cx="219455" cy="344424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8650985" y="2006949"/>
            <a:ext cx="2735580" cy="207454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1285"/>
              </a:spcBef>
            </a:pP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Introductory</a:t>
            </a:r>
            <a:r>
              <a:rPr dirty="0" sz="1800" spc="-5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Discounts</a:t>
            </a:r>
            <a:endParaRPr sz="1800">
              <a:latin typeface="Arial"/>
              <a:cs typeface="Arial"/>
            </a:endParaRPr>
          </a:p>
          <a:p>
            <a:pPr marL="12700" marR="8255">
              <a:lnSpc>
                <a:spcPct val="107100"/>
              </a:lnSpc>
              <a:spcBef>
                <a:spcPts val="78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Offering</a:t>
            </a:r>
            <a:r>
              <a:rPr dirty="0" sz="1400" spc="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introductory</a:t>
            </a:r>
            <a:r>
              <a:rPr dirty="0" sz="1400" spc="1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discounts</a:t>
            </a:r>
            <a:r>
              <a:rPr dirty="0" sz="1400" spc="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for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first-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time</a:t>
            </a:r>
            <a:r>
              <a:rPr dirty="0" sz="1400" spc="1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distributors</a:t>
            </a:r>
            <a:endParaRPr sz="1400">
              <a:latin typeface="Arial"/>
              <a:cs typeface="Arial"/>
            </a:endParaRPr>
          </a:p>
          <a:p>
            <a:pPr marL="12700" marR="90805">
              <a:lnSpc>
                <a:spcPct val="107100"/>
              </a:lnSpc>
              <a:spcBef>
                <a:spcPts val="605"/>
              </a:spcBef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Incentivizing</a:t>
            </a:r>
            <a:r>
              <a:rPr dirty="0" sz="1400" spc="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initial</a:t>
            </a:r>
            <a:r>
              <a:rPr dirty="0" sz="1400" spc="-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orders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build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strong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partnerships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Creating</a:t>
            </a:r>
            <a:r>
              <a:rPr dirty="0" sz="1400" spc="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promotional</a:t>
            </a:r>
            <a:r>
              <a:rPr dirty="0" sz="1400" spc="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packages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for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new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20700" y="5077855"/>
            <a:ext cx="10760075" cy="93281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Expected</a:t>
            </a:r>
            <a:r>
              <a:rPr dirty="0" sz="1800" spc="-3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Outcomes: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400" spc="-60">
                <a:solidFill>
                  <a:srgbClr val="374151"/>
                </a:solidFill>
                <a:latin typeface="Arial"/>
                <a:cs typeface="Arial"/>
              </a:rPr>
              <a:t>These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activities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are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expected</a:t>
            </a:r>
            <a:r>
              <a:rPr dirty="0" sz="1400" spc="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1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generate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initial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awareness,</a:t>
            </a:r>
            <a:r>
              <a:rPr dirty="0" sz="1400" spc="-1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establish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key</a:t>
            </a:r>
            <a:r>
              <a:rPr dirty="0" sz="1400" spc="-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partnerships,</a:t>
            </a:r>
            <a:r>
              <a:rPr dirty="0" sz="1400" spc="-1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create a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foundation</a:t>
            </a:r>
            <a:r>
              <a:rPr dirty="0" sz="1400" spc="1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4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long-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term</a:t>
            </a:r>
            <a:r>
              <a:rPr dirty="0" sz="1400" spc="1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brand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loyalty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[Target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Country].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1945005"/>
            <a:chOff x="0" y="0"/>
            <a:chExt cx="12192000" cy="1945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168" y="914400"/>
              <a:ext cx="274320" cy="277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800" y="1487424"/>
              <a:ext cx="11582400" cy="4572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800" y="2401823"/>
            <a:ext cx="11582400" cy="457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" y="3316223"/>
            <a:ext cx="11582400" cy="45720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304800" y="4002023"/>
            <a:ext cx="5678805" cy="2475230"/>
            <a:chOff x="304800" y="4002023"/>
            <a:chExt cx="5678805" cy="247523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800" y="4002023"/>
              <a:ext cx="5678424" cy="24749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7200" y="4495799"/>
              <a:ext cx="5373624" cy="1828800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6211823" y="4002023"/>
            <a:ext cx="5675630" cy="2475230"/>
            <a:chOff x="6211823" y="4002023"/>
            <a:chExt cx="5675630" cy="247523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1823" y="4002023"/>
              <a:ext cx="5675376" cy="24749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64223" y="4605527"/>
              <a:ext cx="152400" cy="152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64223" y="5138927"/>
              <a:ext cx="152400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64223" y="5443727"/>
              <a:ext cx="152400" cy="15240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0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3-</a:t>
            </a:r>
            <a:r>
              <a:rPr dirty="0" spc="105"/>
              <a:t>Year</a:t>
            </a:r>
            <a:r>
              <a:rPr dirty="0" spc="45"/>
              <a:t> </a:t>
            </a:r>
            <a:r>
              <a:rPr dirty="0" spc="150"/>
              <a:t>Financial</a:t>
            </a:r>
            <a:r>
              <a:rPr dirty="0" spc="345"/>
              <a:t> </a:t>
            </a:r>
            <a:r>
              <a:rPr dirty="0" spc="130"/>
              <a:t>Projections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539902" y="813942"/>
            <a:ext cx="11057890" cy="5588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 indent="66675">
              <a:lnSpc>
                <a:spcPts val="2039"/>
              </a:lnSpc>
              <a:spcBef>
                <a:spcPts val="265"/>
              </a:spcBef>
            </a:pPr>
            <a:r>
              <a:rPr dirty="0" sz="18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This</a:t>
            </a:r>
            <a:r>
              <a:rPr dirty="0" sz="1800" spc="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section</a:t>
            </a:r>
            <a:r>
              <a:rPr dirty="0" sz="180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outlines</a:t>
            </a:r>
            <a:r>
              <a:rPr dirty="0" sz="180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80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expected</a:t>
            </a:r>
            <a:r>
              <a:rPr dirty="0" sz="1800" spc="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financial</a:t>
            </a:r>
            <a:r>
              <a:rPr dirty="0" sz="180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outcomes</a:t>
            </a:r>
            <a:r>
              <a:rPr dirty="0" sz="180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800" spc="-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resources</a:t>
            </a:r>
            <a:r>
              <a:rPr dirty="0" sz="180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required</a:t>
            </a:r>
            <a:r>
              <a:rPr dirty="0" sz="180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8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80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export</a:t>
            </a:r>
            <a:r>
              <a:rPr dirty="0" sz="18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venture over</a:t>
            </a:r>
            <a:r>
              <a:rPr dirty="0" sz="1800" spc="-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a</a:t>
            </a:r>
            <a:r>
              <a:rPr dirty="0" sz="1800" spc="3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3- </a:t>
            </a:r>
            <a:r>
              <a:rPr dirty="0" sz="1800">
                <a:solidFill>
                  <a:srgbClr val="374151"/>
                </a:solidFill>
                <a:latin typeface="Malgun Gothic Semilight"/>
                <a:cs typeface="Malgun Gothic Semilight"/>
              </a:rPr>
              <a:t>year</a:t>
            </a:r>
            <a:r>
              <a:rPr dirty="0" sz="180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period.</a:t>
            </a:r>
            <a:endParaRPr sz="1800">
              <a:latin typeface="Malgun Gothic Semilight"/>
              <a:cs typeface="Malgun Gothic Semilight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425450" y="1522973"/>
          <a:ext cx="11348720" cy="2118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4270"/>
                <a:gridCol w="2773679"/>
                <a:gridCol w="2515870"/>
                <a:gridCol w="2298064"/>
              </a:tblGrid>
              <a:tr h="419734">
                <a:tc>
                  <a:txBody>
                    <a:bodyPr/>
                    <a:lstStyle/>
                    <a:p>
                      <a:pPr algn="ctr" marL="2343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Metric</a:t>
                      </a:r>
                      <a:endParaRPr sz="18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6597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Year</a:t>
                      </a:r>
                      <a:r>
                        <a:rPr dirty="0" sz="1800" spc="35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1</a:t>
                      </a:r>
                      <a:r>
                        <a:rPr dirty="0" sz="1800" spc="215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800" spc="45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(Projected)</a:t>
                      </a:r>
                      <a:endParaRPr sz="18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r" marR="3549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Year</a:t>
                      </a:r>
                      <a:r>
                        <a:rPr dirty="0" sz="1800" spc="21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2</a:t>
                      </a:r>
                      <a:r>
                        <a:rPr dirty="0" sz="1800" spc="7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800" spc="45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(Projected)</a:t>
                      </a:r>
                      <a:endParaRPr sz="18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ctr" marL="3308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Year</a:t>
                      </a:r>
                      <a:r>
                        <a:rPr dirty="0" sz="1800" spc="215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3</a:t>
                      </a:r>
                      <a:r>
                        <a:rPr dirty="0" sz="1800" spc="20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800" spc="45">
                          <a:solidFill>
                            <a:srgbClr val="FFFFFF"/>
                          </a:solidFill>
                          <a:latin typeface="Malgun Gothic Semilight"/>
                          <a:cs typeface="Malgun Gothic Semilight"/>
                        </a:rPr>
                        <a:t>(Projected)</a:t>
                      </a:r>
                      <a:endParaRPr sz="18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43180"/>
                </a:tc>
              </a:tr>
              <a:tr h="4394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Projected</a:t>
                      </a:r>
                      <a:r>
                        <a:rPr dirty="0" sz="1400" spc="1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Unit</a:t>
                      </a:r>
                      <a:r>
                        <a:rPr dirty="0" sz="1400" spc="-10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20">
                          <a:latin typeface="Malgun Gothic Semilight"/>
                          <a:cs typeface="Malgun Gothic Semilight"/>
                        </a:rPr>
                        <a:t>Sales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07950"/>
                </a:tc>
                <a:tc>
                  <a:txBody>
                    <a:bodyPr/>
                    <a:lstStyle/>
                    <a:p>
                      <a:pPr marL="130937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[Number]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07950"/>
                </a:tc>
                <a:tc>
                  <a:txBody>
                    <a:bodyPr/>
                    <a:lstStyle/>
                    <a:p>
                      <a:pPr marL="9779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[Number]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07950"/>
                </a:tc>
                <a:tc>
                  <a:txBody>
                    <a:bodyPr/>
                    <a:lstStyle/>
                    <a:p>
                      <a:pPr algn="ctr" marL="24384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[Number]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07950"/>
                </a:tc>
              </a:tr>
              <a:tr h="4572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Projected</a:t>
                      </a:r>
                      <a:r>
                        <a:rPr dirty="0" sz="1400" spc="-9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25">
                          <a:latin typeface="Malgun Gothic Semilight"/>
                          <a:cs typeface="Malgun Gothic Semilight"/>
                        </a:rPr>
                        <a:t>R</a:t>
                      </a:r>
                      <a:r>
                        <a:rPr dirty="0" sz="1400" spc="-204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evenue</a:t>
                      </a:r>
                      <a:r>
                        <a:rPr dirty="0" sz="1400" spc="-65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(in</a:t>
                      </a:r>
                      <a:r>
                        <a:rPr dirty="0" sz="1400" spc="-6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quote</a:t>
                      </a:r>
                      <a:r>
                        <a:rPr dirty="0" sz="1400" spc="65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currency)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marL="931544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[Currency</a:t>
                      </a:r>
                      <a:r>
                        <a:rPr dirty="0" sz="1400" spc="11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Amount]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algn="r" marR="42037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[Currency</a:t>
                      </a:r>
                      <a:r>
                        <a:rPr dirty="0" sz="1400" spc="11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Amount]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algn="ctr" marL="24193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[Currency</a:t>
                      </a:r>
                      <a:r>
                        <a:rPr dirty="0" sz="1400" spc="11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Amount]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</a:tr>
              <a:tr h="4565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Total</a:t>
                      </a:r>
                      <a:r>
                        <a:rPr dirty="0" sz="1400" spc="5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Year</a:t>
                      </a:r>
                      <a:r>
                        <a:rPr dirty="0" sz="1400" spc="-3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1</a:t>
                      </a:r>
                      <a:r>
                        <a:rPr dirty="0" sz="1400" spc="229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Export</a:t>
                      </a:r>
                      <a:r>
                        <a:rPr dirty="0" sz="1400" spc="114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Budget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marL="931544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[Currency</a:t>
                      </a:r>
                      <a:r>
                        <a:rPr dirty="0" sz="1400" spc="11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Amount]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algn="ctr" marL="16510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spc="-25">
                          <a:latin typeface="Malgun Gothic Semilight"/>
                          <a:cs typeface="Malgun Gothic Semilight"/>
                        </a:rPr>
                        <a:t>N/A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algn="ctr" marL="23622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spc="-25">
                          <a:latin typeface="Malgun Gothic Semilight"/>
                          <a:cs typeface="Malgun Gothic Semilight"/>
                        </a:rPr>
                        <a:t>N/A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</a:tr>
              <a:tr h="346075">
                <a:tc>
                  <a:txBody>
                    <a:bodyPr/>
                    <a:lstStyle/>
                    <a:p>
                      <a:pPr marL="31750">
                        <a:lnSpc>
                          <a:spcPts val="1635"/>
                        </a:lnSpc>
                        <a:spcBef>
                          <a:spcPts val="990"/>
                        </a:spcBef>
                      </a:pP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Break-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Even</a:t>
                      </a:r>
                      <a:r>
                        <a:rPr dirty="0" sz="1400" spc="30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>
                          <a:latin typeface="Malgun Gothic Semilight"/>
                          <a:cs typeface="Malgun Gothic Semilight"/>
                        </a:rPr>
                        <a:t>Point</a:t>
                      </a:r>
                      <a:r>
                        <a:rPr dirty="0" sz="1400" spc="35">
                          <a:latin typeface="Malgun Gothic Semilight"/>
                          <a:cs typeface="Malgun Gothic Semilight"/>
                        </a:rPr>
                        <a:t> </a:t>
                      </a: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(Units)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marL="1309370">
                        <a:lnSpc>
                          <a:spcPts val="1635"/>
                        </a:lnSpc>
                        <a:spcBef>
                          <a:spcPts val="990"/>
                        </a:spcBef>
                      </a:pPr>
                      <a:r>
                        <a:rPr dirty="0" sz="1400" spc="-10">
                          <a:latin typeface="Malgun Gothic Semilight"/>
                          <a:cs typeface="Malgun Gothic Semilight"/>
                        </a:rPr>
                        <a:t>[Number]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algn="ctr" marL="165100">
                        <a:lnSpc>
                          <a:spcPts val="1635"/>
                        </a:lnSpc>
                        <a:spcBef>
                          <a:spcPts val="990"/>
                        </a:spcBef>
                      </a:pPr>
                      <a:r>
                        <a:rPr dirty="0" sz="1400" spc="-25">
                          <a:latin typeface="Malgun Gothic Semilight"/>
                          <a:cs typeface="Malgun Gothic Semilight"/>
                        </a:rPr>
                        <a:t>N/A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  <a:tc>
                  <a:txBody>
                    <a:bodyPr/>
                    <a:lstStyle/>
                    <a:p>
                      <a:pPr algn="ctr" marL="236220">
                        <a:lnSpc>
                          <a:spcPts val="1635"/>
                        </a:lnSpc>
                        <a:spcBef>
                          <a:spcPts val="990"/>
                        </a:spcBef>
                      </a:pPr>
                      <a:r>
                        <a:rPr dirty="0" sz="1400" spc="-25">
                          <a:latin typeface="Malgun Gothic Semilight"/>
                          <a:cs typeface="Malgun Gothic Semilight"/>
                        </a:rPr>
                        <a:t>N/A</a:t>
                      </a:r>
                      <a:endParaRPr sz="1400">
                        <a:latin typeface="Malgun Gothic Semilight"/>
                        <a:cs typeface="Malgun Gothic Semilight"/>
                      </a:endParaRPr>
                    </a:p>
                  </a:txBody>
                  <a:tcPr marL="0" marR="0" marB="0" marT="125730"/>
                </a:tc>
              </a:tr>
            </a:tbl>
          </a:graphicData>
        </a:graphic>
      </p:graphicFrame>
      <p:sp>
        <p:nvSpPr>
          <p:cNvPr id="20" name="object 20" descr=""/>
          <p:cNvSpPr txBox="1"/>
          <p:nvPr/>
        </p:nvSpPr>
        <p:spPr>
          <a:xfrm>
            <a:off x="444500" y="4090542"/>
            <a:ext cx="292100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75">
                <a:solidFill>
                  <a:srgbClr val="1F2937"/>
                </a:solidFill>
                <a:latin typeface="Malgun Gothic Semilight"/>
                <a:cs typeface="Malgun Gothic Semilight"/>
              </a:rPr>
              <a:t>Sales</a:t>
            </a:r>
            <a:r>
              <a:rPr dirty="0" sz="2000" spc="41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55">
                <a:solidFill>
                  <a:srgbClr val="1F2937"/>
                </a:solidFill>
                <a:latin typeface="Malgun Gothic Semilight"/>
                <a:cs typeface="Malgun Gothic Semilight"/>
              </a:rPr>
              <a:t>Growth</a:t>
            </a:r>
            <a:r>
              <a:rPr dirty="0" sz="2000" spc="1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65">
                <a:solidFill>
                  <a:srgbClr val="1F2937"/>
                </a:solidFill>
                <a:latin typeface="Malgun Gothic Semilight"/>
                <a:cs typeface="Malgun Gothic Semilight"/>
              </a:rPr>
              <a:t>Projection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351523" y="4090542"/>
            <a:ext cx="4831080" cy="17646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80">
                <a:solidFill>
                  <a:srgbClr val="1F2937"/>
                </a:solidFill>
                <a:latin typeface="Malgun Gothic Semilight"/>
                <a:cs typeface="Malgun Gothic Semilight"/>
              </a:rPr>
              <a:t>Key</a:t>
            </a:r>
            <a:r>
              <a:rPr dirty="0" sz="2000" spc="2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95">
                <a:solidFill>
                  <a:srgbClr val="1F2937"/>
                </a:solidFill>
                <a:latin typeface="Malgun Gothic Semilight"/>
                <a:cs typeface="Malgun Gothic Semilight"/>
              </a:rPr>
              <a:t>Financial</a:t>
            </a:r>
            <a:r>
              <a:rPr dirty="0" sz="2000" spc="10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>
                <a:solidFill>
                  <a:srgbClr val="1F2937"/>
                </a:solidFill>
                <a:latin typeface="Malgun Gothic Semilight"/>
                <a:cs typeface="Malgun Gothic Semilight"/>
              </a:rPr>
              <a:t>Ins</a:t>
            </a:r>
            <a:r>
              <a:rPr dirty="0" sz="2000" spc="-254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000" spc="-20">
                <a:solidFill>
                  <a:srgbClr val="1F2937"/>
                </a:solidFill>
                <a:latin typeface="Malgun Gothic Semilight"/>
                <a:cs typeface="Malgun Gothic Semilight"/>
              </a:rPr>
              <a:t>ights</a:t>
            </a:r>
            <a:endParaRPr sz="2000">
              <a:latin typeface="Malgun Gothic Semilight"/>
              <a:cs typeface="Malgun Gothic Semilight"/>
            </a:endParaRPr>
          </a:p>
          <a:p>
            <a:pPr marL="241300">
              <a:lnSpc>
                <a:spcPct val="100000"/>
              </a:lnSpc>
              <a:spcBef>
                <a:spcPts val="1220"/>
              </a:spcBef>
            </a:pPr>
            <a:r>
              <a:rPr dirty="0" sz="1400">
                <a:latin typeface="Malgun Gothic Semilight"/>
                <a:cs typeface="Malgun Gothic Semilight"/>
              </a:rPr>
              <a:t>Sales</a:t>
            </a:r>
            <a:r>
              <a:rPr dirty="0" sz="1400" spc="30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forecast</a:t>
            </a:r>
            <a:r>
              <a:rPr dirty="0" sz="1400" spc="-5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based</a:t>
            </a:r>
            <a:r>
              <a:rPr dirty="0" sz="1400" spc="-6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on</a:t>
            </a:r>
            <a:r>
              <a:rPr dirty="0" sz="1400" spc="70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market</a:t>
            </a:r>
            <a:r>
              <a:rPr dirty="0" sz="1400" spc="-7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size</a:t>
            </a:r>
            <a:r>
              <a:rPr dirty="0" sz="1400" spc="-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analysis</a:t>
            </a:r>
            <a:r>
              <a:rPr dirty="0" sz="1400" spc="10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and</a:t>
            </a:r>
            <a:r>
              <a:rPr dirty="0" sz="1400" spc="-35"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latin typeface="Malgun Gothic Semilight"/>
                <a:cs typeface="Malgun Gothic Semilight"/>
              </a:rPr>
              <a:t>planned</a:t>
            </a:r>
            <a:endParaRPr sz="1400">
              <a:latin typeface="Malgun Gothic Semilight"/>
              <a:cs typeface="Malgun Gothic Semilight"/>
            </a:endParaRPr>
          </a:p>
          <a:p>
            <a:pPr marL="2413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latin typeface="Malgun Gothic Semilight"/>
                <a:cs typeface="Malgun Gothic Semilight"/>
              </a:rPr>
              <a:t>marketing</a:t>
            </a:r>
            <a:r>
              <a:rPr dirty="0" sz="1400" spc="-80"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latin typeface="Malgun Gothic Semilight"/>
                <a:cs typeface="Malgun Gothic Semilight"/>
              </a:rPr>
              <a:t>efforts</a:t>
            </a:r>
            <a:endParaRPr sz="1400">
              <a:latin typeface="Malgun Gothic Semilight"/>
              <a:cs typeface="Malgun Gothic Semilight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dirty="0" sz="1400" spc="-10">
                <a:latin typeface="Malgun Gothic Semilight"/>
                <a:cs typeface="Malgun Gothic Semilight"/>
              </a:rPr>
              <a:t>Break-</a:t>
            </a:r>
            <a:r>
              <a:rPr dirty="0" sz="1400">
                <a:latin typeface="Malgun Gothic Semilight"/>
                <a:cs typeface="Malgun Gothic Semilight"/>
              </a:rPr>
              <a:t>even</a:t>
            </a:r>
            <a:r>
              <a:rPr dirty="0" sz="1400" spc="-3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analysis</a:t>
            </a:r>
            <a:r>
              <a:rPr dirty="0" sz="1400" spc="-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indicates</a:t>
            </a:r>
            <a:r>
              <a:rPr dirty="0" sz="1400" spc="4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viability of</a:t>
            </a:r>
            <a:r>
              <a:rPr dirty="0" sz="1400" spc="-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export</a:t>
            </a:r>
            <a:r>
              <a:rPr dirty="0" sz="1400" spc="50">
                <a:latin typeface="Malgun Gothic Semilight"/>
                <a:cs typeface="Malgun Gothic Semilight"/>
              </a:rPr>
              <a:t> </a:t>
            </a:r>
            <a:r>
              <a:rPr dirty="0" sz="1400" spc="-10">
                <a:latin typeface="Malgun Gothic Semilight"/>
                <a:cs typeface="Malgun Gothic Semilight"/>
              </a:rPr>
              <a:t>venture</a:t>
            </a:r>
            <a:endParaRPr sz="1400">
              <a:latin typeface="Malgun Gothic Semilight"/>
              <a:cs typeface="Malgun Gothic Semilight"/>
            </a:endParaRPr>
          </a:p>
          <a:p>
            <a:pPr marL="241300" marR="5080">
              <a:lnSpc>
                <a:spcPct val="107100"/>
              </a:lnSpc>
              <a:spcBef>
                <a:spcPts val="605"/>
              </a:spcBef>
            </a:pPr>
            <a:r>
              <a:rPr dirty="0" sz="1400">
                <a:latin typeface="Malgun Gothic Semilight"/>
                <a:cs typeface="Malgun Gothic Semilight"/>
              </a:rPr>
              <a:t>Year</a:t>
            </a:r>
            <a:r>
              <a:rPr dirty="0" sz="1400" spc="-70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1</a:t>
            </a:r>
            <a:r>
              <a:rPr dirty="0" sz="1400" spc="17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budget</a:t>
            </a:r>
            <a:r>
              <a:rPr dirty="0" sz="1400" spc="20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encompasses</a:t>
            </a:r>
            <a:r>
              <a:rPr dirty="0" sz="1400" spc="-2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all</a:t>
            </a:r>
            <a:r>
              <a:rPr dirty="0" sz="1400" spc="-95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estimated</a:t>
            </a:r>
            <a:r>
              <a:rPr dirty="0" sz="1400" spc="-50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costs</a:t>
            </a:r>
            <a:r>
              <a:rPr dirty="0" sz="1400" spc="-30">
                <a:latin typeface="Malgun Gothic Semilight"/>
                <a:cs typeface="Malgun Gothic Semilight"/>
              </a:rPr>
              <a:t> </a:t>
            </a:r>
            <a:r>
              <a:rPr dirty="0" sz="1400">
                <a:latin typeface="Malgun Gothic Semilight"/>
                <a:cs typeface="Malgun Gothic Semilight"/>
              </a:rPr>
              <a:t>including</a:t>
            </a:r>
            <a:r>
              <a:rPr dirty="0" sz="1400" spc="15">
                <a:latin typeface="Malgun Gothic Semilight"/>
                <a:cs typeface="Malgun Gothic Semilight"/>
              </a:rPr>
              <a:t> </a:t>
            </a:r>
            <a:r>
              <a:rPr dirty="0" sz="1400" spc="-50">
                <a:latin typeface="Malgun Gothic Semilight"/>
                <a:cs typeface="Malgun Gothic Semilight"/>
              </a:rPr>
              <a:t>a </a:t>
            </a:r>
            <a:r>
              <a:rPr dirty="0" sz="1400" spc="-10">
                <a:latin typeface="Malgun Gothic Semilight"/>
                <a:cs typeface="Malgun Gothic Semilight"/>
              </a:rPr>
              <a:t>contingency</a:t>
            </a:r>
            <a:endParaRPr sz="1400">
              <a:latin typeface="Malgun Gothic Semilight"/>
              <a:cs typeface="Malgun Gothic Semiligh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2021205"/>
            <a:chOff x="0" y="0"/>
            <a:chExt cx="12192000" cy="2021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6111" y="1447800"/>
              <a:ext cx="10475976" cy="573024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304800" y="2401823"/>
            <a:ext cx="2725420" cy="2575560"/>
            <a:chOff x="304800" y="2401823"/>
            <a:chExt cx="2725420" cy="25755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800" y="2401823"/>
              <a:ext cx="2724912" cy="25755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823" y="4678679"/>
              <a:ext cx="131064" cy="152400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3258311" y="2401823"/>
            <a:ext cx="2725420" cy="2575560"/>
            <a:chOff x="3258311" y="2401823"/>
            <a:chExt cx="2725420" cy="257556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8311" y="2401823"/>
              <a:ext cx="2724912" cy="25755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47287" y="4678679"/>
              <a:ext cx="134112" cy="152400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6211823" y="2401823"/>
            <a:ext cx="2722245" cy="2575560"/>
            <a:chOff x="6211823" y="2401823"/>
            <a:chExt cx="2722245" cy="25755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1823" y="2401823"/>
              <a:ext cx="2721864" cy="25755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799" y="4678679"/>
              <a:ext cx="134111" cy="152400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9162288" y="2401823"/>
            <a:ext cx="2725420" cy="2575560"/>
            <a:chOff x="9162288" y="2401823"/>
            <a:chExt cx="2725420" cy="25755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62288" y="2401823"/>
              <a:ext cx="2724911" cy="25755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4312" y="4681727"/>
              <a:ext cx="134111" cy="152400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304800" y="5129784"/>
            <a:ext cx="11582400" cy="1295400"/>
            <a:chOff x="304800" y="5129784"/>
            <a:chExt cx="11582400" cy="129540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800" y="5129784"/>
              <a:ext cx="11582400" cy="1295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6823" y="5602224"/>
              <a:ext cx="152400" cy="152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79391" y="5602224"/>
              <a:ext cx="152400" cy="1524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5007" y="5602224"/>
              <a:ext cx="152400" cy="1524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6823" y="5178552"/>
              <a:ext cx="188976" cy="268224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Implementation</a:t>
            </a:r>
            <a:r>
              <a:rPr dirty="0" spc="-1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Timeline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92100" y="957198"/>
            <a:ext cx="6261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374151"/>
                </a:solidFill>
                <a:latin typeface="Arial"/>
                <a:cs typeface="Arial"/>
              </a:rPr>
              <a:t>Key</a:t>
            </a:r>
            <a:r>
              <a:rPr dirty="0" sz="1800" spc="-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action</a:t>
            </a:r>
            <a:r>
              <a:rPr dirty="0" sz="18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374151"/>
                </a:solidFill>
                <a:latin typeface="Arial"/>
                <a:cs typeface="Arial"/>
              </a:rPr>
              <a:t>steps</a:t>
            </a:r>
            <a:r>
              <a:rPr dirty="0" sz="1800" spc="-1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8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first</a:t>
            </a:r>
            <a:r>
              <a:rPr dirty="0" sz="18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374151"/>
                </a:solidFill>
                <a:latin typeface="Arial"/>
                <a:cs typeface="Arial"/>
              </a:rPr>
              <a:t>six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 months</a:t>
            </a:r>
            <a:r>
              <a:rPr dirty="0" sz="1800" spc="-1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dirty="0" sz="18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8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export</a:t>
            </a:r>
            <a:r>
              <a:rPr dirty="0" sz="1800" spc="1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initiative: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6823" y="2645664"/>
            <a:ext cx="283464" cy="304800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482600" y="2493009"/>
            <a:ext cx="2183130" cy="16903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12750" marR="582930">
              <a:lnSpc>
                <a:spcPct val="96200"/>
              </a:lnSpc>
              <a:spcBef>
                <a:spcPts val="180"/>
              </a:spcBef>
            </a:pP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Finalize Distributor </a:t>
            </a:r>
            <a:r>
              <a:rPr dirty="0" sz="1800" spc="-25" b="1">
                <a:solidFill>
                  <a:srgbClr val="1F2937"/>
                </a:solidFill>
                <a:latin typeface="Arial"/>
                <a:cs typeface="Arial"/>
              </a:rPr>
              <a:t>Agreement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7100"/>
              </a:lnSpc>
              <a:spcBef>
                <a:spcPts val="1395"/>
              </a:spcBef>
            </a:pP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Secure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formal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partnerships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local distributors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target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market.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47288" y="2645664"/>
            <a:ext cx="286512" cy="304800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3436111" y="2493009"/>
            <a:ext cx="2284730" cy="16903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12750" marR="554990">
              <a:lnSpc>
                <a:spcPct val="96200"/>
              </a:lnSpc>
              <a:spcBef>
                <a:spcPts val="180"/>
              </a:spcBef>
            </a:pP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Complete Packaging </a:t>
            </a:r>
            <a:r>
              <a:rPr dirty="0" sz="1800" spc="-20" b="1">
                <a:solidFill>
                  <a:srgbClr val="1F2937"/>
                </a:solidFill>
                <a:latin typeface="Arial"/>
                <a:cs typeface="Arial"/>
              </a:rPr>
              <a:t>Adaptations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7100"/>
              </a:lnSpc>
              <a:spcBef>
                <a:spcPts val="1395"/>
              </a:spcBef>
            </a:pPr>
            <a:r>
              <a:rPr dirty="0" sz="1400" spc="-50">
                <a:solidFill>
                  <a:srgbClr val="374151"/>
                </a:solidFill>
                <a:latin typeface="Arial"/>
                <a:cs typeface="Arial"/>
              </a:rPr>
              <a:t>Ensure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all</a:t>
            </a:r>
            <a:r>
              <a:rPr dirty="0" sz="1400" spc="-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400" spc="1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packaging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labeling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comply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with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local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regulations.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92302" y="4623638"/>
            <a:ext cx="443420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6085" algn="l"/>
              </a:tabLst>
            </a:pPr>
            <a:r>
              <a:rPr dirty="0" sz="1400" spc="-75">
                <a:solidFill>
                  <a:srgbClr val="4A5462"/>
                </a:solidFill>
                <a:latin typeface="Arial"/>
                <a:cs typeface="Arial"/>
              </a:rPr>
              <a:t>By</a:t>
            </a:r>
            <a:r>
              <a:rPr dirty="0" sz="1400" spc="-2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4A5462"/>
                </a:solidFill>
                <a:latin typeface="Arial"/>
                <a:cs typeface="Arial"/>
              </a:rPr>
              <a:t>End</a:t>
            </a:r>
            <a:r>
              <a:rPr dirty="0" sz="1400" spc="4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of</a:t>
            </a:r>
            <a:r>
              <a:rPr dirty="0" sz="1400" spc="3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Month</a:t>
            </a:r>
            <a:r>
              <a:rPr dirty="0" sz="1400" spc="10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4A5462"/>
                </a:solidFill>
                <a:latin typeface="Arial"/>
                <a:cs typeface="Arial"/>
              </a:rPr>
              <a:t>2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	</a:t>
            </a:r>
            <a:r>
              <a:rPr dirty="0" sz="1400" spc="-75">
                <a:solidFill>
                  <a:srgbClr val="4A5462"/>
                </a:solidFill>
                <a:latin typeface="Arial"/>
                <a:cs typeface="Arial"/>
              </a:rPr>
              <a:t>By</a:t>
            </a:r>
            <a:r>
              <a:rPr dirty="0" sz="1400" spc="-2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4A5462"/>
                </a:solidFill>
                <a:latin typeface="Arial"/>
                <a:cs typeface="Arial"/>
              </a:rPr>
              <a:t>End</a:t>
            </a:r>
            <a:r>
              <a:rPr dirty="0" sz="1400" spc="4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of</a:t>
            </a:r>
            <a:r>
              <a:rPr dirty="0" sz="1400" spc="3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Month</a:t>
            </a:r>
            <a:r>
              <a:rPr dirty="0" sz="1400" spc="10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4A5462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00800" y="2636520"/>
            <a:ext cx="228600" cy="304800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6389623" y="2493009"/>
            <a:ext cx="2303145" cy="16903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355600" marR="614045">
              <a:lnSpc>
                <a:spcPct val="96200"/>
              </a:lnSpc>
              <a:spcBef>
                <a:spcPts val="180"/>
              </a:spcBef>
            </a:pP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Launch Promotional Campaign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7100"/>
              </a:lnSpc>
              <a:spcBef>
                <a:spcPts val="1395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Initiate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targeted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digital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marketing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efforts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generate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initial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leads.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599301" y="4623638"/>
            <a:ext cx="148082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75">
                <a:solidFill>
                  <a:srgbClr val="4A5462"/>
                </a:solidFill>
                <a:latin typeface="Arial"/>
                <a:cs typeface="Arial"/>
              </a:rPr>
              <a:t>By</a:t>
            </a:r>
            <a:r>
              <a:rPr dirty="0" sz="1400" spc="-2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4A5462"/>
                </a:solidFill>
                <a:latin typeface="Arial"/>
                <a:cs typeface="Arial"/>
              </a:rPr>
              <a:t>End</a:t>
            </a:r>
            <a:r>
              <a:rPr dirty="0" sz="1400" spc="4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of</a:t>
            </a:r>
            <a:r>
              <a:rPr dirty="0" sz="1400" spc="3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Month</a:t>
            </a:r>
            <a:r>
              <a:rPr dirty="0" sz="1400" spc="10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4A5462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354311" y="2599944"/>
            <a:ext cx="286511" cy="304800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9743313" y="2587244"/>
            <a:ext cx="1734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Ship</a:t>
            </a:r>
            <a:r>
              <a:rPr dirty="0" sz="1800" spc="-7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1F2937"/>
                </a:solidFill>
                <a:latin typeface="Arial"/>
                <a:cs typeface="Arial"/>
              </a:rPr>
              <a:t>First</a:t>
            </a:r>
            <a:r>
              <a:rPr dirty="0" sz="1800" spc="-2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Order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9343135" y="3203831"/>
            <a:ext cx="2245360" cy="711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95"/>
              </a:spcBef>
            </a:pP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Successfully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dispatch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initial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export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consignment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to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the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target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market.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552813" y="4626609"/>
            <a:ext cx="148082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75">
                <a:solidFill>
                  <a:srgbClr val="4A5462"/>
                </a:solidFill>
                <a:latin typeface="Arial"/>
                <a:cs typeface="Arial"/>
              </a:rPr>
              <a:t>By</a:t>
            </a:r>
            <a:r>
              <a:rPr dirty="0" sz="1400" spc="-2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4A5462"/>
                </a:solidFill>
                <a:latin typeface="Arial"/>
                <a:cs typeface="Arial"/>
              </a:rPr>
              <a:t>End</a:t>
            </a:r>
            <a:r>
              <a:rPr dirty="0" sz="1400" spc="2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of</a:t>
            </a:r>
            <a:r>
              <a:rPr dirty="0" sz="1400" spc="2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Month</a:t>
            </a:r>
            <a:r>
              <a:rPr dirty="0" sz="1400" spc="9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4A5462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11504" y="4986361"/>
            <a:ext cx="3065145" cy="1026794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370"/>
              </a:spcBef>
            </a:pPr>
            <a:r>
              <a:rPr dirty="0" sz="1800" spc="-20" b="1">
                <a:solidFill>
                  <a:srgbClr val="1F2937"/>
                </a:solidFill>
                <a:latin typeface="Arial"/>
                <a:cs typeface="Arial"/>
              </a:rPr>
              <a:t>Key</a:t>
            </a:r>
            <a:r>
              <a:rPr dirty="0" sz="1800" spc="-10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F2937"/>
                </a:solidFill>
                <a:latin typeface="Arial"/>
                <a:cs typeface="Arial"/>
              </a:rPr>
              <a:t>Success</a:t>
            </a:r>
            <a:r>
              <a:rPr dirty="0" sz="1800" spc="-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F2937"/>
                </a:solidFill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7100"/>
              </a:lnSpc>
              <a:spcBef>
                <a:spcPts val="85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Clear</a:t>
            </a:r>
            <a:r>
              <a:rPr dirty="0" sz="1400" spc="-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milestone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ownership</a:t>
            </a: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regular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progress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reviews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496815" y="5546547"/>
            <a:ext cx="328612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Contingency planning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potential</a:t>
            </a:r>
            <a:r>
              <a:rPr dirty="0" sz="1400" spc="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delays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282431" y="5530088"/>
            <a:ext cx="24841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Regular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communication</a:t>
            </a:r>
            <a:r>
              <a:rPr dirty="0" sz="1400" spc="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with</a:t>
            </a:r>
            <a:r>
              <a:rPr dirty="0" sz="14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all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stakeholders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5547360"/>
            <a:chOff x="0" y="0"/>
            <a:chExt cx="12192000" cy="5547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408175"/>
              <a:ext cx="3605784" cy="41391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976" y="2401823"/>
              <a:ext cx="152400" cy="152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976" y="2935223"/>
              <a:ext cx="152400" cy="152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19" y="3288791"/>
              <a:ext cx="152400" cy="152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91584" y="1408175"/>
              <a:ext cx="3608832" cy="41391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8264" y="2401823"/>
              <a:ext cx="158496" cy="1584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8264" y="2807207"/>
              <a:ext cx="158496" cy="1584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8264" y="3233927"/>
              <a:ext cx="158496" cy="1584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05216" y="1408175"/>
              <a:ext cx="3605783" cy="41391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72856" y="2401823"/>
              <a:ext cx="152400" cy="152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72856" y="2746248"/>
              <a:ext cx="152400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72856" y="3090672"/>
              <a:ext cx="152400" cy="15240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Arial"/>
                <a:cs typeface="Arial"/>
              </a:rPr>
              <a:t>Key</a:t>
            </a:r>
            <a:r>
              <a:rPr dirty="0" spc="-27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Performance</a:t>
            </a:r>
            <a:r>
              <a:rPr dirty="0" spc="-1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Indicators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368300" y="880998"/>
            <a:ext cx="10414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8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374151"/>
                </a:solidFill>
                <a:latin typeface="Arial"/>
                <a:cs typeface="Arial"/>
              </a:rPr>
              <a:t>ensure</a:t>
            </a:r>
            <a:r>
              <a:rPr dirty="0" sz="1800" spc="-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374151"/>
                </a:solidFill>
                <a:latin typeface="Arial"/>
                <a:cs typeface="Arial"/>
              </a:rPr>
              <a:t>successful</a:t>
            </a:r>
            <a:r>
              <a:rPr dirty="0" sz="18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execution</a:t>
            </a:r>
            <a:r>
              <a:rPr dirty="0" sz="18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8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export</a:t>
            </a:r>
            <a:r>
              <a:rPr dirty="0" sz="18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plan,</a:t>
            </a:r>
            <a:r>
              <a:rPr dirty="0" sz="1800" spc="-1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we'll</a:t>
            </a:r>
            <a:r>
              <a:rPr dirty="0" sz="1800" spc="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track</a:t>
            </a:r>
            <a:r>
              <a:rPr dirty="0" sz="1800" spc="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performance</a:t>
            </a:r>
            <a:r>
              <a:rPr dirty="0" sz="1800" spc="-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374151"/>
                </a:solidFill>
                <a:latin typeface="Arial"/>
                <a:cs typeface="Arial"/>
              </a:rPr>
              <a:t>against</a:t>
            </a:r>
            <a:r>
              <a:rPr dirty="0" sz="18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374151"/>
                </a:solidFill>
                <a:latin typeface="Arial"/>
                <a:cs typeface="Arial"/>
              </a:rPr>
              <a:t>these</a:t>
            </a:r>
            <a:r>
              <a:rPr dirty="0" sz="1800" spc="-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74151"/>
                </a:solidFill>
                <a:latin typeface="Arial"/>
                <a:cs typeface="Arial"/>
              </a:rPr>
              <a:t>critical</a:t>
            </a:r>
            <a:r>
              <a:rPr dirty="0" sz="1800" spc="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74151"/>
                </a:solidFill>
                <a:latin typeface="Arial"/>
                <a:cs typeface="Arial"/>
              </a:rPr>
              <a:t>metrics: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09600" y="231647"/>
            <a:ext cx="11268710" cy="1795780"/>
            <a:chOff x="609600" y="231647"/>
            <a:chExt cx="11268710" cy="179578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9600" y="1456944"/>
              <a:ext cx="573024" cy="5699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2855" y="1569720"/>
              <a:ext cx="286512" cy="3444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68367" y="1496567"/>
              <a:ext cx="490727" cy="46634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33816" y="1456944"/>
              <a:ext cx="569976" cy="5699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55735" y="1569720"/>
              <a:ext cx="326135" cy="3444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826495" y="231647"/>
              <a:ext cx="1051559" cy="262127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1292478" y="1515237"/>
            <a:ext cx="165290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F2937"/>
                </a:solidFill>
                <a:latin typeface="Arial"/>
                <a:cs typeface="Arial"/>
              </a:rPr>
              <a:t>Sales</a:t>
            </a:r>
            <a:r>
              <a:rPr dirty="0" sz="2000" spc="-4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1F2937"/>
                </a:solidFill>
                <a:latin typeface="Arial"/>
                <a:cs typeface="Arial"/>
              </a:rPr>
              <a:t>Volume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784961" y="2328214"/>
            <a:ext cx="2760980" cy="114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Monitor</a:t>
            </a:r>
            <a:r>
              <a:rPr dirty="0" sz="1400" spc="1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monthly</a:t>
            </a:r>
            <a:r>
              <a:rPr dirty="0" sz="1400" spc="8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and quarterly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unit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sales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400" spc="-80">
                <a:solidFill>
                  <a:srgbClr val="374151"/>
                </a:solidFill>
                <a:latin typeface="Arial"/>
                <a:cs typeface="Arial"/>
              </a:rPr>
              <a:t>Assess</a:t>
            </a:r>
            <a:r>
              <a:rPr dirty="0" sz="1400" spc="-1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acceptance</a:t>
            </a:r>
            <a:endParaRPr sz="14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1120"/>
              </a:spcBef>
            </a:pP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Track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growth</a:t>
            </a:r>
            <a:r>
              <a:rPr dirty="0" sz="1400" spc="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trends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176520" y="1498473"/>
            <a:ext cx="1390015" cy="628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375"/>
              </a:lnSpc>
              <a:spcBef>
                <a:spcPts val="90"/>
              </a:spcBef>
            </a:pPr>
            <a:r>
              <a:rPr dirty="0" sz="2000" spc="-10" b="1">
                <a:solidFill>
                  <a:srgbClr val="1F2937"/>
                </a:solidFill>
                <a:latin typeface="Arial"/>
                <a:cs typeface="Arial"/>
              </a:rPr>
              <a:t>Customer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75"/>
              </a:lnSpc>
            </a:pPr>
            <a:r>
              <a:rPr dirty="0" sz="2000" spc="-10" b="1">
                <a:solidFill>
                  <a:srgbClr val="1F2937"/>
                </a:solidFill>
                <a:latin typeface="Arial"/>
                <a:cs typeface="Arial"/>
              </a:rPr>
              <a:t>Acquisition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616322" y="2339467"/>
            <a:ext cx="174434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Track</a:t>
            </a:r>
            <a:r>
              <a:rPr dirty="0" sz="1400" spc="-6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new</a:t>
            </a:r>
            <a:r>
              <a:rPr dirty="0" sz="1400" spc="-5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distributors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616322" y="2745994"/>
            <a:ext cx="225234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Monitor</a:t>
            </a:r>
            <a:r>
              <a:rPr dirty="0" sz="1400" spc="1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retailer</a:t>
            </a:r>
            <a:r>
              <a:rPr dirty="0" sz="1400" spc="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partnerships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616322" y="3173094"/>
            <a:ext cx="20739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Gauge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-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penetration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222485" y="1515237"/>
            <a:ext cx="201104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F2937"/>
                </a:solidFill>
                <a:latin typeface="Arial"/>
                <a:cs typeface="Arial"/>
              </a:rPr>
              <a:t>Budget</a:t>
            </a:r>
            <a:r>
              <a:rPr dirty="0" sz="2000" spc="-7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F2937"/>
                </a:solidFill>
                <a:latin typeface="Arial"/>
                <a:cs typeface="Arial"/>
              </a:rPr>
              <a:t>Tracking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589644" y="2344674"/>
            <a:ext cx="2860675" cy="929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Compare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actual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vs.</a:t>
            </a:r>
            <a:r>
              <a:rPr dirty="0" sz="1400" spc="-1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budgeted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spend</a:t>
            </a:r>
            <a:endParaRPr sz="1400">
              <a:latin typeface="Arial"/>
              <a:cs typeface="Arial"/>
            </a:endParaRPr>
          </a:p>
          <a:p>
            <a:pPr marL="12700" marR="803275">
              <a:lnSpc>
                <a:spcPct val="162000"/>
              </a:lnSpc>
            </a:pP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Ensure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financial</a:t>
            </a:r>
            <a:r>
              <a:rPr dirty="0" sz="1400" spc="-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discipline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Identify</a:t>
            </a:r>
            <a:r>
              <a:rPr dirty="0" sz="1400" spc="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budget</a:t>
            </a:r>
            <a:r>
              <a:rPr dirty="0" sz="1400" spc="9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deviations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585722" y="6023864"/>
            <a:ext cx="9020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These</a:t>
            </a:r>
            <a:r>
              <a:rPr dirty="0" sz="1800" spc="-6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85" i="1">
                <a:solidFill>
                  <a:srgbClr val="374151"/>
                </a:solidFill>
                <a:latin typeface="Arial"/>
                <a:cs typeface="Arial"/>
              </a:rPr>
              <a:t>KPIs</a:t>
            </a:r>
            <a:r>
              <a:rPr dirty="0" sz="1800" spc="-5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will</a:t>
            </a:r>
            <a:r>
              <a:rPr dirty="0" sz="1800" spc="-3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be</a:t>
            </a:r>
            <a:r>
              <a:rPr dirty="0" sz="1800" spc="-10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reviewed</a:t>
            </a:r>
            <a:r>
              <a:rPr dirty="0" sz="1800" spc="-60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monthly</a:t>
            </a:r>
            <a:r>
              <a:rPr dirty="0" sz="1800" spc="-8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800" spc="10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ensure</a:t>
            </a:r>
            <a:r>
              <a:rPr dirty="0" sz="1800" spc="-3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800" spc="-1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74151"/>
                </a:solidFill>
                <a:latin typeface="Arial"/>
                <a:cs typeface="Arial"/>
              </a:rPr>
              <a:t>export</a:t>
            </a:r>
            <a:r>
              <a:rPr dirty="0" sz="1800" spc="-60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plan</a:t>
            </a:r>
            <a:r>
              <a:rPr dirty="0" sz="1800" spc="-3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stays</a:t>
            </a:r>
            <a:r>
              <a:rPr dirty="0" sz="1800" spc="-60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on</a:t>
            </a:r>
            <a:r>
              <a:rPr dirty="0" sz="1800" spc="-10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track</a:t>
            </a:r>
            <a:r>
              <a:rPr dirty="0" sz="1800" spc="-30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800" spc="-15" i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374151"/>
                </a:solidFill>
                <a:latin typeface="Arial"/>
                <a:cs typeface="Arial"/>
              </a:rPr>
              <a:t>success.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3773804"/>
            <a:chOff x="0" y="0"/>
            <a:chExt cx="12192000" cy="37738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990600"/>
              <a:ext cx="5678424" cy="2782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1823" y="990600"/>
              <a:ext cx="5675376" cy="2782824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304800" y="3925823"/>
            <a:ext cx="11582400" cy="2399030"/>
            <a:chOff x="304800" y="3925823"/>
            <a:chExt cx="11582400" cy="239903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800" y="3925823"/>
              <a:ext cx="11582400" cy="2398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4078223"/>
              <a:ext cx="323088" cy="3444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8300" y="-30734"/>
            <a:ext cx="55549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Arial"/>
                <a:cs typeface="Arial"/>
              </a:rPr>
              <a:t>Investment</a:t>
            </a:r>
            <a:r>
              <a:rPr dirty="0" spc="-24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Requirements</a:t>
            </a: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1143000"/>
            <a:ext cx="286512" cy="34442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882802" y="1137919"/>
            <a:ext cx="354139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F2937"/>
                </a:solidFill>
                <a:latin typeface="Arial"/>
                <a:cs typeface="Arial"/>
              </a:rPr>
              <a:t>Export</a:t>
            </a:r>
            <a:r>
              <a:rPr dirty="0" sz="2000" spc="-10" b="1">
                <a:solidFill>
                  <a:srgbClr val="1F2937"/>
                </a:solidFill>
                <a:latin typeface="Arial"/>
                <a:cs typeface="Arial"/>
              </a:rPr>
              <a:t> Opportunity</a:t>
            </a:r>
            <a:r>
              <a:rPr dirty="0" sz="2000" spc="-18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F2937"/>
                </a:solidFill>
                <a:latin typeface="Arial"/>
                <a:cs typeface="Arial"/>
              </a:rPr>
              <a:t>Summary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2600" y="1686560"/>
            <a:ext cx="3347085" cy="593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Leveraging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our</a:t>
            </a:r>
            <a:r>
              <a:rPr dirty="0" sz="1400" spc="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unique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[Your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USP]</a:t>
            </a:r>
            <a:endParaRPr sz="1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20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Well-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defined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strategy</a:t>
            </a:r>
            <a:r>
              <a:rPr dirty="0" sz="1400" spc="-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400" spc="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entry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2600" y="2407742"/>
            <a:ext cx="325374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Proven</a:t>
            </a:r>
            <a:r>
              <a:rPr dirty="0" sz="1400" spc="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product</a:t>
            </a:r>
            <a:r>
              <a:rPr dirty="0" sz="1400" spc="9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adaptation</a:t>
            </a:r>
            <a:r>
              <a:rPr dirty="0" sz="1400" spc="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approach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2600" y="2794507"/>
            <a:ext cx="356235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</a:tabLst>
            </a:pP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Projected</a:t>
            </a:r>
            <a:r>
              <a:rPr dirty="0" sz="1400" spc="-3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significant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growth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over 3</a:t>
            </a:r>
            <a:r>
              <a:rPr dirty="0" sz="1400" spc="-4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years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64223" y="1143000"/>
            <a:ext cx="323088" cy="3444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64223" y="1673351"/>
            <a:ext cx="216407" cy="268224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6685026" y="1137919"/>
            <a:ext cx="4203700" cy="791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90"/>
              </a:spcBef>
            </a:pPr>
            <a:r>
              <a:rPr dirty="0" sz="2000" spc="-20" b="1">
                <a:solidFill>
                  <a:srgbClr val="1F2937"/>
                </a:solidFill>
                <a:latin typeface="Arial"/>
                <a:cs typeface="Arial"/>
              </a:rPr>
              <a:t>Investment</a:t>
            </a:r>
            <a:r>
              <a:rPr dirty="0" sz="2000" spc="-4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F2937"/>
                </a:solidFill>
                <a:latin typeface="Arial"/>
                <a:cs typeface="Arial"/>
              </a:rPr>
              <a:t>Request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1600" spc="-50" b="1">
                <a:solidFill>
                  <a:srgbClr val="374151"/>
                </a:solidFill>
                <a:latin typeface="Arial"/>
                <a:cs typeface="Arial"/>
              </a:rPr>
              <a:t>Funding:</a:t>
            </a:r>
            <a:r>
              <a:rPr dirty="0" sz="1600" spc="-6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4151"/>
                </a:solidFill>
                <a:latin typeface="Arial"/>
                <a:cs typeface="Arial"/>
              </a:rPr>
              <a:t>[Specific</a:t>
            </a:r>
            <a:r>
              <a:rPr dirty="0" sz="1400" spc="-6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amount]</a:t>
            </a:r>
            <a:r>
              <a:rPr dirty="0" sz="1400" spc="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for</a:t>
            </a:r>
            <a:r>
              <a:rPr dirty="0" sz="1400" spc="8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marketing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&amp;</a:t>
            </a:r>
            <a:r>
              <a:rPr dirty="0" sz="1400" spc="7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logistics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64223" y="2310383"/>
            <a:ext cx="237744" cy="268224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6704203" y="2296794"/>
            <a:ext cx="410019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0" b="1">
                <a:solidFill>
                  <a:srgbClr val="374151"/>
                </a:solidFill>
                <a:latin typeface="Arial"/>
                <a:cs typeface="Arial"/>
              </a:rPr>
              <a:t>Resources:</a:t>
            </a:r>
            <a:r>
              <a:rPr dirty="0" sz="1600" spc="-14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Distribution</a:t>
            </a:r>
            <a:r>
              <a:rPr dirty="0" sz="1400" spc="11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channels</a:t>
            </a:r>
            <a:r>
              <a:rPr dirty="0" sz="1400" spc="-7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in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target</a:t>
            </a:r>
            <a:r>
              <a:rPr dirty="0" sz="1400" spc="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64223" y="3011423"/>
            <a:ext cx="237744" cy="265175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6704203" y="2995675"/>
            <a:ext cx="382841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0" b="1">
                <a:solidFill>
                  <a:srgbClr val="374151"/>
                </a:solidFill>
                <a:latin typeface="Arial"/>
                <a:cs typeface="Arial"/>
              </a:rPr>
              <a:t>Support:</a:t>
            </a:r>
            <a:r>
              <a:rPr dirty="0" sz="1600" spc="-80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374151"/>
                </a:solidFill>
                <a:latin typeface="Arial"/>
                <a:cs typeface="Arial"/>
              </a:rPr>
              <a:t>Access</a:t>
            </a:r>
            <a:r>
              <a:rPr dirty="0" sz="1400" spc="-10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to</a:t>
            </a:r>
            <a:r>
              <a:rPr dirty="0" sz="1400" spc="5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4151"/>
                </a:solidFill>
                <a:latin typeface="Arial"/>
                <a:cs typeface="Arial"/>
              </a:rPr>
              <a:t>trade</a:t>
            </a:r>
            <a:r>
              <a:rPr dirty="0" sz="1400" spc="3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374151"/>
                </a:solidFill>
                <a:latin typeface="Arial"/>
                <a:cs typeface="Arial"/>
              </a:rPr>
              <a:t>mission</a:t>
            </a:r>
            <a:r>
              <a:rPr dirty="0" sz="1400" spc="-15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4151"/>
                </a:solidFill>
                <a:latin typeface="Arial"/>
                <a:cs typeface="Arial"/>
              </a:rPr>
              <a:t>opportunities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20902" y="4074998"/>
            <a:ext cx="396049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b="1">
                <a:solidFill>
                  <a:srgbClr val="1F2937"/>
                </a:solidFill>
                <a:latin typeface="Arial"/>
                <a:cs typeface="Arial"/>
              </a:rPr>
              <a:t>Expected</a:t>
            </a:r>
            <a:r>
              <a:rPr dirty="0" sz="2000" spc="10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F2937"/>
                </a:solidFill>
                <a:latin typeface="Arial"/>
                <a:cs typeface="Arial"/>
              </a:rPr>
              <a:t>Returns</a:t>
            </a:r>
            <a:r>
              <a:rPr dirty="0" sz="2000" spc="-7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F2937"/>
                </a:solidFill>
                <a:latin typeface="Arial"/>
                <a:cs typeface="Arial"/>
              </a:rPr>
              <a:t>on</a:t>
            </a:r>
            <a:r>
              <a:rPr dirty="0" sz="2000" spc="-85" b="1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F2937"/>
                </a:solidFill>
                <a:latin typeface="Arial"/>
                <a:cs typeface="Arial"/>
              </a:rPr>
              <a:t>Investment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981200" y="4498847"/>
            <a:ext cx="609600" cy="609600"/>
            <a:chOff x="1981200" y="4498847"/>
            <a:chExt cx="609600" cy="609600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81200" y="4498847"/>
              <a:ext cx="609600" cy="6096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0656" y="4651247"/>
              <a:ext cx="170687" cy="304800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886764" y="4993322"/>
            <a:ext cx="2803525" cy="79438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dirty="0" sz="1800" spc="-20" b="1">
                <a:solidFill>
                  <a:srgbClr val="374151"/>
                </a:solidFill>
                <a:latin typeface="Arial"/>
                <a:cs typeface="Arial"/>
              </a:rPr>
              <a:t>Revenue</a:t>
            </a:r>
            <a:r>
              <a:rPr dirty="0" sz="1800" spc="-5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374151"/>
                </a:solidFill>
                <a:latin typeface="Arial"/>
                <a:cs typeface="Arial"/>
              </a:rPr>
              <a:t>Growth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400" spc="-10">
                <a:solidFill>
                  <a:srgbClr val="4A5462"/>
                </a:solidFill>
                <a:latin typeface="Arial"/>
                <a:cs typeface="Arial"/>
              </a:rPr>
              <a:t>Projected</a:t>
            </a:r>
            <a:r>
              <a:rPr dirty="0" sz="1400" spc="9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5462"/>
                </a:solidFill>
                <a:latin typeface="Arial"/>
                <a:cs typeface="Arial"/>
              </a:rPr>
              <a:t>[X]%</a:t>
            </a:r>
            <a:r>
              <a:rPr dirty="0" sz="1400" spc="-8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growth</a:t>
            </a:r>
            <a:r>
              <a:rPr dirty="0" sz="1400" spc="9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over</a:t>
            </a:r>
            <a:r>
              <a:rPr dirty="0" sz="1400" spc="4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3</a:t>
            </a:r>
            <a:r>
              <a:rPr dirty="0" sz="1400" spc="-1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5462"/>
                </a:solidFill>
                <a:latin typeface="Arial"/>
                <a:cs typeface="Arial"/>
              </a:rPr>
              <a:t>years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791200" y="4498847"/>
            <a:ext cx="609600" cy="609600"/>
            <a:chOff x="5791200" y="4498847"/>
            <a:chExt cx="609600" cy="609600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91200" y="4498847"/>
              <a:ext cx="609600" cy="609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52744" y="4651247"/>
              <a:ext cx="286512" cy="304800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4670297" y="4993322"/>
            <a:ext cx="2851150" cy="79438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350"/>
              </a:spcBef>
            </a:pPr>
            <a:r>
              <a:rPr dirty="0" sz="1800" b="1">
                <a:solidFill>
                  <a:srgbClr val="374151"/>
                </a:solidFill>
                <a:latin typeface="Arial"/>
                <a:cs typeface="Arial"/>
              </a:rPr>
              <a:t>Market</a:t>
            </a:r>
            <a:r>
              <a:rPr dirty="0" sz="1800" spc="-15" b="1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374151"/>
                </a:solidFill>
                <a:latin typeface="Arial"/>
                <a:cs typeface="Arial"/>
              </a:rPr>
              <a:t>Share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Anticipated</a:t>
            </a:r>
            <a:r>
              <a:rPr dirty="0" sz="1400" spc="5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5462"/>
                </a:solidFill>
                <a:latin typeface="Arial"/>
                <a:cs typeface="Arial"/>
              </a:rPr>
              <a:t>[X]%</a:t>
            </a:r>
            <a:r>
              <a:rPr dirty="0" sz="1400" spc="-7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market</a:t>
            </a:r>
            <a:r>
              <a:rPr dirty="0" sz="1400" spc="-5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5462"/>
                </a:solidFill>
                <a:latin typeface="Arial"/>
                <a:cs typeface="Arial"/>
              </a:rPr>
              <a:t>penetration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601200" y="4498847"/>
            <a:ext cx="609600" cy="609600"/>
            <a:chOff x="9601200" y="4498847"/>
            <a:chExt cx="609600" cy="609600"/>
          </a:xfrm>
        </p:grpSpPr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601200" y="4498847"/>
              <a:ext cx="609600" cy="6096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93223" y="4651247"/>
              <a:ext cx="228600" cy="304800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8258682" y="4993322"/>
            <a:ext cx="3300729" cy="79438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1350"/>
              </a:spcBef>
            </a:pPr>
            <a:r>
              <a:rPr dirty="0" sz="1800" spc="-10" b="1">
                <a:solidFill>
                  <a:srgbClr val="374151"/>
                </a:solidFill>
                <a:latin typeface="Arial"/>
                <a:cs typeface="Arial"/>
              </a:rPr>
              <a:t>Sustainability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Long-term</a:t>
            </a:r>
            <a:r>
              <a:rPr dirty="0" sz="1400" spc="17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market</a:t>
            </a:r>
            <a:r>
              <a:rPr dirty="0" sz="1400" spc="3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5462"/>
                </a:solidFill>
                <a:latin typeface="Arial"/>
                <a:cs typeface="Arial"/>
              </a:rPr>
              <a:t>presence </a:t>
            </a:r>
            <a:r>
              <a:rPr dirty="0" sz="1400">
                <a:solidFill>
                  <a:srgbClr val="4A5462"/>
                </a:solidFill>
                <a:latin typeface="Arial"/>
                <a:cs typeface="Arial"/>
              </a:rPr>
              <a:t>&amp;</a:t>
            </a:r>
            <a:r>
              <a:rPr dirty="0" sz="1400" spc="3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5462"/>
                </a:solidFill>
                <a:latin typeface="Arial"/>
                <a:cs typeface="Arial"/>
              </a:rPr>
              <a:t>profitability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300470"/>
            <a:chOff x="0" y="0"/>
            <a:chExt cx="12192000" cy="6300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0" y="0"/>
              <a:ext cx="1905000" cy="190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066800"/>
              <a:ext cx="5562600" cy="52334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400" y="1066800"/>
              <a:ext cx="5562600" cy="30662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8543" y="1981200"/>
              <a:ext cx="170688" cy="2682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29400" y="2362200"/>
              <a:ext cx="192024" cy="268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53783" y="2743200"/>
              <a:ext cx="143255" cy="2682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9400" y="3124200"/>
              <a:ext cx="192024" cy="2682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9400" y="3505200"/>
              <a:ext cx="192024" cy="268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Thank</a:t>
            </a:r>
            <a:r>
              <a:rPr dirty="0" spc="395"/>
              <a:t> </a:t>
            </a:r>
            <a:r>
              <a:rPr dirty="0"/>
              <a:t>You</a:t>
            </a:r>
            <a:r>
              <a:rPr dirty="0" spc="280"/>
              <a:t> </a:t>
            </a:r>
            <a:r>
              <a:rPr dirty="0"/>
              <a:t>&amp;</a:t>
            </a:r>
            <a:r>
              <a:rPr dirty="0" spc="60"/>
              <a:t> </a:t>
            </a:r>
            <a:r>
              <a:rPr dirty="0"/>
              <a:t>Ques</a:t>
            </a:r>
            <a:r>
              <a:rPr dirty="0" spc="-480"/>
              <a:t> </a:t>
            </a:r>
            <a:r>
              <a:rPr dirty="0" spc="70"/>
              <a:t>tions</a:t>
            </a: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9223" y="1389888"/>
            <a:ext cx="426720" cy="38100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73404" y="1319606"/>
            <a:ext cx="4737735" cy="1450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309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1F2937"/>
                </a:solidFill>
                <a:latin typeface="Malgun Gothic Semilight"/>
                <a:cs typeface="Malgun Gothic Semilight"/>
              </a:rPr>
              <a:t>Thank</a:t>
            </a:r>
            <a:r>
              <a:rPr dirty="0" sz="2400" spc="27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You</a:t>
            </a:r>
            <a:r>
              <a:rPr dirty="0" sz="2400" spc="24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2400" spc="6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1F2937"/>
                </a:solidFill>
                <a:latin typeface="Malgun Gothic Semilight"/>
                <a:cs typeface="Malgun Gothic Semilight"/>
              </a:rPr>
              <a:t>Your</a:t>
            </a:r>
            <a:r>
              <a:rPr dirty="0" sz="2400" spc="15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35">
                <a:solidFill>
                  <a:srgbClr val="1F2937"/>
                </a:solidFill>
                <a:latin typeface="Malgun Gothic Semilight"/>
                <a:cs typeface="Malgun Gothic Semilight"/>
              </a:rPr>
              <a:t>Attention</a:t>
            </a:r>
            <a:endParaRPr sz="2400">
              <a:latin typeface="Malgun Gothic Semilight"/>
              <a:cs typeface="Malgun Gothic Semilight"/>
            </a:endParaRPr>
          </a:p>
          <a:p>
            <a:pPr marL="12700" marR="81280">
              <a:lnSpc>
                <a:spcPct val="109500"/>
              </a:lnSpc>
              <a:spcBef>
                <a:spcPts val="2035"/>
              </a:spcBef>
            </a:pP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We</a:t>
            </a:r>
            <a:r>
              <a:rPr dirty="0" sz="1600" spc="-10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are</a:t>
            </a:r>
            <a:r>
              <a:rPr dirty="0" sz="160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confident</a:t>
            </a:r>
            <a:r>
              <a:rPr dirty="0" sz="160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in</a:t>
            </a:r>
            <a:r>
              <a:rPr dirty="0" sz="1600" spc="-4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the</a:t>
            </a:r>
            <a:r>
              <a:rPr dirty="0" sz="1600" spc="1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viability</a:t>
            </a:r>
            <a:r>
              <a:rPr dirty="0" sz="1600" spc="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1600" spc="-9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potential</a:t>
            </a:r>
            <a:r>
              <a:rPr dirty="0" sz="16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of</a:t>
            </a:r>
            <a:r>
              <a:rPr dirty="0" sz="1600" spc="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this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export</a:t>
            </a:r>
            <a:r>
              <a:rPr dirty="0" sz="16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initiative.</a:t>
            </a:r>
            <a:r>
              <a:rPr dirty="0" sz="16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We</a:t>
            </a:r>
            <a:r>
              <a:rPr dirty="0" sz="1600" spc="-7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thank</a:t>
            </a:r>
            <a:r>
              <a:rPr dirty="0" sz="1600" spc="-2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you</a:t>
            </a:r>
            <a:r>
              <a:rPr dirty="0" sz="16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for</a:t>
            </a:r>
            <a:r>
              <a:rPr dirty="0" sz="16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your</a:t>
            </a:r>
            <a:r>
              <a:rPr dirty="0" sz="16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374151"/>
                </a:solidFill>
                <a:latin typeface="Malgun Gothic Semilight"/>
                <a:cs typeface="Malgun Gothic Semilight"/>
              </a:rPr>
              <a:t>time</a:t>
            </a:r>
            <a:r>
              <a:rPr dirty="0" sz="16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and </a:t>
            </a:r>
            <a:r>
              <a:rPr dirty="0" sz="16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attention.</a:t>
            </a:r>
            <a:endParaRPr sz="1600">
              <a:latin typeface="Malgun Gothic Semilight"/>
              <a:cs typeface="Malgun Gothic Semiligh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5304" y="5049773"/>
            <a:ext cx="419481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We</a:t>
            </a:r>
            <a:r>
              <a:rPr dirty="0" sz="1500" spc="-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are</a:t>
            </a:r>
            <a:r>
              <a:rPr dirty="0" sz="1500" spc="-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now</a:t>
            </a:r>
            <a:r>
              <a:rPr dirty="0" sz="1500" spc="1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open</a:t>
            </a:r>
            <a:r>
              <a:rPr dirty="0" sz="1500" spc="-5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to</a:t>
            </a:r>
            <a:r>
              <a:rPr dirty="0" sz="15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any</a:t>
            </a:r>
            <a:r>
              <a:rPr dirty="0" sz="1500" spc="-5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questions</a:t>
            </a:r>
            <a:r>
              <a:rPr dirty="0" sz="1500" spc="2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you</a:t>
            </a:r>
            <a:r>
              <a:rPr dirty="0" sz="1500" spc="-30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374151"/>
                </a:solidFill>
                <a:latin typeface="Malgun Gothic Semilight"/>
                <a:cs typeface="Malgun Gothic Semilight"/>
              </a:rPr>
              <a:t>may</a:t>
            </a:r>
            <a:r>
              <a:rPr dirty="0" sz="1500" spc="-75">
                <a:solidFill>
                  <a:srgbClr val="374151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374151"/>
                </a:solidFill>
                <a:latin typeface="Malgun Gothic Semilight"/>
                <a:cs typeface="Malgun Gothic Semilight"/>
              </a:rPr>
              <a:t>have.</a:t>
            </a:r>
            <a:endParaRPr sz="1500">
              <a:latin typeface="Malgun Gothic Semilight"/>
              <a:cs typeface="Malgun Gothic Semiligh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554480" y="5669279"/>
            <a:ext cx="2935605" cy="497205"/>
            <a:chOff x="1554480" y="5669279"/>
            <a:chExt cx="2935605" cy="497205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54480" y="5669279"/>
              <a:ext cx="2935223" cy="49682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83080" y="5785103"/>
              <a:ext cx="192024" cy="265176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076450" y="5805322"/>
            <a:ext cx="203073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>
                <a:solidFill>
                  <a:srgbClr val="115E58"/>
                </a:solidFill>
                <a:latin typeface="Malgun Gothic Semilight"/>
                <a:cs typeface="Malgun Gothic Semilight"/>
              </a:rPr>
              <a:t>Q&amp;A</a:t>
            </a:r>
            <a:r>
              <a:rPr dirty="0" sz="1350" spc="90">
                <a:solidFill>
                  <a:srgbClr val="115E58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115E58"/>
                </a:solidFill>
                <a:latin typeface="Malgun Gothic Semilight"/>
                <a:cs typeface="Malgun Gothic Semilight"/>
              </a:rPr>
              <a:t>S</a:t>
            </a:r>
            <a:r>
              <a:rPr dirty="0" sz="1350" spc="-185">
                <a:solidFill>
                  <a:srgbClr val="115E58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115E58"/>
                </a:solidFill>
                <a:latin typeface="Malgun Gothic Semilight"/>
                <a:cs typeface="Malgun Gothic Semilight"/>
              </a:rPr>
              <a:t>es</a:t>
            </a:r>
            <a:r>
              <a:rPr dirty="0" sz="1350" spc="-185">
                <a:solidFill>
                  <a:srgbClr val="115E58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20">
                <a:solidFill>
                  <a:srgbClr val="115E58"/>
                </a:solidFill>
                <a:latin typeface="Malgun Gothic Semilight"/>
                <a:cs typeface="Malgun Gothic Semilight"/>
              </a:rPr>
              <a:t>s</a:t>
            </a:r>
            <a:r>
              <a:rPr dirty="0" sz="1350" spc="-180">
                <a:solidFill>
                  <a:srgbClr val="115E58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115E58"/>
                </a:solidFill>
                <a:latin typeface="Malgun Gothic Semilight"/>
                <a:cs typeface="Malgun Gothic Semilight"/>
              </a:rPr>
              <a:t>ion:</a:t>
            </a:r>
            <a:r>
              <a:rPr dirty="0" sz="1350" spc="55">
                <a:solidFill>
                  <a:srgbClr val="115E58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>
                <a:solidFill>
                  <a:srgbClr val="115E58"/>
                </a:solidFill>
                <a:latin typeface="Malgun Gothic Semilight"/>
                <a:cs typeface="Malgun Gothic Semilight"/>
              </a:rPr>
              <a:t>15</a:t>
            </a:r>
            <a:r>
              <a:rPr dirty="0" sz="1350" spc="55">
                <a:solidFill>
                  <a:srgbClr val="115E58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115E58"/>
                </a:solidFill>
                <a:latin typeface="Malgun Gothic Semilight"/>
                <a:cs typeface="Malgun Gothic Semilight"/>
              </a:rPr>
              <a:t>minutes</a:t>
            </a:r>
            <a:endParaRPr sz="1350">
              <a:latin typeface="Malgun Gothic Semilight"/>
              <a:cs typeface="Malgun Gothic Semiligh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53200" y="1371600"/>
            <a:ext cx="390144" cy="381000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6885178" y="1342135"/>
            <a:ext cx="2974975" cy="241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725">
              <a:lnSpc>
                <a:spcPct val="100000"/>
              </a:lnSpc>
              <a:spcBef>
                <a:spcPts val="100"/>
              </a:spcBef>
            </a:pPr>
            <a:r>
              <a:rPr dirty="0" sz="2400" spc="95">
                <a:solidFill>
                  <a:srgbClr val="1F2937"/>
                </a:solidFill>
                <a:latin typeface="Malgun Gothic Semilight"/>
                <a:cs typeface="Malgun Gothic Semilight"/>
              </a:rPr>
              <a:t>Contact</a:t>
            </a:r>
            <a:r>
              <a:rPr dirty="0" sz="2400" spc="-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2250" spc="40">
                <a:solidFill>
                  <a:srgbClr val="1F2937"/>
                </a:solidFill>
                <a:latin typeface="Malgun Gothic Semilight"/>
                <a:cs typeface="Malgun Gothic Semilight"/>
              </a:rPr>
              <a:t>Information</a:t>
            </a:r>
            <a:endParaRPr sz="2250">
              <a:latin typeface="Malgun Gothic Semilight"/>
              <a:cs typeface="Malgun Gothic Semilight"/>
            </a:endParaRPr>
          </a:p>
          <a:p>
            <a:pPr marL="12700" marR="1492885">
              <a:lnSpc>
                <a:spcPct val="156300"/>
              </a:lnSpc>
              <a:spcBef>
                <a:spcPts val="960"/>
              </a:spcBef>
            </a:pPr>
            <a:r>
              <a:rPr dirty="0" sz="1600">
                <a:solidFill>
                  <a:srgbClr val="1F2937"/>
                </a:solidFill>
                <a:latin typeface="Malgun Gothic Semilight"/>
                <a:cs typeface="Malgun Gothic Semilight"/>
              </a:rPr>
              <a:t>[Your</a:t>
            </a:r>
            <a:r>
              <a:rPr dirty="0" sz="1600" spc="-6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 spc="-20">
                <a:solidFill>
                  <a:srgbClr val="1F2937"/>
                </a:solidFill>
                <a:latin typeface="Malgun Gothic Semilight"/>
                <a:cs typeface="Malgun Gothic Semilight"/>
              </a:rPr>
              <a:t>Name] </a:t>
            </a:r>
            <a:r>
              <a:rPr dirty="0" sz="1600">
                <a:solidFill>
                  <a:srgbClr val="1F2937"/>
                </a:solidFill>
                <a:latin typeface="Malgun Gothic Semilight"/>
                <a:cs typeface="Malgun Gothic Semilight"/>
              </a:rPr>
              <a:t>[Your</a:t>
            </a:r>
            <a:r>
              <a:rPr dirty="0" sz="1600" spc="-6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Title]</a:t>
            </a:r>
            <a:r>
              <a:rPr dirty="0" sz="1600" spc="50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1F2937"/>
                </a:solidFill>
                <a:latin typeface="Malgun Gothic Semilight"/>
                <a:cs typeface="Malgun Gothic Semilight"/>
              </a:rPr>
              <a:t>[Your</a:t>
            </a:r>
            <a:r>
              <a:rPr dirty="0" sz="1600" spc="-6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Company] </a:t>
            </a:r>
            <a:r>
              <a:rPr dirty="0" sz="1600" spc="-20">
                <a:solidFill>
                  <a:srgbClr val="1F2937"/>
                </a:solidFill>
                <a:latin typeface="Malgun Gothic Semilight"/>
                <a:cs typeface="Malgun Gothic Semilight"/>
              </a:rPr>
              <a:t>[Your</a:t>
            </a:r>
            <a:r>
              <a:rPr dirty="0" sz="1600" spc="-60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Email]</a:t>
            </a:r>
            <a:endParaRPr sz="16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600">
                <a:solidFill>
                  <a:srgbClr val="1F2937"/>
                </a:solidFill>
                <a:latin typeface="Malgun Gothic Semilight"/>
                <a:cs typeface="Malgun Gothic Semilight"/>
              </a:rPr>
              <a:t>[Your</a:t>
            </a:r>
            <a:r>
              <a:rPr dirty="0" sz="1600" spc="-5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>
                <a:solidFill>
                  <a:srgbClr val="1F2937"/>
                </a:solidFill>
                <a:latin typeface="Malgun Gothic Semilight"/>
                <a:cs typeface="Malgun Gothic Semilight"/>
              </a:rPr>
              <a:t>Phone</a:t>
            </a:r>
            <a:r>
              <a:rPr dirty="0" sz="1600" spc="-55">
                <a:solidFill>
                  <a:srgbClr val="1F2937"/>
                </a:solidFill>
                <a:latin typeface="Malgun Gothic Semilight"/>
                <a:cs typeface="Malgun Gothic Semilight"/>
              </a:rPr>
              <a:t> </a:t>
            </a:r>
            <a:r>
              <a:rPr dirty="0" sz="1600" spc="-10">
                <a:solidFill>
                  <a:srgbClr val="1F2937"/>
                </a:solidFill>
                <a:latin typeface="Malgun Gothic Semilight"/>
                <a:cs typeface="Malgun Gothic Semilight"/>
              </a:rPr>
              <a:t>Number]</a:t>
            </a:r>
            <a:endParaRPr sz="1600">
              <a:latin typeface="Malgun Gothic Semilight"/>
              <a:cs typeface="Malgun Gothic Semiligh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826495" y="231647"/>
            <a:ext cx="1051559" cy="262127"/>
          </a:xfrm>
          <a:prstGeom prst="rect">
            <a:avLst/>
          </a:prstGeom>
        </p:spPr>
      </p:pic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10</a:t>
            </a:fld>
            <a:r>
              <a:rPr dirty="0" spc="220"/>
              <a:t> </a:t>
            </a:r>
            <a:r>
              <a:rPr dirty="0" spc="-10"/>
              <a:t>/</a:t>
            </a:r>
            <a:r>
              <a:rPr dirty="0" spc="-125"/>
              <a:t> </a:t>
            </a:r>
            <a:r>
              <a:rPr dirty="0" spc="-25"/>
              <a:t>16</a:t>
            </a:r>
            <a:r>
              <a:rPr dirty="0" spc="-25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2026-02-07T19:53:21Z</dcterms:created>
  <dcterms:modified xsi:type="dcterms:W3CDTF">2026-02-07T19:53:21Z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2026-02-07T00:00:00Z</vt:filetime>
  </property>
  <property fmtid="{D5CDD505-2E9C-101B-9397-08002B2CF9AE}" pid="5" name="Producer">
    <vt:lpwstr>3-Heights(TM) PDF Security Shell 4.8.25.2 (http://www.pdf-tools.com)</vt:lpwstr>
  </property>
</Properties>
</file>